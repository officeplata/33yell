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26cda42b-2f40-29a4-7b07-3702495f506e}">
          <p14:sldIdLst>
            <p14:sldId id="256"/>
            <p14:sldId id="257"/>
          </p14:sldIdLst>
        </p14:section>
        <p14:section name="本編" id="{bac4d61a-e8a9-69e4-0b36-c180749128ed}">
          <p14:sldIdLst>
            <p14:sldId id="258"/>
            <p14:sldId id="259"/>
            <p14:sldId id="260"/>
            <p14:sldId id="261"/>
          </p14:sldIdLst>
        </p14:section>
        <p14:section name="まとめ" id="{a45ea1a2-431c-3948-a3f3-4308f2e4cddf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第3回「Larkの基本を使いこなす」。前回の宿題の提出状況を確認してから始める。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実際のLark画面を見せながら1つずつ触る。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共有範囲の確認は必ず全員で。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受講者の会社で「流れて困った」例を聞いてみる。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この目次は講座の最後まで使う。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754880"/>
            <a:ext cx="2423160" cy="274320"/>
          </a:xfrm>
          <a:prstGeom prst="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510528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ささエール｜OFFICE PLATA</a:t>
            </a:r>
            <a:endParaRPr lang="ja-JP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A1A1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マナベル　第3回　Larkの基本を使いこなす</a:t>
            </a:r>
            <a:endParaRPr 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411480"/>
            <a:ext cx="1600200" cy="60350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第3回</a:t>
            </a:r>
            <a:endParaRPr lang="ja-JP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3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Larkの基本を使いこなす</a:t>
            </a:r>
            <a:endParaRPr lang="ja-JP" sz="38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457200" y="2971800"/>
            <a:ext cx="49377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フェーズ1 土台をつくる｜第2週</a:t>
            </a:r>
            <a:endParaRPr lang="ja-JP" sz="1600" dirty="0"/>
          </a:p>
        </p:txBody>
      </p:sp>
      <p:sp>
        <p:nvSpPr>
          <p:cNvPr id="6" name="card"/>
          <p:cNvSpPr/>
          <p:nvPr/>
        </p:nvSpPr>
        <p:spPr>
          <a:xfrm>
            <a:off x="457200" y="3730752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マナベル｜AI×Lark 構築者育成講座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 ／ OFFICE PLATA　笹原 彰朗</a:t>
            </a:r>
            <a:endParaRPr lang="ja-JP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はじめに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今日のゴールと流れ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82496"/>
            <a:ext cx="219456" cy="219456"/>
          </a:xfrm>
          <a:prstGeom prst="rect">
            <a:avLst/>
          </a:prstGeom>
        </p:spPr>
      </p:pic>
      <p:sp>
        <p:nvSpPr>
          <p:cNvPr id="7" name="goal"/>
          <p:cNvSpPr txBox="1"/>
          <p:nvPr/>
        </p:nvSpPr>
        <p:spPr>
          <a:xfrm>
            <a:off x="1252728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Larkの主な機能と、情報の置き場所がわかる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4700016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82896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82496"/>
            <a:ext cx="219456" cy="219456"/>
          </a:xfrm>
          <a:prstGeom prst="rect">
            <a:avLst/>
          </a:prstGeom>
        </p:spPr>
      </p:pic>
      <p:sp>
        <p:nvSpPr>
          <p:cNvPr id="11" name="goal"/>
          <p:cNvSpPr txBox="1"/>
          <p:nvPr/>
        </p:nvSpPr>
        <p:spPr>
          <a:xfrm>
            <a:off x="5449824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講座用のWikiスペースを作り、設計シートを置けている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 rot="-120000">
            <a:off x="457200" y="2907792"/>
            <a:ext cx="191566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今日の流れ（90分）</a:t>
            </a:r>
            <a:endParaRPr lang="ja-JP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364992"/>
            <a:ext cx="81381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4" name="time-block"/>
          <p:cNvSpPr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ふりかえり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6" name="time-block"/>
          <p:cNvSpPr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8" name="time-block"/>
          <p:cNvSpPr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0" name="time-block"/>
          <p:cNvSpPr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22" name="time-block"/>
          <p:cNvSpPr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4" name="time-block"/>
          <p:cNvSpPr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質問・共有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</a:t>
            </a:r>
            <a:endParaRPr lang="ja-JP" sz="1050" dirty="0"/>
          </a:p>
        </p:txBody>
      </p:sp>
      <p:sp>
        <p:nvSpPr>
          <p:cNvPr id="26" name="time-block"/>
          <p:cNvSpPr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宿題</a:t>
            </a:r>
            <a:endParaRPr lang="ja-JP" sz="8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ja-JP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　</a:t>
            </a:r>
            <a:pPr indent="0" marL="0">
              <a:buNone/>
            </a:pPr>
            <a:r>
              <a:rPr lang="ja-JP" altLang="en-US" sz="10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ja-JP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説明①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Larkの全体像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8138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808480"/>
                <a:gridCol w="2531872"/>
                <a:gridCol w="379780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機能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ひとことで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この講座での使い方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メッセンジャー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社内チャット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講座グループ、通知の受け取り先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Docs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共同編集できる文書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設計シート・議事録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Wiki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Docsを本棚のように整理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マニュアル・ルールの置き場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BASE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データベース（台帳）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業務アプリの中心（第4回〜）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承認・カレンダー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申請／予定共有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第6回・予約との連携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画面の名前や場所は、Larkのバージョンや言語設定で少し変わることがあります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ハンズオン①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グループとDocs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60020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682496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7" name="step-text"/>
          <p:cNvSpPr txBox="1"/>
          <p:nvPr/>
        </p:nvSpPr>
        <p:spPr>
          <a:xfrm>
            <a:off x="1234440" y="160020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「マナベル_（会社名）」というグループを作る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502920" y="2295144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10" name="step-text"/>
          <p:cNvSpPr txBox="1"/>
          <p:nvPr/>
        </p:nvSpPr>
        <p:spPr>
          <a:xfrm>
            <a:off x="1234440" y="229514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Docsで新しい文書を作り、第2回の設計シートを貼る</a:t>
            </a:r>
            <a:endParaRPr lang="ja-JP" sz="1400" dirty="0"/>
          </a:p>
        </p:txBody>
      </p:sp>
      <p:sp>
        <p:nvSpPr>
          <p:cNvPr id="11" name="card"/>
          <p:cNvSpPr/>
          <p:nvPr/>
        </p:nvSpPr>
        <p:spPr>
          <a:xfrm>
            <a:off x="502920" y="2990088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072384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3" name="step-text"/>
          <p:cNvSpPr txBox="1"/>
          <p:nvPr/>
        </p:nvSpPr>
        <p:spPr>
          <a:xfrm>
            <a:off x="1234440" y="299008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共有設定で「誰が見られる／編集できるか」を確認する</a:t>
            </a:r>
            <a:endParaRPr lang="ja-JP" sz="1400" dirty="0"/>
          </a:p>
        </p:txBody>
      </p:sp>
      <p:sp>
        <p:nvSpPr>
          <p:cNvPr id="14" name="card"/>
          <p:cNvSpPr/>
          <p:nvPr/>
        </p:nvSpPr>
        <p:spPr>
          <a:xfrm>
            <a:off x="502920" y="3685032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3767328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4</a:t>
            </a:r>
            <a:endParaRPr lang="ja-JP" sz="1500" dirty="0"/>
          </a:p>
        </p:txBody>
      </p:sp>
      <p:sp>
        <p:nvSpPr>
          <p:cNvPr id="16" name="step-text"/>
          <p:cNvSpPr txBox="1"/>
          <p:nvPr/>
        </p:nvSpPr>
        <p:spPr>
          <a:xfrm>
            <a:off x="1234440" y="368503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グループにリンクを送り、メンションとコメントを1回ずつ試す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説明②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迷ったら、この置き場所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04088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メッセンジャー</a:t>
            </a:r>
            <a:endParaRPr lang="ja-JP" sz="1500" dirty="0"/>
          </a:p>
        </p:txBody>
      </p:sp>
      <p:sp>
        <p:nvSpPr>
          <p:cNvPr id="9" name="card-body"/>
          <p:cNvSpPr txBox="1"/>
          <p:nvPr/>
        </p:nvSpPr>
        <p:spPr>
          <a:xfrm>
            <a:off x="704088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流れていってよい連絡</a:t>
            </a:r>
            <a:endParaRPr lang="ja-JP" sz="1350" dirty="0"/>
          </a:p>
        </p:txBody>
      </p:sp>
      <p:sp>
        <p:nvSpPr>
          <p:cNvPr id="10" name="card"/>
          <p:cNvSpPr/>
          <p:nvPr/>
        </p:nvSpPr>
        <p:spPr>
          <a:xfrm>
            <a:off x="3300984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3502152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556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69664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Wiki（Docs）</a:t>
            </a:r>
            <a:endParaRPr lang="ja-JP" sz="1250" dirty="0"/>
          </a:p>
        </p:txBody>
      </p:sp>
      <p:sp>
        <p:nvSpPr>
          <p:cNvPr id="14" name="card-body"/>
          <p:cNvSpPr txBox="1"/>
          <p:nvPr/>
        </p:nvSpPr>
        <p:spPr>
          <a:xfrm>
            <a:off x="3502152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残しておく文章</a:t>
            </a:r>
            <a:endParaRPr lang="ja-JP" sz="1350" dirty="0"/>
          </a:p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手順・ルール・議事録</a:t>
            </a:r>
            <a:endParaRPr lang="ja-JP" sz="1350" dirty="0"/>
          </a:p>
        </p:txBody>
      </p:sp>
      <p:sp>
        <p:nvSpPr>
          <p:cNvPr id="15" name="card"/>
          <p:cNvSpPr/>
          <p:nvPr/>
        </p:nvSpPr>
        <p:spPr>
          <a:xfrm>
            <a:off x="6099048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6300216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5564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67728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BASE</a:t>
            </a:r>
            <a:endParaRPr lang="ja-JP" sz="1700" dirty="0"/>
          </a:p>
        </p:txBody>
      </p:sp>
      <p:sp>
        <p:nvSpPr>
          <p:cNvPr id="19" name="card-body"/>
          <p:cNvSpPr txBox="1"/>
          <p:nvPr/>
        </p:nvSpPr>
        <p:spPr>
          <a:xfrm>
            <a:off x="6300216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件数が増える・一覧で見たい・集計したいもの</a:t>
            </a:r>
            <a:endParaRPr lang="ja-JP" sz="1350" dirty="0"/>
          </a:p>
        </p:txBody>
      </p:sp>
      <p:sp>
        <p:nvSpPr>
          <p:cNvPr id="20" name="Text 14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「チャットで送った大事なことが流れて見つからない」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は、Wikiに置き直す合図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ハンズオン②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Wikiの目次を作る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60020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682496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7" name="step-text"/>
          <p:cNvSpPr txBox="1"/>
          <p:nvPr/>
        </p:nvSpPr>
        <p:spPr>
          <a:xfrm>
            <a:off x="1234440" y="160020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Wikiで新しいスペース「（会社名）しくみづくり」を作る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502920" y="2295144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10" name="step-text"/>
          <p:cNvSpPr txBox="1"/>
          <p:nvPr/>
        </p:nvSpPr>
        <p:spPr>
          <a:xfrm>
            <a:off x="1234440" y="229514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目次：00 はじめに／01 設計シート／02 業務ルール／03 操作マニュアル／04 改善メモ</a:t>
            </a:r>
            <a:endParaRPr lang="ja-JP" sz="1400" dirty="0"/>
          </a:p>
        </p:txBody>
      </p:sp>
      <p:sp>
        <p:nvSpPr>
          <p:cNvPr id="11" name="card"/>
          <p:cNvSpPr/>
          <p:nvPr/>
        </p:nvSpPr>
        <p:spPr>
          <a:xfrm>
            <a:off x="502920" y="2990088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072384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3" name="step-text"/>
          <p:cNvSpPr txBox="1"/>
          <p:nvPr/>
        </p:nvSpPr>
        <p:spPr>
          <a:xfrm>
            <a:off x="1234440" y="299008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設計シートのDocsを「01」に移動する</a:t>
            </a:r>
            <a:endParaRPr lang="ja-JP" sz="1400" dirty="0"/>
          </a:p>
        </p:txBody>
      </p:sp>
      <p:sp>
        <p:nvSpPr>
          <p:cNvPr id="14" name="card"/>
          <p:cNvSpPr/>
          <p:nvPr/>
        </p:nvSpPr>
        <p:spPr>
          <a:xfrm>
            <a:off x="502920" y="3685032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3767328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4</a:t>
            </a:r>
            <a:endParaRPr lang="ja-JP" sz="1500" dirty="0"/>
          </a:p>
        </p:txBody>
      </p:sp>
      <p:sp>
        <p:nvSpPr>
          <p:cNvPr id="16" name="step-text"/>
          <p:cNvSpPr txBox="1"/>
          <p:nvPr/>
        </p:nvSpPr>
        <p:spPr>
          <a:xfrm>
            <a:off x="1234440" y="368503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AIに「00 はじめに」を下書きしてもらい、貼り付ける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894740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まとめ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宿題と、今日のチェック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社内で使っているExcel・紙の帳票を1つ集めてくる（第4回で取り込みます）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91032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できたらチェック</a:t>
            </a:r>
            <a:endParaRPr lang="ja-JP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グループ・Docs・Wikiの使い分けを説明できる</a:t>
            </a:r>
            <a:endParaRPr lang="ja-JP" sz="13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Wikiスペースに設計シートが置いてある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548640"/>
            <a:ext cx="1280160" cy="54864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次回</a:t>
            </a:r>
            <a:endParaRPr lang="ja-JP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7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第4回</a:t>
            </a:r>
            <a:endParaRPr lang="ja-JP" sz="2700" dirty="0"/>
          </a:p>
          <a:p>
            <a:pPr indent="0" marL="0">
              <a:buNone/>
            </a:pPr>
            <a:r>
              <a:rPr lang="ja-JP" altLang="en-US" sz="27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BASEでデータの入れ物を設計する</a:t>
            </a:r>
            <a:endParaRPr lang="ja-JP" sz="2700" dirty="0"/>
          </a:p>
        </p:txBody>
      </p:sp>
      <p:sp>
        <p:nvSpPr>
          <p:cNvPr id="5" name="card"/>
          <p:cNvSpPr/>
          <p:nvPr/>
        </p:nvSpPr>
        <p:spPr>
          <a:xfrm>
            <a:off x="45720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32004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わからないところは、講座グループでいつでも質問してください。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APIキーやパスワードは送らないでください。</a:t>
            </a:r>
            <a:endParaRPr lang="ja-JP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aYell">
  <a:themeElements>
    <a:clrScheme name="SasaYell">
      <a:dk1>
        <a:srgbClr val="1A1A1A"/>
      </a:dk1>
      <a:lt1>
        <a:srgbClr val="FFFFFF"/>
      </a:lt1>
      <a:dk2>
        <a:srgbClr val="1A1A1A"/>
      </a:dk2>
      <a:lt2>
        <a:srgbClr val="FFD600"/>
      </a:lt2>
      <a:accent1>
        <a:srgbClr val="FFD600"/>
      </a:accent1>
      <a:accent2>
        <a:srgbClr val="DD6420"/>
      </a:accent2>
      <a:accent3>
        <a:srgbClr val="F5A623"/>
      </a:accent3>
      <a:accent4>
        <a:srgbClr val="1A1A1A"/>
      </a:accent4>
      <a:accent5>
        <a:srgbClr val="FFFFFF"/>
      </a:accent5>
      <a:accent6>
        <a:srgbClr val="DD6420"/>
      </a:accent6>
      <a:hlink>
        <a:srgbClr val="DD6420"/>
      </a:hlink>
      <a:folHlink>
        <a:srgbClr val="F5A623"/>
      </a:folHlink>
    </a:clrScheme>
    <a:fontScheme name="SasaYell">
      <a:majorFont>
        <a:latin typeface="Dela Gothic One"/>
        <a:ea typeface="けいふぉんと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第3回 Larkの基本を使いこなす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2026-10-08T07:08:41Z</dcterms:created>
  <dcterms:modified xsi:type="dcterms:W3CDTF">2026-10-08T07:08:41Z</dcterms:modified>
</cp:coreProperties>
</file>