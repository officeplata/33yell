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導入" id="{ddacc933-1cde-bbb9-9661-975ec686cc19}">
          <p14:sldIdLst>
            <p14:sldId id="256"/>
            <p14:sldId id="257"/>
          </p14:sldIdLst>
        </p14:section>
        <p14:section name="本編" id="{a62e4cfb-ce6d-0b76-dc07-2d0023fffee9}">
          <p14:sldIdLst>
            <p14:sldId id="258"/>
            <p14:sldId id="259"/>
            <p14:sldId id="260"/>
            <p14:sldId id="261"/>
          </p14:sldIdLst>
        </p14:section>
        <p14:section name="まとめ" id="{2d6eca3a-0463-b6a2-8cf1-d590ca63c6ba}">
          <p14:sldIdLst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第3回「Larkの基本を使いこなす」。前回の宿題の提出状況を確認してから始める。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ゴールを読み上げ、今日は「聞く」と「手を動かす」を交互に進めることを伝える。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実際のLark画面を見せながら1つずつ触る。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共有範囲の確認は必ず全員で。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受講者の会社で「流れて困った」例を聞いてみる。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この目次は講座の最後まで使う。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宿題の目安時間を伝える。質問は講座グループへ（24時間以内に返信・土日祝を除く）。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次回までの宿題をもう一度確認して終了。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NA_TITLE">
    <p:bg>
      <p:bgPr>
        <a:solidFill>
          <a:srgbClr val="FFD6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691640"/>
            <a:ext cx="58521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246120"/>
            <a:ext cx="58521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Text 0"/>
          <p:cNvSpPr/>
          <p:nvPr/>
        </p:nvSpPr>
        <p:spPr>
          <a:xfrm>
            <a:off x="548640" y="4526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マナベル｜AI×Lark 構築者育成講座</a:t>
            </a:r>
            <a:endParaRPr lang="en-US" sz="1000" dirty="0"/>
          </a:p>
        </p:txBody>
      </p:sp>
      <p:sp>
        <p:nvSpPr>
          <p:cNvPr id="5" name="Text 1"/>
          <p:cNvSpPr/>
          <p:nvPr/>
        </p:nvSpPr>
        <p:spPr>
          <a:xfrm>
            <a:off x="6766560" y="4526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ささエール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NA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548640" y="477316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マナベル　第3回　Larkの基本を使いこなす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NA_DARK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0604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  <p:sp>
        <p:nvSpPr>
          <p:cNvPr id="4" name="Text 0"/>
          <p:cNvSpPr/>
          <p:nvPr/>
        </p:nvSpPr>
        <p:spPr>
          <a:xfrm>
            <a:off x="548640" y="4526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マナベル｜AI×Lark 構築者育成講座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sson-badge"/>
          <p:cNvSpPr/>
          <p:nvPr/>
        </p:nvSpPr>
        <p:spPr>
          <a:xfrm>
            <a:off x="548640" y="822960"/>
            <a:ext cx="1828800" cy="566928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548640" y="82296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第3回</a:t>
            </a:r>
            <a:endParaRPr lang="en-US" sz="2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1691640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Larkの基本を使いこなす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324612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フェーズ1 土台をつくる　｜　第2週</a:t>
            </a:r>
            <a:endParaRPr lang="en-US" sz="1400" dirty="0"/>
          </a:p>
        </p:txBody>
      </p:sp>
      <p:sp>
        <p:nvSpPr>
          <p:cNvPr id="6" name="title-circle"/>
          <p:cNvSpPr/>
          <p:nvPr/>
        </p:nvSpPr>
        <p:spPr>
          <a:xfrm>
            <a:off x="6537960" y="1188720"/>
            <a:ext cx="2103120" cy="2103120"/>
          </a:xfrm>
          <a:prstGeom prst="ellipse">
            <a:avLst/>
          </a:prstGeom>
          <a:solidFill>
            <a:schemeClr val="bg1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pic>
        <p:nvPicPr>
          <p:cNvPr id="7" name="title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0" y="1737360"/>
            <a:ext cx="1005840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今日のゴールと流れ</a:t>
            </a:r>
            <a:endParaRPr lang="en-US" sz="2400" dirty="0"/>
          </a:p>
        </p:txBody>
      </p:sp>
      <p:sp>
        <p:nvSpPr>
          <p:cNvPr id="3" name="chip"/>
          <p:cNvSpPr/>
          <p:nvPr/>
        </p:nvSpPr>
        <p:spPr>
          <a:xfrm>
            <a:off x="548640" y="292608"/>
            <a:ext cx="932688" cy="29260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chip-text"/>
          <p:cNvSpPr txBox="1"/>
          <p:nvPr/>
        </p:nvSpPr>
        <p:spPr>
          <a:xfrm>
            <a:off x="548640" y="292608"/>
            <a:ext cx="932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はじめに</a:t>
            </a:r>
            <a:endParaRPr lang="en-US" sz="1100" dirty="0"/>
          </a:p>
        </p:txBody>
      </p:sp>
      <p:sp>
        <p:nvSpPr>
          <p:cNvPr id="5" name="card"/>
          <p:cNvSpPr/>
          <p:nvPr/>
        </p:nvSpPr>
        <p:spPr>
          <a:xfrm>
            <a:off x="548640" y="1417320"/>
            <a:ext cx="39090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6" name="icon-circle"/>
          <p:cNvSpPr/>
          <p:nvPr/>
        </p:nvSpPr>
        <p:spPr>
          <a:xfrm>
            <a:off x="731520" y="1600200"/>
            <a:ext cx="411480" cy="411480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7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5" y="1707185"/>
            <a:ext cx="197510" cy="197510"/>
          </a:xfrm>
          <a:prstGeom prst="rect">
            <a:avLst/>
          </a:prstGeom>
        </p:spPr>
      </p:pic>
      <p:sp>
        <p:nvSpPr>
          <p:cNvPr id="8" name="goal"/>
          <p:cNvSpPr txBox="1"/>
          <p:nvPr/>
        </p:nvSpPr>
        <p:spPr>
          <a:xfrm>
            <a:off x="1280160" y="1508760"/>
            <a:ext cx="29946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Larkの主な機能と、情報の置き場所がわかる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4686300" y="1417320"/>
            <a:ext cx="39090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869180" y="1600200"/>
            <a:ext cx="411480" cy="411480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11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165" y="1707185"/>
            <a:ext cx="197510" cy="197510"/>
          </a:xfrm>
          <a:prstGeom prst="rect">
            <a:avLst/>
          </a:prstGeom>
        </p:spPr>
      </p:pic>
      <p:sp>
        <p:nvSpPr>
          <p:cNvPr id="12" name="goal"/>
          <p:cNvSpPr txBox="1"/>
          <p:nvPr/>
        </p:nvSpPr>
        <p:spPr>
          <a:xfrm>
            <a:off x="5417820" y="1508760"/>
            <a:ext cx="29946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講座用のWikiスペースを作り、設計シートを置けている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今日の流れ（90分）</a:t>
            </a:r>
            <a:endParaRPr lang="en-US" sz="1300" dirty="0"/>
          </a:p>
        </p:txBody>
      </p:sp>
      <p:sp>
        <p:nvSpPr>
          <p:cNvPr id="14" name="time-block"/>
          <p:cNvSpPr/>
          <p:nvPr/>
        </p:nvSpPr>
        <p:spPr>
          <a:xfrm>
            <a:off x="548640" y="3383280"/>
            <a:ext cx="894080" cy="6858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ime-label"/>
          <p:cNvSpPr txBox="1"/>
          <p:nvPr/>
        </p:nvSpPr>
        <p:spPr>
          <a:xfrm>
            <a:off x="548640" y="3383280"/>
            <a:ext cx="89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600"/>
                </a:solidFill>
              </a:rPr>
              <a:t>ふりかえり</a:t>
            </a:r>
            <a:endParaRPr lang="en-US" sz="105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D600"/>
                </a:solidFill>
              </a:rPr>
              <a:t>10分</a:t>
            </a:r>
            <a:endParaRPr lang="en-US" sz="1050" dirty="0"/>
          </a:p>
        </p:txBody>
      </p:sp>
      <p:sp>
        <p:nvSpPr>
          <p:cNvPr id="16" name="time-block"/>
          <p:cNvSpPr/>
          <p:nvPr/>
        </p:nvSpPr>
        <p:spPr>
          <a:xfrm>
            <a:off x="1442720" y="3383280"/>
            <a:ext cx="894080" cy="6858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ime-label"/>
          <p:cNvSpPr txBox="1"/>
          <p:nvPr/>
        </p:nvSpPr>
        <p:spPr>
          <a:xfrm>
            <a:off x="1442720" y="3383280"/>
            <a:ext cx="89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600"/>
                </a:solidFill>
              </a:rPr>
              <a:t>説明①</a:t>
            </a:r>
            <a:endParaRPr lang="en-US" sz="105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D600"/>
                </a:solidFill>
              </a:rPr>
              <a:t>10分</a:t>
            </a:r>
            <a:endParaRPr lang="en-US" sz="1050" dirty="0"/>
          </a:p>
        </p:txBody>
      </p:sp>
      <p:sp>
        <p:nvSpPr>
          <p:cNvPr id="18" name="time-block"/>
          <p:cNvSpPr/>
          <p:nvPr/>
        </p:nvSpPr>
        <p:spPr>
          <a:xfrm>
            <a:off x="2336800" y="3383280"/>
            <a:ext cx="1788160" cy="685800"/>
          </a:xfrm>
          <a:prstGeom prst="rect">
            <a:avLst/>
          </a:prstGeom>
          <a:solidFill>
            <a:srgbClr val="DD64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ime-label"/>
          <p:cNvSpPr txBox="1"/>
          <p:nvPr/>
        </p:nvSpPr>
        <p:spPr>
          <a:xfrm>
            <a:off x="2336800" y="3383280"/>
            <a:ext cx="178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ハンズオン①</a:t>
            </a:r>
            <a:endParaRPr lang="en-US" sz="105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20分</a:t>
            </a:r>
            <a:endParaRPr lang="en-US" sz="1050" dirty="0"/>
          </a:p>
        </p:txBody>
      </p:sp>
      <p:sp>
        <p:nvSpPr>
          <p:cNvPr id="20" name="time-block"/>
          <p:cNvSpPr/>
          <p:nvPr/>
        </p:nvSpPr>
        <p:spPr>
          <a:xfrm>
            <a:off x="4124960" y="3383280"/>
            <a:ext cx="894080" cy="6858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ime-label"/>
          <p:cNvSpPr txBox="1"/>
          <p:nvPr/>
        </p:nvSpPr>
        <p:spPr>
          <a:xfrm>
            <a:off x="4124960" y="3383280"/>
            <a:ext cx="89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600"/>
                </a:solidFill>
              </a:rPr>
              <a:t>説明②</a:t>
            </a:r>
            <a:endParaRPr lang="en-US" sz="105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D600"/>
                </a:solidFill>
              </a:rPr>
              <a:t>10分</a:t>
            </a:r>
            <a:endParaRPr lang="en-US" sz="1050" dirty="0"/>
          </a:p>
        </p:txBody>
      </p:sp>
      <p:sp>
        <p:nvSpPr>
          <p:cNvPr id="22" name="time-block"/>
          <p:cNvSpPr/>
          <p:nvPr/>
        </p:nvSpPr>
        <p:spPr>
          <a:xfrm>
            <a:off x="5019040" y="3383280"/>
            <a:ext cx="1788160" cy="685800"/>
          </a:xfrm>
          <a:prstGeom prst="rect">
            <a:avLst/>
          </a:prstGeom>
          <a:solidFill>
            <a:srgbClr val="DD64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ime-label"/>
          <p:cNvSpPr txBox="1"/>
          <p:nvPr/>
        </p:nvSpPr>
        <p:spPr>
          <a:xfrm>
            <a:off x="5019040" y="3383280"/>
            <a:ext cx="178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ハンズオン②</a:t>
            </a:r>
            <a:endParaRPr lang="en-US" sz="105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20分</a:t>
            </a:r>
            <a:endParaRPr lang="en-US" sz="1050" dirty="0"/>
          </a:p>
        </p:txBody>
      </p:sp>
      <p:sp>
        <p:nvSpPr>
          <p:cNvPr id="24" name="time-block"/>
          <p:cNvSpPr/>
          <p:nvPr/>
        </p:nvSpPr>
        <p:spPr>
          <a:xfrm>
            <a:off x="6807200" y="3383280"/>
            <a:ext cx="1341120" cy="6858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ime-label"/>
          <p:cNvSpPr txBox="1"/>
          <p:nvPr/>
        </p:nvSpPr>
        <p:spPr>
          <a:xfrm>
            <a:off x="6807200" y="3383280"/>
            <a:ext cx="1341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600"/>
                </a:solidFill>
              </a:rPr>
              <a:t>質問・共有</a:t>
            </a:r>
            <a:endParaRPr lang="en-US" sz="105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D600"/>
                </a:solidFill>
              </a:rPr>
              <a:t>15分</a:t>
            </a:r>
            <a:endParaRPr lang="en-US" sz="1050" dirty="0"/>
          </a:p>
        </p:txBody>
      </p:sp>
      <p:sp>
        <p:nvSpPr>
          <p:cNvPr id="26" name="time-block"/>
          <p:cNvSpPr/>
          <p:nvPr/>
        </p:nvSpPr>
        <p:spPr>
          <a:xfrm>
            <a:off x="8148320" y="3383280"/>
            <a:ext cx="447040" cy="6858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ime-label"/>
          <p:cNvSpPr txBox="1"/>
          <p:nvPr/>
        </p:nvSpPr>
        <p:spPr>
          <a:xfrm>
            <a:off x="8148320" y="3383280"/>
            <a:ext cx="44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D600"/>
                </a:solidFill>
              </a:rPr>
              <a:t>宿題</a:t>
            </a:r>
            <a:endParaRPr lang="en-US" sz="85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D600"/>
                </a:solidFill>
              </a:rPr>
              <a:t>5分</a:t>
            </a:r>
            <a:endParaRPr lang="en-US" sz="850" dirty="0"/>
          </a:p>
        </p:txBody>
      </p:sp>
      <p:sp>
        <p:nvSpPr>
          <p:cNvPr id="28" name="Text 24"/>
          <p:cNvSpPr txBox="1"/>
          <p:nvPr/>
        </p:nvSpPr>
        <p:spPr>
          <a:xfrm>
            <a:off x="548640" y="4160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■ 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聞く　</a:t>
            </a:r>
            <a:pPr indent="0" marL="0">
              <a:buNone/>
            </a:pPr>
            <a:r>
              <a:rPr lang="en-US" sz="1000" dirty="0">
                <a:solidFill>
                  <a:srgbClr val="DD6420"/>
                </a:solidFill>
              </a:rPr>
              <a:t>■ 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手を動かす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Larkの全体像</a:t>
            </a:r>
            <a:endParaRPr lang="en-US" sz="2400" dirty="0"/>
          </a:p>
        </p:txBody>
      </p:sp>
      <p:sp>
        <p:nvSpPr>
          <p:cNvPr id="3" name="chip"/>
          <p:cNvSpPr/>
          <p:nvPr/>
        </p:nvSpPr>
        <p:spPr>
          <a:xfrm>
            <a:off x="548640" y="292608"/>
            <a:ext cx="1344168" cy="29260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chip-text"/>
          <p:cNvSpPr txBox="1"/>
          <p:nvPr/>
        </p:nvSpPr>
        <p:spPr>
          <a:xfrm>
            <a:off x="548640" y="292608"/>
            <a:ext cx="1344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説明① 10分</a:t>
            </a:r>
            <a:endParaRPr lang="en-US" sz="1100" dirty="0"/>
          </a:p>
        </p:txBody>
      </p:sp>
      <p:graphicFrame>
        <p:nvGraphicFramePr>
          <p:cNvPr id="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8046720" cy="914400"/>
        </p:xfrm>
        <a:graphic>
          <a:graphicData uri="http://schemas.openxmlformats.org/drawingml/2006/table">
            <a:tbl>
              <a:tblPr/>
              <a:tblGrid>
                <a:gridCol w="1788160"/>
                <a:gridCol w="2503424"/>
                <a:gridCol w="3755136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D600"/>
                          </a:solidFill>
                        </a:rPr>
                        <a:t>機能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D600"/>
                          </a:solidFill>
                        </a:rPr>
                        <a:t>ひとことで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D600"/>
                          </a:solidFill>
                        </a:rPr>
                        <a:t>この講座での使い方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メッセンジャー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社内チャット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講座グループ、通知の受け取り先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Docs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共同編集できる文書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設計シート・議事録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Wiki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Docsを本棚のように整理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マニュアル・ルールの置き場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BASE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データベース（台帳）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業務アプリの中心（第4回〜）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承認・カレンダー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申請／予定共有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第6回・予約との連携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foot-box"/>
          <p:cNvSpPr/>
          <p:nvPr/>
        </p:nvSpPr>
        <p:spPr>
          <a:xfrm>
            <a:off x="548640" y="4114800"/>
            <a:ext cx="804672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8" name="foo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242816"/>
            <a:ext cx="246888" cy="246888"/>
          </a:xfrm>
          <a:prstGeom prst="rect">
            <a:avLst/>
          </a:prstGeom>
        </p:spPr>
      </p:pic>
      <p:sp>
        <p:nvSpPr>
          <p:cNvPr id="9" name="foot-text"/>
          <p:cNvSpPr txBox="1"/>
          <p:nvPr/>
        </p:nvSpPr>
        <p:spPr>
          <a:xfrm>
            <a:off x="1051560" y="4114800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画面の名前や場所は、Larkのバージョンや言語設定で少し変わることがあります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グループとDocs</a:t>
            </a:r>
            <a:endParaRPr lang="en-US" sz="2400" dirty="0"/>
          </a:p>
        </p:txBody>
      </p:sp>
      <p:sp>
        <p:nvSpPr>
          <p:cNvPr id="3" name="chip"/>
          <p:cNvSpPr/>
          <p:nvPr/>
        </p:nvSpPr>
        <p:spPr>
          <a:xfrm>
            <a:off x="548640" y="292608"/>
            <a:ext cx="1755648" cy="29260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chip-text"/>
          <p:cNvSpPr txBox="1"/>
          <p:nvPr/>
        </p:nvSpPr>
        <p:spPr>
          <a:xfrm>
            <a:off x="548640" y="292608"/>
            <a:ext cx="175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ハンズオン① 20分</a:t>
            </a:r>
            <a:endParaRPr lang="en-US" sz="1100" dirty="0"/>
          </a:p>
        </p:txBody>
      </p:sp>
      <p:sp>
        <p:nvSpPr>
          <p:cNvPr id="6" name="step-num"/>
          <p:cNvSpPr/>
          <p:nvPr/>
        </p:nvSpPr>
        <p:spPr>
          <a:xfrm>
            <a:off x="548640" y="1805940"/>
            <a:ext cx="384048" cy="384048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7" name="step-num-text"/>
          <p:cNvSpPr txBox="1"/>
          <p:nvPr/>
        </p:nvSpPr>
        <p:spPr>
          <a:xfrm>
            <a:off x="548640" y="18059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step-text"/>
          <p:cNvSpPr txBox="1"/>
          <p:nvPr/>
        </p:nvSpPr>
        <p:spPr>
          <a:xfrm>
            <a:off x="1097280" y="1696212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「マナベル_（会社名）」というグループを作る</a:t>
            </a:r>
            <a:endParaRPr lang="en-US" sz="1450" dirty="0"/>
          </a:p>
        </p:txBody>
      </p:sp>
      <p:sp>
        <p:nvSpPr>
          <p:cNvPr id="9" name="step-num"/>
          <p:cNvSpPr/>
          <p:nvPr/>
        </p:nvSpPr>
        <p:spPr>
          <a:xfrm>
            <a:off x="548640" y="2409444"/>
            <a:ext cx="384048" cy="384048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0" name="step-num-text"/>
          <p:cNvSpPr txBox="1"/>
          <p:nvPr/>
        </p:nvSpPr>
        <p:spPr>
          <a:xfrm>
            <a:off x="548640" y="24094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step-text"/>
          <p:cNvSpPr txBox="1"/>
          <p:nvPr/>
        </p:nvSpPr>
        <p:spPr>
          <a:xfrm>
            <a:off x="1097280" y="2299716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Docsで新しい文書を作り、第2回の設計シートを貼る</a:t>
            </a:r>
            <a:endParaRPr lang="en-US" sz="1450" dirty="0"/>
          </a:p>
        </p:txBody>
      </p:sp>
      <p:sp>
        <p:nvSpPr>
          <p:cNvPr id="12" name="step-num"/>
          <p:cNvSpPr/>
          <p:nvPr/>
        </p:nvSpPr>
        <p:spPr>
          <a:xfrm>
            <a:off x="548640" y="3012948"/>
            <a:ext cx="384048" cy="384048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3" name="step-num-text"/>
          <p:cNvSpPr txBox="1"/>
          <p:nvPr/>
        </p:nvSpPr>
        <p:spPr>
          <a:xfrm>
            <a:off x="548640" y="30129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step-text"/>
          <p:cNvSpPr txBox="1"/>
          <p:nvPr/>
        </p:nvSpPr>
        <p:spPr>
          <a:xfrm>
            <a:off x="1097280" y="2903220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共有設定で「誰が見られる／編集できるか」を確認する</a:t>
            </a:r>
            <a:endParaRPr lang="en-US" sz="1450" dirty="0"/>
          </a:p>
        </p:txBody>
      </p:sp>
      <p:sp>
        <p:nvSpPr>
          <p:cNvPr id="15" name="step-num"/>
          <p:cNvSpPr/>
          <p:nvPr/>
        </p:nvSpPr>
        <p:spPr>
          <a:xfrm>
            <a:off x="548640" y="3616452"/>
            <a:ext cx="384048" cy="384048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6" name="step-num-text"/>
          <p:cNvSpPr txBox="1"/>
          <p:nvPr/>
        </p:nvSpPr>
        <p:spPr>
          <a:xfrm>
            <a:off x="548640" y="36164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step-text"/>
          <p:cNvSpPr txBox="1"/>
          <p:nvPr/>
        </p:nvSpPr>
        <p:spPr>
          <a:xfrm>
            <a:off x="1097280" y="350672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グループにリンクを送り、メンションとコメントを1回ずつ試す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迷ったら、この置き場所</a:t>
            </a:r>
            <a:endParaRPr lang="en-US" sz="2400" dirty="0"/>
          </a:p>
        </p:txBody>
      </p:sp>
      <p:sp>
        <p:nvSpPr>
          <p:cNvPr id="3" name="chip"/>
          <p:cNvSpPr/>
          <p:nvPr/>
        </p:nvSpPr>
        <p:spPr>
          <a:xfrm>
            <a:off x="548640" y="292608"/>
            <a:ext cx="1344168" cy="29260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chip-text"/>
          <p:cNvSpPr txBox="1"/>
          <p:nvPr/>
        </p:nvSpPr>
        <p:spPr>
          <a:xfrm>
            <a:off x="548640" y="292608"/>
            <a:ext cx="1344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説明② 10分</a:t>
            </a:r>
            <a:endParaRPr lang="en-US" sz="1100" dirty="0"/>
          </a:p>
        </p:txBody>
      </p:sp>
      <p:sp>
        <p:nvSpPr>
          <p:cNvPr id="6" name="card"/>
          <p:cNvSpPr/>
          <p:nvPr/>
        </p:nvSpPr>
        <p:spPr>
          <a:xfrm>
            <a:off x="548640" y="1463040"/>
            <a:ext cx="2529840" cy="2286000"/>
          </a:xfrm>
          <a:prstGeom prst="roundRect">
            <a:avLst>
              <a:gd name="adj" fmla="val 4800"/>
            </a:avLst>
          </a:prstGeom>
          <a:solidFill>
            <a:schemeClr val="bg1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7" name="icon-circle"/>
          <p:cNvSpPr/>
          <p:nvPr/>
        </p:nvSpPr>
        <p:spPr>
          <a:xfrm>
            <a:off x="731520" y="1645920"/>
            <a:ext cx="502920" cy="502920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8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2279" y="1776679"/>
            <a:ext cx="241402" cy="241402"/>
          </a:xfrm>
          <a:prstGeom prst="rect">
            <a:avLst/>
          </a:prstGeom>
        </p:spPr>
      </p:pic>
      <p:sp>
        <p:nvSpPr>
          <p:cNvPr id="9" name="card-head"/>
          <p:cNvSpPr txBox="1"/>
          <p:nvPr/>
        </p:nvSpPr>
        <p:spPr>
          <a:xfrm>
            <a:off x="731520" y="2286000"/>
            <a:ext cx="216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メッセンジャー</a:t>
            </a:r>
            <a:endParaRPr lang="en-US" sz="1500" dirty="0"/>
          </a:p>
        </p:txBody>
      </p:sp>
      <p:sp>
        <p:nvSpPr>
          <p:cNvPr id="10" name="card-body"/>
          <p:cNvSpPr txBox="1"/>
          <p:nvPr/>
        </p:nvSpPr>
        <p:spPr>
          <a:xfrm>
            <a:off x="731520" y="2697480"/>
            <a:ext cx="216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流れていってよい連絡</a:t>
            </a:r>
            <a:endParaRPr lang="en-US" sz="1300" dirty="0"/>
          </a:p>
        </p:txBody>
      </p:sp>
      <p:sp>
        <p:nvSpPr>
          <p:cNvPr id="11" name="card"/>
          <p:cNvSpPr/>
          <p:nvPr/>
        </p:nvSpPr>
        <p:spPr>
          <a:xfrm>
            <a:off x="3307080" y="1463040"/>
            <a:ext cx="2529840" cy="2286000"/>
          </a:xfrm>
          <a:prstGeom prst="roundRect">
            <a:avLst>
              <a:gd name="adj" fmla="val 4800"/>
            </a:avLst>
          </a:prstGeom>
          <a:solidFill>
            <a:schemeClr val="bg1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2" name="icon-circle"/>
          <p:cNvSpPr/>
          <p:nvPr/>
        </p:nvSpPr>
        <p:spPr>
          <a:xfrm>
            <a:off x="3489960" y="1645920"/>
            <a:ext cx="502920" cy="502920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13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0719" y="1776679"/>
            <a:ext cx="241402" cy="241402"/>
          </a:xfrm>
          <a:prstGeom prst="rect">
            <a:avLst/>
          </a:prstGeom>
        </p:spPr>
      </p:pic>
      <p:sp>
        <p:nvSpPr>
          <p:cNvPr id="14" name="card-head"/>
          <p:cNvSpPr txBox="1"/>
          <p:nvPr/>
        </p:nvSpPr>
        <p:spPr>
          <a:xfrm>
            <a:off x="3489960" y="2286000"/>
            <a:ext cx="216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Wiki（Docs）</a:t>
            </a:r>
            <a:endParaRPr lang="en-US" sz="1500" dirty="0"/>
          </a:p>
        </p:txBody>
      </p:sp>
      <p:sp>
        <p:nvSpPr>
          <p:cNvPr id="15" name="card-body"/>
          <p:cNvSpPr txBox="1"/>
          <p:nvPr/>
        </p:nvSpPr>
        <p:spPr>
          <a:xfrm>
            <a:off x="3489960" y="2697480"/>
            <a:ext cx="216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残しておく文章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手順・ルール・議事録</a:t>
            </a:r>
            <a:endParaRPr lang="en-US" sz="1300" dirty="0"/>
          </a:p>
        </p:txBody>
      </p:sp>
      <p:sp>
        <p:nvSpPr>
          <p:cNvPr id="16" name="card"/>
          <p:cNvSpPr/>
          <p:nvPr/>
        </p:nvSpPr>
        <p:spPr>
          <a:xfrm>
            <a:off x="6065520" y="1463040"/>
            <a:ext cx="2529840" cy="2286000"/>
          </a:xfrm>
          <a:prstGeom prst="roundRect">
            <a:avLst>
              <a:gd name="adj" fmla="val 4800"/>
            </a:avLst>
          </a:prstGeom>
          <a:solidFill>
            <a:schemeClr val="bg1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6248400" y="1645920"/>
            <a:ext cx="502920" cy="502920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18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9159" y="1776679"/>
            <a:ext cx="241402" cy="241402"/>
          </a:xfrm>
          <a:prstGeom prst="rect">
            <a:avLst/>
          </a:prstGeom>
        </p:spPr>
      </p:pic>
      <p:sp>
        <p:nvSpPr>
          <p:cNvPr id="19" name="card-head"/>
          <p:cNvSpPr txBox="1"/>
          <p:nvPr/>
        </p:nvSpPr>
        <p:spPr>
          <a:xfrm>
            <a:off x="6248400" y="2286000"/>
            <a:ext cx="216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BASE</a:t>
            </a:r>
            <a:endParaRPr lang="en-US" sz="1500" dirty="0"/>
          </a:p>
        </p:txBody>
      </p:sp>
      <p:sp>
        <p:nvSpPr>
          <p:cNvPr id="20" name="card-body"/>
          <p:cNvSpPr txBox="1"/>
          <p:nvPr/>
        </p:nvSpPr>
        <p:spPr>
          <a:xfrm>
            <a:off x="6248400" y="2697480"/>
            <a:ext cx="216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件数が増える・一覧で見たい・集計したいもの</a:t>
            </a:r>
            <a:endParaRPr lang="en-US" sz="1300" dirty="0"/>
          </a:p>
        </p:txBody>
      </p:sp>
      <p:sp>
        <p:nvSpPr>
          <p:cNvPr id="21" name="foot-box"/>
          <p:cNvSpPr/>
          <p:nvPr/>
        </p:nvSpPr>
        <p:spPr>
          <a:xfrm>
            <a:off x="548640" y="4114800"/>
            <a:ext cx="804672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2" name="foot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4242816"/>
            <a:ext cx="246888" cy="246888"/>
          </a:xfrm>
          <a:prstGeom prst="rect">
            <a:avLst/>
          </a:prstGeom>
        </p:spPr>
      </p:pic>
      <p:sp>
        <p:nvSpPr>
          <p:cNvPr id="23" name="foot-text"/>
          <p:cNvSpPr txBox="1"/>
          <p:nvPr/>
        </p:nvSpPr>
        <p:spPr>
          <a:xfrm>
            <a:off x="1051560" y="4114800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「チャットで送った大事なことが流れて見つからない」は、Wikiに置き直す合図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Wikiの目次を作る</a:t>
            </a:r>
            <a:endParaRPr lang="en-US" sz="2400" dirty="0"/>
          </a:p>
        </p:txBody>
      </p:sp>
      <p:sp>
        <p:nvSpPr>
          <p:cNvPr id="3" name="chip"/>
          <p:cNvSpPr/>
          <p:nvPr/>
        </p:nvSpPr>
        <p:spPr>
          <a:xfrm>
            <a:off x="548640" y="292608"/>
            <a:ext cx="1755648" cy="29260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chip-text"/>
          <p:cNvSpPr txBox="1"/>
          <p:nvPr/>
        </p:nvSpPr>
        <p:spPr>
          <a:xfrm>
            <a:off x="548640" y="292608"/>
            <a:ext cx="175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ハンズオン② 20分</a:t>
            </a:r>
            <a:endParaRPr lang="en-US" sz="1100" dirty="0"/>
          </a:p>
        </p:txBody>
      </p:sp>
      <p:sp>
        <p:nvSpPr>
          <p:cNvPr id="6" name="step-num"/>
          <p:cNvSpPr/>
          <p:nvPr/>
        </p:nvSpPr>
        <p:spPr>
          <a:xfrm>
            <a:off x="548640" y="1805940"/>
            <a:ext cx="384048" cy="384048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7" name="step-num-text"/>
          <p:cNvSpPr txBox="1"/>
          <p:nvPr/>
        </p:nvSpPr>
        <p:spPr>
          <a:xfrm>
            <a:off x="548640" y="18059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step-text"/>
          <p:cNvSpPr txBox="1"/>
          <p:nvPr/>
        </p:nvSpPr>
        <p:spPr>
          <a:xfrm>
            <a:off x="1097280" y="1696212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Wikiで新しいスペース「（会社名）しくみづくり」を作る</a:t>
            </a:r>
            <a:endParaRPr lang="en-US" sz="1450" dirty="0"/>
          </a:p>
        </p:txBody>
      </p:sp>
      <p:sp>
        <p:nvSpPr>
          <p:cNvPr id="9" name="step-num"/>
          <p:cNvSpPr/>
          <p:nvPr/>
        </p:nvSpPr>
        <p:spPr>
          <a:xfrm>
            <a:off x="548640" y="2409444"/>
            <a:ext cx="384048" cy="384048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0" name="step-num-text"/>
          <p:cNvSpPr txBox="1"/>
          <p:nvPr/>
        </p:nvSpPr>
        <p:spPr>
          <a:xfrm>
            <a:off x="548640" y="24094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step-text"/>
          <p:cNvSpPr txBox="1"/>
          <p:nvPr/>
        </p:nvSpPr>
        <p:spPr>
          <a:xfrm>
            <a:off x="1097280" y="2299716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目次：00 はじめに／01 設計シート／02 業務ルール／03 操作マニュアル／04 改善メモ</a:t>
            </a:r>
            <a:endParaRPr lang="en-US" sz="1450" dirty="0"/>
          </a:p>
        </p:txBody>
      </p:sp>
      <p:sp>
        <p:nvSpPr>
          <p:cNvPr id="12" name="step-num"/>
          <p:cNvSpPr/>
          <p:nvPr/>
        </p:nvSpPr>
        <p:spPr>
          <a:xfrm>
            <a:off x="548640" y="3012948"/>
            <a:ext cx="384048" cy="384048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3" name="step-num-text"/>
          <p:cNvSpPr txBox="1"/>
          <p:nvPr/>
        </p:nvSpPr>
        <p:spPr>
          <a:xfrm>
            <a:off x="548640" y="30129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step-text"/>
          <p:cNvSpPr txBox="1"/>
          <p:nvPr/>
        </p:nvSpPr>
        <p:spPr>
          <a:xfrm>
            <a:off x="1097280" y="2903220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設計シートのDocsを「01」に移動する</a:t>
            </a:r>
            <a:endParaRPr lang="en-US" sz="1450" dirty="0"/>
          </a:p>
        </p:txBody>
      </p:sp>
      <p:sp>
        <p:nvSpPr>
          <p:cNvPr id="15" name="step-num"/>
          <p:cNvSpPr/>
          <p:nvPr/>
        </p:nvSpPr>
        <p:spPr>
          <a:xfrm>
            <a:off x="548640" y="3616452"/>
            <a:ext cx="384048" cy="384048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6" name="step-num-text"/>
          <p:cNvSpPr txBox="1"/>
          <p:nvPr/>
        </p:nvSpPr>
        <p:spPr>
          <a:xfrm>
            <a:off x="548640" y="36164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step-text"/>
          <p:cNvSpPr txBox="1"/>
          <p:nvPr/>
        </p:nvSpPr>
        <p:spPr>
          <a:xfrm>
            <a:off x="1097280" y="350672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AIに「00 はじめに」を下書きしてもらい、貼り付ける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宿題と、今日のチェック</a:t>
            </a:r>
            <a:endParaRPr lang="en-US" sz="2400" dirty="0"/>
          </a:p>
        </p:txBody>
      </p:sp>
      <p:sp>
        <p:nvSpPr>
          <p:cNvPr id="3" name="chip"/>
          <p:cNvSpPr/>
          <p:nvPr/>
        </p:nvSpPr>
        <p:spPr>
          <a:xfrm>
            <a:off x="548640" y="292608"/>
            <a:ext cx="795528" cy="29260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chip-text"/>
          <p:cNvSpPr txBox="1"/>
          <p:nvPr/>
        </p:nvSpPr>
        <p:spPr>
          <a:xfrm>
            <a:off x="548640" y="292608"/>
            <a:ext cx="795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まとめ</a:t>
            </a:r>
            <a:endParaRPr lang="en-US" sz="1100" dirty="0"/>
          </a:p>
        </p:txBody>
      </p:sp>
      <p:sp>
        <p:nvSpPr>
          <p:cNvPr id="5" name="card"/>
          <p:cNvSpPr/>
          <p:nvPr/>
        </p:nvSpPr>
        <p:spPr>
          <a:xfrm>
            <a:off x="548640" y="1463040"/>
            <a:ext cx="3886200" cy="30175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6" name="icon-circle"/>
          <p:cNvSpPr/>
          <p:nvPr/>
        </p:nvSpPr>
        <p:spPr>
          <a:xfrm>
            <a:off x="777240" y="1645920"/>
            <a:ext cx="457200" cy="457200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7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764792"/>
            <a:ext cx="219456" cy="21945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71600" y="1645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宿題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286000"/>
            <a:ext cx="34747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社内で使っているExcel・紙の帳票を1つ集めてくる（第4回で取り込みます）</a:t>
            </a:r>
            <a:endParaRPr lang="en-US" sz="1350" dirty="0"/>
          </a:p>
        </p:txBody>
      </p:sp>
      <p:sp>
        <p:nvSpPr>
          <p:cNvPr id="10" name="card"/>
          <p:cNvSpPr/>
          <p:nvPr/>
        </p:nvSpPr>
        <p:spPr>
          <a:xfrm>
            <a:off x="4709160" y="1463040"/>
            <a:ext cx="3886200" cy="301752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4937760" y="1645920"/>
            <a:ext cx="457200" cy="457200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12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6632" y="1764792"/>
            <a:ext cx="219456" cy="21945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532120" y="1645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できたらチェック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937760" y="2286000"/>
            <a:ext cx="34747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☐ グループ・Docs・Wikiの使い分けを説明できる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☐ Wikiスペースに設計シートが置いてある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次回：第4回 BASEでデータの入れ物を設計する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0604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わからないところは、講座グループでいつでも質問してください。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APIキーやパスワードは送らないでください。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naberu">
  <a:themeElements>
    <a:clrScheme name="Manaberu">
      <a:dk1>
        <a:srgbClr val="1A1A1A"/>
      </a:dk1>
      <a:lt1>
        <a:srgbClr val="FFFFFF"/>
      </a:lt1>
      <a:dk2>
        <a:srgbClr val="5A6872"/>
      </a:dk2>
      <a:lt2>
        <a:srgbClr val="FFF6CC"/>
      </a:lt2>
      <a:accent1>
        <a:srgbClr val="FFD600"/>
      </a:accent1>
      <a:accent2>
        <a:srgbClr val="DD6420"/>
      </a:accent2>
      <a:accent3>
        <a:srgbClr val="3370FF"/>
      </a:accent3>
      <a:accent4>
        <a:srgbClr val="06C755"/>
      </a:accent4>
      <a:accent5>
        <a:srgbClr val="E53935"/>
      </a:accent5>
      <a:accent6>
        <a:srgbClr val="F5A623"/>
      </a:accent6>
      <a:hlink>
        <a:srgbClr val="3370FF"/>
      </a:hlink>
      <a:folHlink>
        <a:srgbClr val="6B4FBB"/>
      </a:folHlink>
    </a:clrScheme>
    <a:fontScheme name="Manaberu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ささエール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マナベル 第3回 Larkの基本を使いこなす</dc:title>
  <dc:subject>PptxGenJS Presentation</dc:subject>
  <dc:creator>ささエール（Office Plata）</dc:creator>
  <cp:lastModifiedBy>ささエール（Office Plata）</cp:lastModifiedBy>
  <cp:revision>1</cp:revision>
  <dcterms:created xsi:type="dcterms:W3CDTF">2026-10-02T10:43:47Z</dcterms:created>
  <dcterms:modified xsi:type="dcterms:W3CDTF">2026-10-02T10:43:47Z</dcterms:modified>
</cp:coreProperties>
</file>