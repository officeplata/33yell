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導入" id="{f8512730-0369-06c3-89bf-3a69783e4a8d}">
          <p14:sldIdLst>
            <p14:sldId id="256"/>
            <p14:sldId id="257"/>
          </p14:sldIdLst>
        </p14:section>
        <p14:section name="本編" id="{6c02968e-ab26-7004-dc9d-d6962ba546f8}">
          <p14:sldIdLst>
            <p14:sldId id="258"/>
            <p14:sldId id="259"/>
            <p14:sldId id="260"/>
            <p14:sldId id="261"/>
          </p14:sldIdLst>
        </p14:section>
        <p14:section name="まとめ" id="{446480ec-8d79-efc2-31da-3900fb714ebc}">
          <p14:sldIdLst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第5回「フォーム・ビュー・ダッシュボード」。前回の宿題の提出状況を確認してから始める。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ゴールを読み上げ、今日は「聞く」と「手を動かす」を交互に進めることを伝える。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フォームビューはテーブルに直接つながっていることを見せる。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スマホでの確認を全員にやってもらう。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ダッシュボードで件数・合計・グラフが一目で見られることも見せる。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宿題の目安時間を伝える。質問は講座グループへ（24時間以内に返信・土日祝を除く）。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次回までの宿題をもう一度確認して終了。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NA_TITLE">
    <p:bg>
      <p:bgPr>
        <a:solidFill>
          <a:srgbClr val="FFD6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691640"/>
            <a:ext cx="585216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246120"/>
            <a:ext cx="585216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4" name="Text 0"/>
          <p:cNvSpPr/>
          <p:nvPr/>
        </p:nvSpPr>
        <p:spPr>
          <a:xfrm>
            <a:off x="548640" y="4526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マナベル｜AI×Lark 構築者育成講座</a:t>
            </a:r>
            <a:endParaRPr lang="en-US" sz="1000" dirty="0"/>
          </a:p>
        </p:txBody>
      </p:sp>
      <p:sp>
        <p:nvSpPr>
          <p:cNvPr id="5" name="Text 1"/>
          <p:cNvSpPr/>
          <p:nvPr/>
        </p:nvSpPr>
        <p:spPr>
          <a:xfrm>
            <a:off x="6766560" y="4526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ささエール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NA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58368"/>
            <a:ext cx="804672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3" name="Text 0"/>
          <p:cNvSpPr/>
          <p:nvPr/>
        </p:nvSpPr>
        <p:spPr>
          <a:xfrm>
            <a:off x="548640" y="477316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マナベル　第5回　フォーム・ビュー・ダッシュボード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8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NA_DARK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63040"/>
            <a:ext cx="804672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606040"/>
            <a:ext cx="804672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500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1500" dirty="0"/>
          </a:p>
        </p:txBody>
      </p:sp>
      <p:sp>
        <p:nvSpPr>
          <p:cNvPr id="4" name="Text 0"/>
          <p:cNvSpPr/>
          <p:nvPr/>
        </p:nvSpPr>
        <p:spPr>
          <a:xfrm>
            <a:off x="548640" y="4526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マナベル｜AI×Lark 構築者育成講座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8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sson-badge"/>
          <p:cNvSpPr/>
          <p:nvPr/>
        </p:nvSpPr>
        <p:spPr>
          <a:xfrm>
            <a:off x="548640" y="822960"/>
            <a:ext cx="1828800" cy="566928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>
            <a:off x="548640" y="82296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第5回</a:t>
            </a:r>
            <a:endParaRPr lang="en-US" sz="2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1691640"/>
            <a:ext cx="5852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フォーム・ビュー・ダッシュボード</a:t>
            </a:r>
            <a:endParaRPr lang="en-US" sz="32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548640" y="324612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フェーズ2 Larkで組む　｜　第3週</a:t>
            </a:r>
            <a:endParaRPr lang="en-US" sz="1400" dirty="0"/>
          </a:p>
        </p:txBody>
      </p:sp>
      <p:sp>
        <p:nvSpPr>
          <p:cNvPr id="6" name="title-circle"/>
          <p:cNvSpPr/>
          <p:nvPr/>
        </p:nvSpPr>
        <p:spPr>
          <a:xfrm>
            <a:off x="6537960" y="1188720"/>
            <a:ext cx="2103120" cy="2103120"/>
          </a:xfrm>
          <a:prstGeom prst="ellipse">
            <a:avLst/>
          </a:prstGeom>
          <a:solidFill>
            <a:schemeClr val="bg1"/>
          </a:solidFill>
          <a:ln w="2540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7" name="title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0" y="1737360"/>
            <a:ext cx="1005840" cy="10058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5836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今日のゴールと流れ</a:t>
            </a:r>
            <a:endParaRPr lang="en-US" sz="2400" dirty="0"/>
          </a:p>
        </p:txBody>
      </p:sp>
      <p:sp>
        <p:nvSpPr>
          <p:cNvPr id="3" name="chip"/>
          <p:cNvSpPr/>
          <p:nvPr/>
        </p:nvSpPr>
        <p:spPr>
          <a:xfrm>
            <a:off x="548640" y="292608"/>
            <a:ext cx="932688" cy="292608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chip-text"/>
          <p:cNvSpPr txBox="1"/>
          <p:nvPr/>
        </p:nvSpPr>
        <p:spPr>
          <a:xfrm>
            <a:off x="548640" y="292608"/>
            <a:ext cx="932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はじめに</a:t>
            </a:r>
            <a:endParaRPr lang="en-US" sz="1100" dirty="0"/>
          </a:p>
        </p:txBody>
      </p:sp>
      <p:sp>
        <p:nvSpPr>
          <p:cNvPr id="5" name="card"/>
          <p:cNvSpPr/>
          <p:nvPr/>
        </p:nvSpPr>
        <p:spPr>
          <a:xfrm>
            <a:off x="548640" y="1417320"/>
            <a:ext cx="804672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905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6" name="icon-circle"/>
          <p:cNvSpPr/>
          <p:nvPr/>
        </p:nvSpPr>
        <p:spPr>
          <a:xfrm>
            <a:off x="731520" y="1600200"/>
            <a:ext cx="411480" cy="411480"/>
          </a:xfrm>
          <a:prstGeom prst="ellipse">
            <a:avLst/>
          </a:prstGeom>
          <a:solidFill>
            <a:schemeClr val="accent1"/>
          </a:solidFill>
          <a:ln w="15875">
            <a:solidFill>
              <a:srgbClr val="1A1A1A"/>
            </a:solidFill>
            <a:prstDash val="solid"/>
          </a:ln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505" y="1707185"/>
            <a:ext cx="197510" cy="197510"/>
          </a:xfrm>
          <a:prstGeom prst="rect">
            <a:avLst/>
          </a:prstGeom>
        </p:spPr>
      </p:pic>
      <p:sp>
        <p:nvSpPr>
          <p:cNvPr id="8" name="goal"/>
          <p:cNvSpPr txBox="1"/>
          <p:nvPr/>
        </p:nvSpPr>
        <p:spPr>
          <a:xfrm>
            <a:off x="1280160" y="1508760"/>
            <a:ext cx="7132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「入力 → 一覧 → 集計」が一通りそろっている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2971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今日の流れ（90分）</a:t>
            </a:r>
            <a:endParaRPr lang="en-US" sz="1300" dirty="0"/>
          </a:p>
        </p:txBody>
      </p:sp>
      <p:sp>
        <p:nvSpPr>
          <p:cNvPr id="10" name="time-block"/>
          <p:cNvSpPr/>
          <p:nvPr/>
        </p:nvSpPr>
        <p:spPr>
          <a:xfrm>
            <a:off x="548640" y="3383280"/>
            <a:ext cx="894080" cy="685800"/>
          </a:xfrm>
          <a:prstGeom prst="rect">
            <a:avLst/>
          </a:prstGeom>
          <a:solidFill>
            <a:srgbClr val="1A1A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ime-label"/>
          <p:cNvSpPr txBox="1"/>
          <p:nvPr/>
        </p:nvSpPr>
        <p:spPr>
          <a:xfrm>
            <a:off x="548640" y="3383280"/>
            <a:ext cx="89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D600"/>
                </a:solidFill>
              </a:rPr>
              <a:t>ふりかえり</a:t>
            </a:r>
            <a:endParaRPr lang="en-US" sz="105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D600"/>
                </a:solidFill>
              </a:rPr>
              <a:t>10分</a:t>
            </a:r>
            <a:endParaRPr lang="en-US" sz="1050" dirty="0"/>
          </a:p>
        </p:txBody>
      </p:sp>
      <p:sp>
        <p:nvSpPr>
          <p:cNvPr id="12" name="time-block"/>
          <p:cNvSpPr/>
          <p:nvPr/>
        </p:nvSpPr>
        <p:spPr>
          <a:xfrm>
            <a:off x="1442720" y="3383280"/>
            <a:ext cx="894080" cy="685800"/>
          </a:xfrm>
          <a:prstGeom prst="rect">
            <a:avLst/>
          </a:prstGeom>
          <a:solidFill>
            <a:srgbClr val="1A1A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ime-label"/>
          <p:cNvSpPr txBox="1"/>
          <p:nvPr/>
        </p:nvSpPr>
        <p:spPr>
          <a:xfrm>
            <a:off x="1442720" y="3383280"/>
            <a:ext cx="89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D600"/>
                </a:solidFill>
              </a:rPr>
              <a:t>説明①</a:t>
            </a:r>
            <a:endParaRPr lang="en-US" sz="105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D600"/>
                </a:solidFill>
              </a:rPr>
              <a:t>10分</a:t>
            </a:r>
            <a:endParaRPr lang="en-US" sz="1050" dirty="0"/>
          </a:p>
        </p:txBody>
      </p:sp>
      <p:sp>
        <p:nvSpPr>
          <p:cNvPr id="14" name="time-block"/>
          <p:cNvSpPr/>
          <p:nvPr/>
        </p:nvSpPr>
        <p:spPr>
          <a:xfrm>
            <a:off x="2336800" y="3383280"/>
            <a:ext cx="1788160" cy="685800"/>
          </a:xfrm>
          <a:prstGeom prst="rect">
            <a:avLst/>
          </a:prstGeom>
          <a:solidFill>
            <a:srgbClr val="DD642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ime-label"/>
          <p:cNvSpPr txBox="1"/>
          <p:nvPr/>
        </p:nvSpPr>
        <p:spPr>
          <a:xfrm>
            <a:off x="2336800" y="3383280"/>
            <a:ext cx="178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ハンズオン①</a:t>
            </a:r>
            <a:endParaRPr lang="en-US" sz="105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20分</a:t>
            </a:r>
            <a:endParaRPr lang="en-US" sz="1050" dirty="0"/>
          </a:p>
        </p:txBody>
      </p:sp>
      <p:sp>
        <p:nvSpPr>
          <p:cNvPr id="16" name="time-block"/>
          <p:cNvSpPr/>
          <p:nvPr/>
        </p:nvSpPr>
        <p:spPr>
          <a:xfrm>
            <a:off x="4124960" y="3383280"/>
            <a:ext cx="894080" cy="685800"/>
          </a:xfrm>
          <a:prstGeom prst="rect">
            <a:avLst/>
          </a:prstGeom>
          <a:solidFill>
            <a:srgbClr val="1A1A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ime-label"/>
          <p:cNvSpPr txBox="1"/>
          <p:nvPr/>
        </p:nvSpPr>
        <p:spPr>
          <a:xfrm>
            <a:off x="4124960" y="3383280"/>
            <a:ext cx="89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D600"/>
                </a:solidFill>
              </a:rPr>
              <a:t>説明②</a:t>
            </a:r>
            <a:endParaRPr lang="en-US" sz="105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D600"/>
                </a:solidFill>
              </a:rPr>
              <a:t>10分</a:t>
            </a:r>
            <a:endParaRPr lang="en-US" sz="1050" dirty="0"/>
          </a:p>
        </p:txBody>
      </p:sp>
      <p:sp>
        <p:nvSpPr>
          <p:cNvPr id="18" name="time-block"/>
          <p:cNvSpPr/>
          <p:nvPr/>
        </p:nvSpPr>
        <p:spPr>
          <a:xfrm>
            <a:off x="5019040" y="3383280"/>
            <a:ext cx="1788160" cy="685800"/>
          </a:xfrm>
          <a:prstGeom prst="rect">
            <a:avLst/>
          </a:prstGeom>
          <a:solidFill>
            <a:srgbClr val="DD642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ime-label"/>
          <p:cNvSpPr txBox="1"/>
          <p:nvPr/>
        </p:nvSpPr>
        <p:spPr>
          <a:xfrm>
            <a:off x="5019040" y="3383280"/>
            <a:ext cx="178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ハンズオン②</a:t>
            </a:r>
            <a:endParaRPr lang="en-US" sz="105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20分</a:t>
            </a:r>
            <a:endParaRPr lang="en-US" sz="1050" dirty="0"/>
          </a:p>
        </p:txBody>
      </p:sp>
      <p:sp>
        <p:nvSpPr>
          <p:cNvPr id="20" name="time-block"/>
          <p:cNvSpPr/>
          <p:nvPr/>
        </p:nvSpPr>
        <p:spPr>
          <a:xfrm>
            <a:off x="6807200" y="3383280"/>
            <a:ext cx="1341120" cy="685800"/>
          </a:xfrm>
          <a:prstGeom prst="rect">
            <a:avLst/>
          </a:prstGeom>
          <a:solidFill>
            <a:srgbClr val="1A1A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ime-label"/>
          <p:cNvSpPr txBox="1"/>
          <p:nvPr/>
        </p:nvSpPr>
        <p:spPr>
          <a:xfrm>
            <a:off x="6807200" y="3383280"/>
            <a:ext cx="134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D600"/>
                </a:solidFill>
              </a:rPr>
              <a:t>質問・共有</a:t>
            </a:r>
            <a:endParaRPr lang="en-US" sz="105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D600"/>
                </a:solidFill>
              </a:rPr>
              <a:t>15分</a:t>
            </a:r>
            <a:endParaRPr lang="en-US" sz="1050" dirty="0"/>
          </a:p>
        </p:txBody>
      </p:sp>
      <p:sp>
        <p:nvSpPr>
          <p:cNvPr id="22" name="time-block"/>
          <p:cNvSpPr/>
          <p:nvPr/>
        </p:nvSpPr>
        <p:spPr>
          <a:xfrm>
            <a:off x="8148320" y="3383280"/>
            <a:ext cx="447040" cy="685800"/>
          </a:xfrm>
          <a:prstGeom prst="rect">
            <a:avLst/>
          </a:prstGeom>
          <a:solidFill>
            <a:srgbClr val="1A1A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ime-label"/>
          <p:cNvSpPr txBox="1"/>
          <p:nvPr/>
        </p:nvSpPr>
        <p:spPr>
          <a:xfrm>
            <a:off x="8148320" y="3383280"/>
            <a:ext cx="44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D600"/>
                </a:solidFill>
              </a:rPr>
              <a:t>宿題</a:t>
            </a:r>
            <a:endParaRPr lang="en-US" sz="85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D600"/>
                </a:solidFill>
              </a:rPr>
              <a:t>5分</a:t>
            </a:r>
            <a:endParaRPr lang="en-US" sz="85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4160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■ </a:t>
            </a:r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聞く　</a:t>
            </a:r>
            <a:pPr indent="0" marL="0">
              <a:buNone/>
            </a:pPr>
            <a:r>
              <a:rPr lang="en-US" sz="1000" dirty="0">
                <a:solidFill>
                  <a:srgbClr val="DD6420"/>
                </a:solidFill>
              </a:rPr>
              <a:t>■ </a:t>
            </a:r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手を動かす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8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5836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入力の入口を1つにする</a:t>
            </a:r>
            <a:endParaRPr lang="en-US" sz="2400" dirty="0"/>
          </a:p>
        </p:txBody>
      </p:sp>
      <p:sp>
        <p:nvSpPr>
          <p:cNvPr id="3" name="chip"/>
          <p:cNvSpPr/>
          <p:nvPr/>
        </p:nvSpPr>
        <p:spPr>
          <a:xfrm>
            <a:off x="548640" y="292608"/>
            <a:ext cx="1344168" cy="292608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chip-text"/>
          <p:cNvSpPr txBox="1"/>
          <p:nvPr/>
        </p:nvSpPr>
        <p:spPr>
          <a:xfrm>
            <a:off x="548640" y="292608"/>
            <a:ext cx="1344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説明① 10分</a:t>
            </a:r>
            <a:endParaRPr lang="en-US" sz="1100" dirty="0"/>
          </a:p>
        </p:txBody>
      </p:sp>
      <p:sp>
        <p:nvSpPr>
          <p:cNvPr id="6" name="card"/>
          <p:cNvSpPr/>
          <p:nvPr/>
        </p:nvSpPr>
        <p:spPr>
          <a:xfrm>
            <a:off x="548640" y="1828800"/>
            <a:ext cx="1723644" cy="146304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1905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548640" y="1993392"/>
            <a:ext cx="17236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STEP 1</a:t>
            </a:r>
            <a:endParaRPr lang="en-US" sz="1000" dirty="0"/>
          </a:p>
        </p:txBody>
      </p:sp>
      <p:sp>
        <p:nvSpPr>
          <p:cNvPr id="8" name="flow-node"/>
          <p:cNvSpPr txBox="1"/>
          <p:nvPr/>
        </p:nvSpPr>
        <p:spPr>
          <a:xfrm>
            <a:off x="640080" y="2286000"/>
            <a:ext cx="15407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フォーム</a:t>
            </a:r>
            <a:endParaRPr lang="en-US" sz="1400" dirty="0"/>
          </a:p>
        </p:txBody>
      </p:sp>
      <p:pic>
        <p:nvPicPr>
          <p:cNvPr id="9" name="flow-arrow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45436" y="2441448"/>
            <a:ext cx="237744" cy="237744"/>
          </a:xfrm>
          <a:prstGeom prst="rect">
            <a:avLst/>
          </a:prstGeom>
        </p:spPr>
      </p:pic>
      <p:sp>
        <p:nvSpPr>
          <p:cNvPr id="10" name="card"/>
          <p:cNvSpPr/>
          <p:nvPr/>
        </p:nvSpPr>
        <p:spPr>
          <a:xfrm>
            <a:off x="2656332" y="1828800"/>
            <a:ext cx="1723644" cy="146304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1905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7"/>
          <p:cNvSpPr txBox="1"/>
          <p:nvPr/>
        </p:nvSpPr>
        <p:spPr>
          <a:xfrm>
            <a:off x="2656332" y="1993392"/>
            <a:ext cx="17236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STEP 2</a:t>
            </a:r>
            <a:endParaRPr lang="en-US" sz="1000" dirty="0"/>
          </a:p>
        </p:txBody>
      </p:sp>
      <p:sp>
        <p:nvSpPr>
          <p:cNvPr id="12" name="flow-node"/>
          <p:cNvSpPr txBox="1"/>
          <p:nvPr/>
        </p:nvSpPr>
        <p:spPr>
          <a:xfrm>
            <a:off x="2747772" y="2286000"/>
            <a:ext cx="15407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テーブル</a:t>
            </a:r>
            <a:endParaRPr lang="en-US" sz="1400" dirty="0"/>
          </a:p>
        </p:txBody>
      </p:sp>
      <p:pic>
        <p:nvPicPr>
          <p:cNvPr id="13" name="flow-arrow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3128" y="2441448"/>
            <a:ext cx="237744" cy="237744"/>
          </a:xfrm>
          <a:prstGeom prst="rect">
            <a:avLst/>
          </a:prstGeom>
        </p:spPr>
      </p:pic>
      <p:sp>
        <p:nvSpPr>
          <p:cNvPr id="14" name="card"/>
          <p:cNvSpPr/>
          <p:nvPr/>
        </p:nvSpPr>
        <p:spPr>
          <a:xfrm>
            <a:off x="4764024" y="1828800"/>
            <a:ext cx="1723644" cy="146304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1905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5" name="Text 10"/>
          <p:cNvSpPr txBox="1"/>
          <p:nvPr/>
        </p:nvSpPr>
        <p:spPr>
          <a:xfrm>
            <a:off x="4764024" y="1993392"/>
            <a:ext cx="17236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STEP 3</a:t>
            </a:r>
            <a:endParaRPr lang="en-US" sz="1000" dirty="0"/>
          </a:p>
        </p:txBody>
      </p:sp>
      <p:sp>
        <p:nvSpPr>
          <p:cNvPr id="16" name="flow-node"/>
          <p:cNvSpPr txBox="1"/>
          <p:nvPr/>
        </p:nvSpPr>
        <p:spPr>
          <a:xfrm>
            <a:off x="4855464" y="2286000"/>
            <a:ext cx="15407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ビュー</a:t>
            </a:r>
            <a:endParaRPr lang="en-US" sz="1400" dirty="0"/>
          </a:p>
        </p:txBody>
      </p:sp>
      <p:pic>
        <p:nvPicPr>
          <p:cNvPr id="17" name="flow-arrow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0820" y="2441448"/>
            <a:ext cx="237744" cy="237744"/>
          </a:xfrm>
          <a:prstGeom prst="rect">
            <a:avLst/>
          </a:prstGeom>
        </p:spPr>
      </p:pic>
      <p:sp>
        <p:nvSpPr>
          <p:cNvPr id="18" name="card"/>
          <p:cNvSpPr/>
          <p:nvPr/>
        </p:nvSpPr>
        <p:spPr>
          <a:xfrm>
            <a:off x="6871716" y="1828800"/>
            <a:ext cx="1723644" cy="1463040"/>
          </a:xfrm>
          <a:prstGeom prst="roundRect">
            <a:avLst>
              <a:gd name="adj" fmla="val 7500"/>
            </a:avLst>
          </a:prstGeom>
          <a:solidFill>
            <a:schemeClr val="accent1"/>
          </a:solidFill>
          <a:ln w="1905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3"/>
          <p:cNvSpPr txBox="1"/>
          <p:nvPr/>
        </p:nvSpPr>
        <p:spPr>
          <a:xfrm>
            <a:off x="6871716" y="1993392"/>
            <a:ext cx="17236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STEP 4</a:t>
            </a:r>
            <a:endParaRPr lang="en-US" sz="1000" dirty="0"/>
          </a:p>
        </p:txBody>
      </p:sp>
      <p:sp>
        <p:nvSpPr>
          <p:cNvPr id="20" name="flow-node"/>
          <p:cNvSpPr txBox="1"/>
          <p:nvPr/>
        </p:nvSpPr>
        <p:spPr>
          <a:xfrm>
            <a:off x="6963156" y="2286000"/>
            <a:ext cx="15407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ダッシュボード</a:t>
            </a:r>
            <a:endParaRPr lang="en-US" sz="1400" dirty="0"/>
          </a:p>
        </p:txBody>
      </p:sp>
      <p:sp>
        <p:nvSpPr>
          <p:cNvPr id="21" name="foot-box"/>
          <p:cNvSpPr/>
          <p:nvPr/>
        </p:nvSpPr>
        <p:spPr>
          <a:xfrm>
            <a:off x="548640" y="3794760"/>
            <a:ext cx="8046720" cy="502920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22" name="foot-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922776"/>
            <a:ext cx="246888" cy="246888"/>
          </a:xfrm>
          <a:prstGeom prst="rect">
            <a:avLst/>
          </a:prstGeom>
        </p:spPr>
      </p:pic>
      <p:sp>
        <p:nvSpPr>
          <p:cNvPr id="23" name="foot-text"/>
          <p:cNvSpPr txBox="1"/>
          <p:nvPr/>
        </p:nvSpPr>
        <p:spPr>
          <a:xfrm>
            <a:off x="1051560" y="3794760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入力ミスを防ぐ工夫：必須にする／選択肢にする／説明文を書く。共有範囲は必ず確認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8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5836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フォームを作る</a:t>
            </a:r>
            <a:endParaRPr lang="en-US" sz="2400" dirty="0"/>
          </a:p>
        </p:txBody>
      </p:sp>
      <p:sp>
        <p:nvSpPr>
          <p:cNvPr id="3" name="chip"/>
          <p:cNvSpPr/>
          <p:nvPr/>
        </p:nvSpPr>
        <p:spPr>
          <a:xfrm>
            <a:off x="548640" y="292608"/>
            <a:ext cx="1755648" cy="29260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chip-text"/>
          <p:cNvSpPr txBox="1"/>
          <p:nvPr/>
        </p:nvSpPr>
        <p:spPr>
          <a:xfrm>
            <a:off x="548640" y="292608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ハンズオン① 20分</a:t>
            </a:r>
            <a:endParaRPr lang="en-US" sz="1100" dirty="0"/>
          </a:p>
        </p:txBody>
      </p:sp>
      <p:sp>
        <p:nvSpPr>
          <p:cNvPr id="6" name="step-num"/>
          <p:cNvSpPr/>
          <p:nvPr/>
        </p:nvSpPr>
        <p:spPr>
          <a:xfrm>
            <a:off x="548640" y="1805940"/>
            <a:ext cx="384048" cy="384048"/>
          </a:xfrm>
          <a:prstGeom prst="ellipse">
            <a:avLst/>
          </a:prstGeom>
          <a:solidFill>
            <a:schemeClr val="accent1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7" name="step-num-text"/>
          <p:cNvSpPr txBox="1"/>
          <p:nvPr/>
        </p:nvSpPr>
        <p:spPr>
          <a:xfrm>
            <a:off x="548640" y="18059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step-text"/>
          <p:cNvSpPr txBox="1"/>
          <p:nvPr/>
        </p:nvSpPr>
        <p:spPr>
          <a:xfrm>
            <a:off x="1097280" y="1696212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主テーブルでフォームビューを追加する</a:t>
            </a:r>
            <a:endParaRPr lang="en-US" sz="1450" dirty="0"/>
          </a:p>
        </p:txBody>
      </p:sp>
      <p:sp>
        <p:nvSpPr>
          <p:cNvPr id="9" name="step-num"/>
          <p:cNvSpPr/>
          <p:nvPr/>
        </p:nvSpPr>
        <p:spPr>
          <a:xfrm>
            <a:off x="548640" y="2409444"/>
            <a:ext cx="384048" cy="384048"/>
          </a:xfrm>
          <a:prstGeom prst="ellipse">
            <a:avLst/>
          </a:prstGeom>
          <a:solidFill>
            <a:schemeClr val="accent1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0" name="step-num-text"/>
          <p:cNvSpPr txBox="1"/>
          <p:nvPr/>
        </p:nvSpPr>
        <p:spPr>
          <a:xfrm>
            <a:off x="548640" y="24094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step-text"/>
          <p:cNvSpPr txBox="1"/>
          <p:nvPr/>
        </p:nvSpPr>
        <p:spPr>
          <a:xfrm>
            <a:off x="1097280" y="2299716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入力してほしい項目だけを表示し、順番を入れ替える</a:t>
            </a:r>
            <a:endParaRPr lang="en-US" sz="1450" dirty="0"/>
          </a:p>
        </p:txBody>
      </p:sp>
      <p:sp>
        <p:nvSpPr>
          <p:cNvPr id="12" name="step-num"/>
          <p:cNvSpPr/>
          <p:nvPr/>
        </p:nvSpPr>
        <p:spPr>
          <a:xfrm>
            <a:off x="548640" y="3012948"/>
            <a:ext cx="384048" cy="384048"/>
          </a:xfrm>
          <a:prstGeom prst="ellipse">
            <a:avLst/>
          </a:prstGeom>
          <a:solidFill>
            <a:schemeClr val="accent1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3" name="step-num-text"/>
          <p:cNvSpPr txBox="1"/>
          <p:nvPr/>
        </p:nvSpPr>
        <p:spPr>
          <a:xfrm>
            <a:off x="548640" y="30129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step-text"/>
          <p:cNvSpPr txBox="1"/>
          <p:nvPr/>
        </p:nvSpPr>
        <p:spPr>
          <a:xfrm>
            <a:off x="1097280" y="2903220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必須項目と説明文を設定する</a:t>
            </a:r>
            <a:endParaRPr lang="en-US" sz="1450" dirty="0"/>
          </a:p>
        </p:txBody>
      </p:sp>
      <p:sp>
        <p:nvSpPr>
          <p:cNvPr id="15" name="step-num"/>
          <p:cNvSpPr/>
          <p:nvPr/>
        </p:nvSpPr>
        <p:spPr>
          <a:xfrm>
            <a:off x="548640" y="3616452"/>
            <a:ext cx="384048" cy="384048"/>
          </a:xfrm>
          <a:prstGeom prst="ellipse">
            <a:avLst/>
          </a:prstGeom>
          <a:solidFill>
            <a:schemeClr val="accent1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6" name="step-num-text"/>
          <p:cNvSpPr txBox="1"/>
          <p:nvPr/>
        </p:nvSpPr>
        <p:spPr>
          <a:xfrm>
            <a:off x="548640" y="36164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4</a:t>
            </a:r>
            <a:endParaRPr lang="en-US" sz="1400" dirty="0"/>
          </a:p>
        </p:txBody>
      </p:sp>
      <p:sp>
        <p:nvSpPr>
          <p:cNvPr id="17" name="step-text"/>
          <p:cNvSpPr txBox="1"/>
          <p:nvPr/>
        </p:nvSpPr>
        <p:spPr>
          <a:xfrm>
            <a:off x="1097280" y="350672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スマホで開いて3件入力し、テーブルに入るか確かめる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8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5836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見え方を変えるビュー</a:t>
            </a:r>
            <a:endParaRPr lang="en-US" sz="2400" dirty="0"/>
          </a:p>
        </p:txBody>
      </p:sp>
      <p:sp>
        <p:nvSpPr>
          <p:cNvPr id="3" name="chip"/>
          <p:cNvSpPr/>
          <p:nvPr/>
        </p:nvSpPr>
        <p:spPr>
          <a:xfrm>
            <a:off x="548640" y="292608"/>
            <a:ext cx="1344168" cy="292608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chip-text"/>
          <p:cNvSpPr txBox="1"/>
          <p:nvPr/>
        </p:nvSpPr>
        <p:spPr>
          <a:xfrm>
            <a:off x="548640" y="292608"/>
            <a:ext cx="1344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説明② 10分</a:t>
            </a:r>
            <a:endParaRPr lang="en-US" sz="1100" dirty="0"/>
          </a:p>
        </p:txBody>
      </p:sp>
      <p:graphicFrame>
        <p:nvGraphicFramePr>
          <p:cNvPr id="6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8046720" cy="914400"/>
        </p:xfrm>
        <a:graphic>
          <a:graphicData uri="http://schemas.openxmlformats.org/drawingml/2006/table">
            <a:tbl>
              <a:tblPr/>
              <a:tblGrid>
                <a:gridCol w="2145792"/>
                <a:gridCol w="5900928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D600"/>
                          </a:solidFill>
                        </a:rPr>
                        <a:t>ビュー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D600"/>
                          </a:solidFill>
                        </a:rPr>
                        <a:t>向いている使い方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表（グリッド）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全体の一覧、編集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かんばん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ステータスごとの進み具合（受付→確定→来店済）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カレンダー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日付で見る（予約・締切）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ギャラリー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写真付きのカード（商品・物件）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ガント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期間のある作業・工程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foot-box"/>
          <p:cNvSpPr/>
          <p:nvPr/>
        </p:nvSpPr>
        <p:spPr>
          <a:xfrm>
            <a:off x="548640" y="4114800"/>
            <a:ext cx="8046720" cy="502920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8" name="foot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4242816"/>
            <a:ext cx="246888" cy="246888"/>
          </a:xfrm>
          <a:prstGeom prst="rect">
            <a:avLst/>
          </a:prstGeom>
        </p:spPr>
      </p:pic>
      <p:sp>
        <p:nvSpPr>
          <p:cNvPr id="9" name="foot-text"/>
          <p:cNvSpPr txBox="1"/>
          <p:nvPr/>
        </p:nvSpPr>
        <p:spPr>
          <a:xfrm>
            <a:off x="1051560" y="4114800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ビューごとに絞り込み・並べ替え・グループ化を保存できる。「本日の予約」「自分の担当分」など使う人ごとに作る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8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5836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ビューとダッシュボード</a:t>
            </a:r>
            <a:endParaRPr lang="en-US" sz="2400" dirty="0"/>
          </a:p>
        </p:txBody>
      </p:sp>
      <p:sp>
        <p:nvSpPr>
          <p:cNvPr id="3" name="chip"/>
          <p:cNvSpPr/>
          <p:nvPr/>
        </p:nvSpPr>
        <p:spPr>
          <a:xfrm>
            <a:off x="548640" y="292608"/>
            <a:ext cx="1755648" cy="29260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chip-text"/>
          <p:cNvSpPr txBox="1"/>
          <p:nvPr/>
        </p:nvSpPr>
        <p:spPr>
          <a:xfrm>
            <a:off x="548640" y="292608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ハンズオン② 20分</a:t>
            </a:r>
            <a:endParaRPr lang="en-US" sz="1100" dirty="0"/>
          </a:p>
        </p:txBody>
      </p:sp>
      <p:sp>
        <p:nvSpPr>
          <p:cNvPr id="5" name="step-num"/>
          <p:cNvSpPr/>
          <p:nvPr/>
        </p:nvSpPr>
        <p:spPr>
          <a:xfrm>
            <a:off x="548640" y="1572768"/>
            <a:ext cx="384048" cy="384048"/>
          </a:xfrm>
          <a:prstGeom prst="ellipse">
            <a:avLst/>
          </a:prstGeom>
          <a:solidFill>
            <a:schemeClr val="accent1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6" name="step-num-text"/>
          <p:cNvSpPr txBox="1"/>
          <p:nvPr/>
        </p:nvSpPr>
        <p:spPr>
          <a:xfrm>
            <a:off x="548640" y="1572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step-text"/>
          <p:cNvSpPr txBox="1"/>
          <p:nvPr/>
        </p:nvSpPr>
        <p:spPr>
          <a:xfrm>
            <a:off x="1097280" y="1463040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かんばんビューを作り、ステータスでグループ化する</a:t>
            </a:r>
            <a:endParaRPr lang="en-US" sz="1450" dirty="0"/>
          </a:p>
        </p:txBody>
      </p:sp>
      <p:sp>
        <p:nvSpPr>
          <p:cNvPr id="8" name="step-num"/>
          <p:cNvSpPr/>
          <p:nvPr/>
        </p:nvSpPr>
        <p:spPr>
          <a:xfrm>
            <a:off x="548640" y="2176272"/>
            <a:ext cx="384048" cy="384048"/>
          </a:xfrm>
          <a:prstGeom prst="ellipse">
            <a:avLst/>
          </a:prstGeom>
          <a:solidFill>
            <a:schemeClr val="accent1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9" name="step-num-text"/>
          <p:cNvSpPr txBox="1"/>
          <p:nvPr/>
        </p:nvSpPr>
        <p:spPr>
          <a:xfrm>
            <a:off x="548640" y="21762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step-text"/>
          <p:cNvSpPr txBox="1"/>
          <p:nvPr/>
        </p:nvSpPr>
        <p:spPr>
          <a:xfrm>
            <a:off x="1097280" y="206654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「本日の予約」「今週の予約」など絞り込み済みビューを2つ作る</a:t>
            </a:r>
            <a:endParaRPr lang="en-US" sz="1450" dirty="0"/>
          </a:p>
        </p:txBody>
      </p:sp>
      <p:sp>
        <p:nvSpPr>
          <p:cNvPr id="11" name="step-num"/>
          <p:cNvSpPr/>
          <p:nvPr/>
        </p:nvSpPr>
        <p:spPr>
          <a:xfrm>
            <a:off x="548640" y="2779776"/>
            <a:ext cx="384048" cy="384048"/>
          </a:xfrm>
          <a:prstGeom prst="ellipse">
            <a:avLst/>
          </a:prstGeom>
          <a:solidFill>
            <a:schemeClr val="accent1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2" name="step-num-text"/>
          <p:cNvSpPr txBox="1"/>
          <p:nvPr/>
        </p:nvSpPr>
        <p:spPr>
          <a:xfrm>
            <a:off x="548640" y="27797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step-text"/>
          <p:cNvSpPr txBox="1"/>
          <p:nvPr/>
        </p:nvSpPr>
        <p:spPr>
          <a:xfrm>
            <a:off x="1097280" y="2670048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ダッシュボードに「今月の件数」「ステータス別」「受付経路別」を置く</a:t>
            </a:r>
            <a:endParaRPr lang="en-US" sz="1450" dirty="0"/>
          </a:p>
        </p:txBody>
      </p:sp>
      <p:sp>
        <p:nvSpPr>
          <p:cNvPr id="14" name="step-num"/>
          <p:cNvSpPr/>
          <p:nvPr/>
        </p:nvSpPr>
        <p:spPr>
          <a:xfrm>
            <a:off x="548640" y="3383280"/>
            <a:ext cx="384048" cy="384048"/>
          </a:xfrm>
          <a:prstGeom prst="ellipse">
            <a:avLst/>
          </a:prstGeom>
          <a:solidFill>
            <a:schemeClr val="accent1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5" name="step-num-text"/>
          <p:cNvSpPr txBox="1"/>
          <p:nvPr/>
        </p:nvSpPr>
        <p:spPr>
          <a:xfrm>
            <a:off x="548640" y="3383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4</a:t>
            </a:r>
            <a:endParaRPr lang="en-US" sz="1400" dirty="0"/>
          </a:p>
        </p:txBody>
      </p:sp>
      <p:sp>
        <p:nvSpPr>
          <p:cNvPr id="16" name="step-text"/>
          <p:cNvSpPr txBox="1"/>
          <p:nvPr/>
        </p:nvSpPr>
        <p:spPr>
          <a:xfrm>
            <a:off x="1097280" y="3273552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使い方をWiki「03 操作マニュアル」に1ページ1操作で書く</a:t>
            </a:r>
            <a:endParaRPr lang="en-US" sz="1450" dirty="0"/>
          </a:p>
        </p:txBody>
      </p:sp>
      <p:sp>
        <p:nvSpPr>
          <p:cNvPr id="17" name="foot-box"/>
          <p:cNvSpPr/>
          <p:nvPr/>
        </p:nvSpPr>
        <p:spPr>
          <a:xfrm>
            <a:off x="548640" y="3977640"/>
            <a:ext cx="8046720" cy="502920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8" name="foot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4105656"/>
            <a:ext cx="246888" cy="246888"/>
          </a:xfrm>
          <a:prstGeom prst="rect">
            <a:avLst/>
          </a:prstGeom>
        </p:spPr>
      </p:pic>
      <p:sp>
        <p:nvSpPr>
          <p:cNvPr id="19" name="foot-text"/>
          <p:cNvSpPr txBox="1"/>
          <p:nvPr/>
        </p:nvSpPr>
        <p:spPr>
          <a:xfrm>
            <a:off x="1051560" y="3977640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マニュアルはAIに下書きさせてよい（プロンプト集 P-04）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8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5836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宿題と、今日のチェック</a:t>
            </a:r>
            <a:endParaRPr lang="en-US" sz="2400" dirty="0"/>
          </a:p>
        </p:txBody>
      </p:sp>
      <p:sp>
        <p:nvSpPr>
          <p:cNvPr id="3" name="chip"/>
          <p:cNvSpPr/>
          <p:nvPr/>
        </p:nvSpPr>
        <p:spPr>
          <a:xfrm>
            <a:off x="548640" y="292608"/>
            <a:ext cx="795528" cy="292608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chip-text"/>
          <p:cNvSpPr txBox="1"/>
          <p:nvPr/>
        </p:nvSpPr>
        <p:spPr>
          <a:xfrm>
            <a:off x="548640" y="292608"/>
            <a:ext cx="795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まとめ</a:t>
            </a:r>
            <a:endParaRPr lang="en-US" sz="1100" dirty="0"/>
          </a:p>
        </p:txBody>
      </p:sp>
      <p:sp>
        <p:nvSpPr>
          <p:cNvPr id="5" name="card"/>
          <p:cNvSpPr/>
          <p:nvPr/>
        </p:nvSpPr>
        <p:spPr>
          <a:xfrm>
            <a:off x="548640" y="1463040"/>
            <a:ext cx="3886200" cy="301752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905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6" name="icon-circle"/>
          <p:cNvSpPr/>
          <p:nvPr/>
        </p:nvSpPr>
        <p:spPr>
          <a:xfrm>
            <a:off x="777240" y="1645920"/>
            <a:ext cx="457200" cy="457200"/>
          </a:xfrm>
          <a:prstGeom prst="ellipse">
            <a:avLst/>
          </a:prstGeom>
          <a:solidFill>
            <a:schemeClr val="accent1"/>
          </a:solidFill>
          <a:ln w="15875">
            <a:solidFill>
              <a:srgbClr val="1A1A1A"/>
            </a:solidFill>
            <a:prstDash val="solid"/>
          </a:ln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1764792"/>
            <a:ext cx="219456" cy="21945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371600" y="1645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宿題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286000"/>
            <a:ext cx="34747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社内の誰か1人にフォームを使ってもらい、わかりにくかった点を聞いて直す</a:t>
            </a:r>
            <a:endParaRPr lang="en-US" sz="1350" dirty="0"/>
          </a:p>
        </p:txBody>
      </p:sp>
      <p:sp>
        <p:nvSpPr>
          <p:cNvPr id="10" name="card"/>
          <p:cNvSpPr/>
          <p:nvPr/>
        </p:nvSpPr>
        <p:spPr>
          <a:xfrm>
            <a:off x="4709160" y="1463040"/>
            <a:ext cx="3886200" cy="3017520"/>
          </a:xfrm>
          <a:prstGeom prst="roundRect">
            <a:avLst>
              <a:gd name="adj" fmla="val 3636"/>
            </a:avLst>
          </a:prstGeom>
          <a:solidFill>
            <a:schemeClr val="bg1"/>
          </a:solidFill>
          <a:ln w="1905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icon-circle"/>
          <p:cNvSpPr/>
          <p:nvPr/>
        </p:nvSpPr>
        <p:spPr>
          <a:xfrm>
            <a:off x="4937760" y="1645920"/>
            <a:ext cx="457200" cy="457200"/>
          </a:xfrm>
          <a:prstGeom prst="ellipse">
            <a:avLst/>
          </a:prstGeom>
          <a:solidFill>
            <a:schemeClr val="accent1"/>
          </a:solidFill>
          <a:ln w="15875">
            <a:solidFill>
              <a:srgbClr val="1A1A1A"/>
            </a:solidFill>
            <a:prstDash val="solid"/>
          </a:ln>
        </p:spPr>
      </p:sp>
      <p:pic>
        <p:nvPicPr>
          <p:cNvPr id="12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6632" y="1764792"/>
            <a:ext cx="219456" cy="21945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532120" y="1645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できたらチェック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4937760" y="2286000"/>
            <a:ext cx="34747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chemeClr val="tx1"/>
                </a:solidFill>
              </a:rPr>
              <a:t>☐ フォームから入力したデータがテーブルに入った</a:t>
            </a:r>
            <a:endParaRPr lang="en-US" sz="13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chemeClr val="tx1"/>
                </a:solidFill>
              </a:rPr>
              <a:t>☐ 目的別のビューが2つ以上ある</a:t>
            </a:r>
            <a:endParaRPr lang="en-US" sz="13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chemeClr val="tx1"/>
                </a:solidFill>
              </a:rPr>
              <a:t>☐ ダッシュボードで今月の件数が見られる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8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6304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次回：第6回 自動化・通知・承認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60604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わからないところは、講座グループでいつでも質問してください。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APIキーやパスワードは送らないでください。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naberu">
  <a:themeElements>
    <a:clrScheme name="Manaberu">
      <a:dk1>
        <a:srgbClr val="1A1A1A"/>
      </a:dk1>
      <a:lt1>
        <a:srgbClr val="FFFFFF"/>
      </a:lt1>
      <a:dk2>
        <a:srgbClr val="5A6872"/>
      </a:dk2>
      <a:lt2>
        <a:srgbClr val="FFF6CC"/>
      </a:lt2>
      <a:accent1>
        <a:srgbClr val="FFD600"/>
      </a:accent1>
      <a:accent2>
        <a:srgbClr val="DD6420"/>
      </a:accent2>
      <a:accent3>
        <a:srgbClr val="3370FF"/>
      </a:accent3>
      <a:accent4>
        <a:srgbClr val="06C755"/>
      </a:accent4>
      <a:accent5>
        <a:srgbClr val="E53935"/>
      </a:accent5>
      <a:accent6>
        <a:srgbClr val="F5A623"/>
      </a:accent6>
      <a:hlink>
        <a:srgbClr val="3370FF"/>
      </a:hlink>
      <a:folHlink>
        <a:srgbClr val="6B4FBB"/>
      </a:folHlink>
    </a:clrScheme>
    <a:fontScheme name="Manaberu">
      <a:majorFont>
        <a:latin typeface="Yu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Yu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ささエール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マナベル 第5回 フォーム・ビュー・ダッシュボード</dc:title>
  <dc:subject>PptxGenJS Presentation</dc:subject>
  <dc:creator>ささエール（Office Plata）</dc:creator>
  <cp:lastModifiedBy>ささエール（Office Plata）</cp:lastModifiedBy>
  <cp:revision>1</cp:revision>
  <dcterms:created xsi:type="dcterms:W3CDTF">2026-10-02T10:43:47Z</dcterms:created>
  <dcterms:modified xsi:type="dcterms:W3CDTF">2026-10-02T10:43:47Z</dcterms:modified>
</cp:coreProperties>
</file>