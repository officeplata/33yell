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668d1d84-3e0d-b26b-0793-e6e131a10771}">
          <p14:sldIdLst>
            <p14:sldId id="256"/>
            <p14:sldId id="257"/>
          </p14:sldIdLst>
        </p14:section>
        <p14:section name="本編" id="{d6d44121-db1c-85f5-51bb-89d1e1caaa71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まとめ" id="{807fabfd-cd8a-32e1-370b-1e494bb840c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第1回「オリエンテーション／作りたいものを言葉にする」。前回の宿題の提出状況を確認してから始める。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ゴールを読み上げ、今日は「聞く」と「手を動かす」を交互に進めることを伝える。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最初に「ツールを覚える講座ではない」ことを伝える。修了時に自社で使うしくみが残ることを強調。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ささエールの実績の型（店舗の予約管理、社内ポータル、顧客管理）を口頭で1〜2例紹介する。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手が止まっている人には「昨日やったことを順番に」と声をかける。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受講者の棚卸しから1つ例を取り上げ、どの型か一緒に考える。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大きすぎる題材は「最初に公開する範囲」と「修了後に足す範囲」に分けさせる。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個人情報は入れないことを一言添える。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宿題の目安時間を伝える。質問は講座グループへ（24時間以内に返信・土日祝を除く）。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次回までの宿題をもう一度確認して終了。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TITLE">
    <p:bg>
      <p:bgPr>
        <a:solidFill>
          <a:srgbClr val="FFD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マナベル｜AI×Lark 構築者育成講座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67665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ささエール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マナベル　第1回　オリエンテーション／作りたいものを言葉にする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マナベル｜AI×Lark 構築者育成講座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sson-badge"/>
          <p:cNvSpPr/>
          <p:nvPr/>
        </p:nvSpPr>
        <p:spPr>
          <a:xfrm>
            <a:off x="548640" y="822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第1回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オリエンテーション／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作りたいものを言葉にする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フェーズ1 土台をつくる　｜　第1週</a:t>
            </a:r>
            <a:endParaRPr lang="en-US" sz="1400" dirty="0"/>
          </a:p>
        </p:txBody>
      </p:sp>
      <p:sp>
        <p:nvSpPr>
          <p:cNvPr id="6" name="title-circle"/>
          <p:cNvSpPr/>
          <p:nvPr/>
        </p:nvSpPr>
        <p:spPr>
          <a:xfrm>
            <a:off x="6537960" y="1188720"/>
            <a:ext cx="2103120" cy="2103120"/>
          </a:xfrm>
          <a:prstGeom prst="ellipse">
            <a:avLst/>
          </a:prstGeom>
          <a:solidFill>
            <a:schemeClr val="bg1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今日のゴールと流れ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93268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はじめに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39090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707185"/>
            <a:ext cx="197510" cy="197510"/>
          </a:xfrm>
          <a:prstGeom prst="rect">
            <a:avLst/>
          </a:prstGeom>
        </p:spPr>
      </p:pic>
      <p:sp>
        <p:nvSpPr>
          <p:cNvPr id="8" name="goal"/>
          <p:cNvSpPr txBox="1"/>
          <p:nvPr/>
        </p:nvSpPr>
        <p:spPr>
          <a:xfrm>
            <a:off x="1280160" y="1508760"/>
            <a:ext cx="29946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「構築者」とは何か、8週間後にどこまで作れるかがわかる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86300" y="1417320"/>
            <a:ext cx="39090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869180" y="1600200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165" y="1707185"/>
            <a:ext cx="197510" cy="197510"/>
          </a:xfrm>
          <a:prstGeom prst="rect">
            <a:avLst/>
          </a:prstGeom>
        </p:spPr>
      </p:pic>
      <p:sp>
        <p:nvSpPr>
          <p:cNvPr id="12" name="goal"/>
          <p:cNvSpPr txBox="1"/>
          <p:nvPr/>
        </p:nvSpPr>
        <p:spPr>
          <a:xfrm>
            <a:off x="5417820" y="1508760"/>
            <a:ext cx="29946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自分の業務から「作りたいもの」を1つに絞れている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今日の流れ（90分）</a:t>
            </a:r>
            <a:endParaRPr lang="en-US" sz="1300" dirty="0"/>
          </a:p>
        </p:txBody>
      </p:sp>
      <p:sp>
        <p:nvSpPr>
          <p:cNvPr id="14" name="time-block"/>
          <p:cNvSpPr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ime-label"/>
          <p:cNvSpPr txBox="1"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自己紹介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6" name="time-block"/>
          <p:cNvSpPr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ime-label"/>
          <p:cNvSpPr txBox="1"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8" name="time-block"/>
          <p:cNvSpPr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me-label"/>
          <p:cNvSpPr txBox="1"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20" name="time-block"/>
          <p:cNvSpPr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ime-label"/>
          <p:cNvSpPr txBox="1"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22" name="time-block"/>
          <p:cNvSpPr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ime-label"/>
          <p:cNvSpPr txBox="1"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24" name="time-block"/>
          <p:cNvSpPr/>
          <p:nvPr/>
        </p:nvSpPr>
        <p:spPr>
          <a:xfrm>
            <a:off x="6807200" y="3383280"/>
            <a:ext cx="178816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ime-label"/>
          <p:cNvSpPr txBox="1"/>
          <p:nvPr/>
        </p:nvSpPr>
        <p:spPr>
          <a:xfrm>
            <a:off x="680720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共有・宿題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20分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聞く　</a:t>
            </a:r>
            <a:pPr indent="0" marL="0">
              <a:buNone/>
            </a:pPr>
            <a:r>
              <a:rPr lang="en-US" sz="1000" dirty="0">
                <a:solidFill>
                  <a:srgbClr val="DD6420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手を動かす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この講座のゴールは「構築者」になること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説明① 10分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508760"/>
            <a:ext cx="8046720" cy="192024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icon-circle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chemeClr val="bg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25726"/>
            <a:ext cx="263347" cy="263347"/>
          </a:xfrm>
          <a:prstGeom prst="rect">
            <a:avLst/>
          </a:prstGeom>
        </p:spPr>
      </p:pic>
      <p:sp>
        <p:nvSpPr>
          <p:cNvPr id="9" name="big-text"/>
          <p:cNvSpPr txBox="1"/>
          <p:nvPr/>
        </p:nvSpPr>
        <p:spPr>
          <a:xfrm>
            <a:off x="1600200" y="16002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構築者＝現場の困りごとを聞き取り、しくみを設計し、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LarkとAIで作り、公開し、直し続けられる人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8週間後、自社で実際に使うしくみを1つ公開して発表します。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3つの道具の役割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説明① 10分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25298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icon-circ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76679"/>
            <a:ext cx="241402" cy="241402"/>
          </a:xfrm>
          <a:prstGeom prst="rect">
            <a:avLst/>
          </a:prstGeom>
        </p:spPr>
      </p:pic>
      <p:sp>
        <p:nvSpPr>
          <p:cNvPr id="9" name="card-head"/>
          <p:cNvSpPr txBox="1"/>
          <p:nvPr/>
        </p:nvSpPr>
        <p:spPr>
          <a:xfrm>
            <a:off x="731520" y="22860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Lark</a:t>
            </a:r>
            <a:endParaRPr lang="en-US" sz="1500" dirty="0"/>
          </a:p>
        </p:txBody>
      </p:sp>
      <p:sp>
        <p:nvSpPr>
          <p:cNvPr id="10" name="card-body"/>
          <p:cNvSpPr txBox="1"/>
          <p:nvPr/>
        </p:nvSpPr>
        <p:spPr>
          <a:xfrm>
            <a:off x="731520" y="2697480"/>
            <a:ext cx="216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社内の整理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台帳・通知・Wiki・承認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3307080" y="1463040"/>
            <a:ext cx="25298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icon-circle"/>
          <p:cNvSpPr/>
          <p:nvPr/>
        </p:nvSpPr>
        <p:spPr>
          <a:xfrm>
            <a:off x="3489960" y="1645920"/>
            <a:ext cx="502920" cy="5029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719" y="1776679"/>
            <a:ext cx="241402" cy="241402"/>
          </a:xfrm>
          <a:prstGeom prst="rect">
            <a:avLst/>
          </a:prstGeom>
        </p:spPr>
      </p:pic>
      <p:sp>
        <p:nvSpPr>
          <p:cNvPr id="14" name="card-head"/>
          <p:cNvSpPr txBox="1"/>
          <p:nvPr/>
        </p:nvSpPr>
        <p:spPr>
          <a:xfrm>
            <a:off x="3489960" y="22860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</a:t>
            </a:r>
            <a:endParaRPr lang="en-US" sz="1500" dirty="0"/>
          </a:p>
        </p:txBody>
      </p:sp>
      <p:sp>
        <p:nvSpPr>
          <p:cNvPr id="15" name="card-body"/>
          <p:cNvSpPr txBox="1"/>
          <p:nvPr/>
        </p:nvSpPr>
        <p:spPr>
          <a:xfrm>
            <a:off x="3489960" y="2697480"/>
            <a:ext cx="216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作る・考える相棒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文章・要件・コードを書く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6065520" y="1463040"/>
            <a:ext cx="25298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icon-circle"/>
          <p:cNvSpPr/>
          <p:nvPr/>
        </p:nvSpPr>
        <p:spPr>
          <a:xfrm>
            <a:off x="6248400" y="1645920"/>
            <a:ext cx="502920" cy="5029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159" y="1776679"/>
            <a:ext cx="241402" cy="241402"/>
          </a:xfrm>
          <a:prstGeom prst="rect">
            <a:avLst/>
          </a:prstGeom>
        </p:spPr>
      </p:pic>
      <p:sp>
        <p:nvSpPr>
          <p:cNvPr id="19" name="card-head"/>
          <p:cNvSpPr txBox="1"/>
          <p:nvPr/>
        </p:nvSpPr>
        <p:spPr>
          <a:xfrm>
            <a:off x="6248400" y="22860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LINE</a:t>
            </a:r>
            <a:endParaRPr lang="en-US" sz="1500" dirty="0"/>
          </a:p>
        </p:txBody>
      </p:sp>
      <p:sp>
        <p:nvSpPr>
          <p:cNvPr id="20" name="card-body"/>
          <p:cNvSpPr txBox="1"/>
          <p:nvPr/>
        </p:nvSpPr>
        <p:spPr>
          <a:xfrm>
            <a:off x="6248400" y="2697480"/>
            <a:ext cx="216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お客様との接点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予約・問い合わせの入口</a:t>
            </a:r>
            <a:endParaRPr lang="en-US" sz="1300" dirty="0"/>
          </a:p>
        </p:txBody>
      </p:sp>
      <p:sp>
        <p:nvSpPr>
          <p:cNvPr id="21" name="foot-box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foot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42816"/>
            <a:ext cx="246888" cy="246888"/>
          </a:xfrm>
          <a:prstGeom prst="rect">
            <a:avLst/>
          </a:prstGeom>
        </p:spPr>
      </p:pic>
      <p:sp>
        <p:nvSpPr>
          <p:cNvPr id="23" name="foot-text"/>
          <p:cNvSpPr txBox="1"/>
          <p:nvPr/>
        </p:nvSpPr>
        <p:spPr>
          <a:xfrm>
            <a:off x="1051560" y="4114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進め方：まずコードを書かずにLarkで作る → 足りない部分だけAIにコードを書かせる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業務の棚卸し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ハンズオン① 20分</a:t>
            </a:r>
            <a:endParaRPr lang="en-US" sz="1100" dirty="0"/>
          </a:p>
        </p:txBody>
      </p:sp>
      <p:sp>
        <p:nvSpPr>
          <p:cNvPr id="6" name="step-num"/>
          <p:cNvSpPr/>
          <p:nvPr/>
        </p:nvSpPr>
        <p:spPr>
          <a:xfrm>
            <a:off x="548640" y="178765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step-num-text"/>
          <p:cNvSpPr txBox="1"/>
          <p:nvPr/>
        </p:nvSpPr>
        <p:spPr>
          <a:xfrm>
            <a:off x="548640" y="17876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tep-text"/>
          <p:cNvSpPr txBox="1"/>
          <p:nvPr/>
        </p:nvSpPr>
        <p:spPr>
          <a:xfrm>
            <a:off x="1097280" y="167792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1週間の仕事を思い出し、くり返している作業を10個書き出す</a:t>
            </a:r>
            <a:endParaRPr lang="en-US" sz="1450" dirty="0"/>
          </a:p>
        </p:txBody>
      </p:sp>
      <p:sp>
        <p:nvSpPr>
          <p:cNvPr id="9" name="step-num"/>
          <p:cNvSpPr/>
          <p:nvPr/>
        </p:nvSpPr>
        <p:spPr>
          <a:xfrm>
            <a:off x="548640" y="2391156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step-num-text"/>
          <p:cNvSpPr txBox="1"/>
          <p:nvPr/>
        </p:nvSpPr>
        <p:spPr>
          <a:xfrm>
            <a:off x="548640" y="2391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-text"/>
          <p:cNvSpPr txBox="1"/>
          <p:nvPr/>
        </p:nvSpPr>
        <p:spPr>
          <a:xfrm>
            <a:off x="1097280" y="228142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それぞれに「誰が」「頻度」「何を使って（紙・Excel・電話・LINE）」を書く</a:t>
            </a:r>
            <a:endParaRPr lang="en-US" sz="1450" dirty="0"/>
          </a:p>
        </p:txBody>
      </p:sp>
      <p:sp>
        <p:nvSpPr>
          <p:cNvPr id="12" name="step-num"/>
          <p:cNvSpPr/>
          <p:nvPr/>
        </p:nvSpPr>
        <p:spPr>
          <a:xfrm>
            <a:off x="548640" y="299466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step-num-text"/>
          <p:cNvSpPr txBox="1"/>
          <p:nvPr/>
        </p:nvSpPr>
        <p:spPr>
          <a:xfrm>
            <a:off x="548640" y="2994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-text"/>
          <p:cNvSpPr txBox="1"/>
          <p:nvPr/>
        </p:nvSpPr>
        <p:spPr>
          <a:xfrm>
            <a:off x="1097280" y="288493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「面倒」「ミスが起きる」「人に聞かないとわからない」に印を付ける</a:t>
            </a:r>
            <a:endParaRPr lang="en-US" sz="1450" dirty="0"/>
          </a:p>
        </p:txBody>
      </p:sp>
      <p:sp>
        <p:nvSpPr>
          <p:cNvPr id="15" name="foot-box"/>
          <p:cNvSpPr/>
          <p:nvPr/>
        </p:nvSpPr>
        <p:spPr>
          <a:xfrm>
            <a:off x="548640" y="397764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foo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05656"/>
            <a:ext cx="246888" cy="246888"/>
          </a:xfrm>
          <a:prstGeom prst="rect">
            <a:avLst/>
          </a:prstGeom>
        </p:spPr>
      </p:pic>
      <p:sp>
        <p:nvSpPr>
          <p:cNvPr id="17" name="foot-text"/>
          <p:cNvSpPr txBox="1"/>
          <p:nvPr/>
        </p:nvSpPr>
        <p:spPr>
          <a:xfrm>
            <a:off x="1051560" y="39776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使うもの：作りたいもの設計シート「1. 業務の棚卸し」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困りごとは4つの型に分けられる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説明② 10分</a:t>
            </a:r>
            <a:endParaRPr lang="en-US" sz="11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430528"/>
                <a:gridCol w="3218688"/>
                <a:gridCol w="339750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よくある困りごと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しくみの形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集める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電話・紙・LINEにバラバラに届く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入力フォーム（入口を1つに）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貯める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Excelが人ごとにある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Lark BASE（台帳を1つに）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知らせる・回す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伝え忘れ、承認待ちで止まる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自動化・Bot通知・承認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見る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今月の数字がすぐ出ない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ビュー・ダッシュボード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foot-box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foo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242816"/>
            <a:ext cx="246888" cy="246888"/>
          </a:xfrm>
          <a:prstGeom prst="rect">
            <a:avLst/>
          </a:prstGeom>
        </p:spPr>
      </p:pic>
      <p:sp>
        <p:nvSpPr>
          <p:cNvPr id="9" name="foot-text"/>
          <p:cNvSpPr txBox="1"/>
          <p:nvPr/>
        </p:nvSpPr>
        <p:spPr>
          <a:xfrm>
            <a:off x="1051560" y="4114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最初に作るもの：毎週くり返す／関わる人が2〜5人／失敗しても大事故にならない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作りたいものを1つに絞る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ハンズオン② 20分</a:t>
            </a:r>
            <a:endParaRPr lang="en-US" sz="1100" dirty="0"/>
          </a:p>
        </p:txBody>
      </p:sp>
      <p:sp>
        <p:nvSpPr>
          <p:cNvPr id="6" name="step-num"/>
          <p:cNvSpPr/>
          <p:nvPr/>
        </p:nvSpPr>
        <p:spPr>
          <a:xfrm>
            <a:off x="548640" y="178765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step-num-text"/>
          <p:cNvSpPr txBox="1"/>
          <p:nvPr/>
        </p:nvSpPr>
        <p:spPr>
          <a:xfrm>
            <a:off x="548640" y="17876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tep-text"/>
          <p:cNvSpPr txBox="1"/>
          <p:nvPr/>
        </p:nvSpPr>
        <p:spPr>
          <a:xfrm>
            <a:off x="1097280" y="167792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印を付けた作業から、候補を3つ選ぶ</a:t>
            </a:r>
            <a:endParaRPr lang="en-US" sz="1450" dirty="0"/>
          </a:p>
        </p:txBody>
      </p:sp>
      <p:sp>
        <p:nvSpPr>
          <p:cNvPr id="9" name="step-num"/>
          <p:cNvSpPr/>
          <p:nvPr/>
        </p:nvSpPr>
        <p:spPr>
          <a:xfrm>
            <a:off x="548640" y="2391156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step-num-text"/>
          <p:cNvSpPr txBox="1"/>
          <p:nvPr/>
        </p:nvSpPr>
        <p:spPr>
          <a:xfrm>
            <a:off x="548640" y="2391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-text"/>
          <p:cNvSpPr txBox="1"/>
          <p:nvPr/>
        </p:nvSpPr>
        <p:spPr>
          <a:xfrm>
            <a:off x="1097280" y="228142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「効果の大きさ」「作りやすさ」で ○△× を付ける</a:t>
            </a:r>
            <a:endParaRPr lang="en-US" sz="1450" dirty="0"/>
          </a:p>
        </p:txBody>
      </p:sp>
      <p:sp>
        <p:nvSpPr>
          <p:cNvPr id="12" name="step-num"/>
          <p:cNvSpPr/>
          <p:nvPr/>
        </p:nvSpPr>
        <p:spPr>
          <a:xfrm>
            <a:off x="548640" y="299466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step-num-text"/>
          <p:cNvSpPr txBox="1"/>
          <p:nvPr/>
        </p:nvSpPr>
        <p:spPr>
          <a:xfrm>
            <a:off x="548640" y="29946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-text"/>
          <p:cNvSpPr txBox="1"/>
          <p:nvPr/>
        </p:nvSpPr>
        <p:spPr>
          <a:xfrm>
            <a:off x="1097280" y="288493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1つに決め、設計シートに一言で書く</a:t>
            </a:r>
            <a:endParaRPr lang="en-US" sz="1450" dirty="0"/>
          </a:p>
        </p:txBody>
      </p:sp>
      <p:sp>
        <p:nvSpPr>
          <p:cNvPr id="15" name="foot-box"/>
          <p:cNvSpPr/>
          <p:nvPr/>
        </p:nvSpPr>
        <p:spPr>
          <a:xfrm>
            <a:off x="548640" y="397764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foo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05656"/>
            <a:ext cx="246888" cy="246888"/>
          </a:xfrm>
          <a:prstGeom prst="rect">
            <a:avLst/>
          </a:prstGeom>
        </p:spPr>
      </p:pic>
      <p:sp>
        <p:nvSpPr>
          <p:cNvPr id="17" name="foot-text"/>
          <p:cNvSpPr txBox="1"/>
          <p:nvPr/>
        </p:nvSpPr>
        <p:spPr>
          <a:xfrm>
            <a:off x="1051560" y="39776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例：「電話予約をフォーム受付にして、BASEで管理する」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2ヶ月で公開まで届く大きさか、講師と一緒に確認します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AIへの頼み方の例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93268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家で試す</a:t>
            </a:r>
            <a:endParaRPr lang="en-US" sz="1100" dirty="0"/>
          </a:p>
        </p:txBody>
      </p:sp>
      <p:sp>
        <p:nvSpPr>
          <p:cNvPr id="6" name="prompt-box"/>
          <p:cNvSpPr/>
          <p:nvPr/>
        </p:nvSpPr>
        <p:spPr>
          <a:xfrm>
            <a:off x="548640" y="1463040"/>
            <a:ext cx="8046720" cy="3017520"/>
          </a:xfrm>
          <a:prstGeom prst="roundRect">
            <a:avLst>
              <a:gd name="adj" fmla="val 363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icon-circle"/>
          <p:cNvSpPr/>
          <p:nvPr/>
        </p:nvSpPr>
        <p:spPr>
          <a:xfrm>
            <a:off x="777240" y="1664208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830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6642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AIへの頼み方（コピーして使う）</a:t>
            </a:r>
            <a:endParaRPr lang="en-US" sz="1300" dirty="0"/>
          </a:p>
        </p:txBody>
      </p:sp>
      <p:sp>
        <p:nvSpPr>
          <p:cNvPr id="10" name="prompt-text"/>
          <p:cNvSpPr txBox="1"/>
          <p:nvPr/>
        </p:nvSpPr>
        <p:spPr>
          <a:xfrm>
            <a:off x="822960" y="2286000"/>
            <a:ext cx="7498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あなたは中小企業の業務改善の相談相手です。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私の会社は「（業種）」で、従業員は（人数）名です。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次の業務の中から、Larkで最初にしくみ化すると効果が出やすいものを、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理由とあわせて上位3つ挙げてください。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（棚卸しした業務を貼り付け）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宿題と、今日のチェック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79552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まとめ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宿題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設計シートの「3. 誰が・何に困っているか」を関係者ごとに書く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70916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493776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7647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できたらチェック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作りたいものが1つ決まった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業務の棚卸しが10個書けた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次回：第2回 AIと話す型を身につける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わからないところは、講座グループでいつでも質問してください。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APIキーやパスワードは送らないでください。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beru">
  <a:themeElements>
    <a:clrScheme name="Manaberu">
      <a:dk1>
        <a:srgbClr val="1A1A1A"/>
      </a:dk1>
      <a:lt1>
        <a:srgbClr val="FFFFFF"/>
      </a:lt1>
      <a:dk2>
        <a:srgbClr val="5A6872"/>
      </a:dk2>
      <a:lt2>
        <a:srgbClr val="FFF6CC"/>
      </a:lt2>
      <a:accent1>
        <a:srgbClr val="FFD600"/>
      </a:accent1>
      <a:accent2>
        <a:srgbClr val="DD6420"/>
      </a:accent2>
      <a:accent3>
        <a:srgbClr val="3370FF"/>
      </a:accent3>
      <a:accent4>
        <a:srgbClr val="06C755"/>
      </a:accent4>
      <a:accent5>
        <a:srgbClr val="E53935"/>
      </a:accent5>
      <a:accent6>
        <a:srgbClr val="F5A623"/>
      </a:accent6>
      <a:hlink>
        <a:srgbClr val="3370FF"/>
      </a:hlink>
      <a:folHlink>
        <a:srgbClr val="6B4FBB"/>
      </a:folHlink>
    </a:clrScheme>
    <a:fontScheme name="Manaberu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ささエール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マナベル 第1回 オリエンテーション／作りたいものを言葉にする</dc:title>
  <dc:subject>PptxGenJS Presentation</dc:subject>
  <dc:creator>ささエール（Office Plata）</dc:creator>
  <cp:lastModifiedBy>ささエール（Office Plata）</cp:lastModifiedBy>
  <cp:revision>1</cp:revision>
  <dcterms:created xsi:type="dcterms:W3CDTF">2026-10-02T10:43:47Z</dcterms:created>
  <dcterms:modified xsi:type="dcterms:W3CDTF">2026-10-02T10:43:47Z</dcterms:modified>
</cp:coreProperties>
</file>