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40ce3fe8-735e-dab0-9810-686fee2226df}">
          <p14:sldIdLst>
            <p14:sldId id="256"/>
            <p14:sldId id="257"/>
          </p14:sldIdLst>
        </p14:section>
        <p14:section name="本編" id="{754ce756-a2f0-f342-ecb5-7d9903652f2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まとめ" id="{f5c28fb1-6367-2c40-c409-0e888ec5d358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【自己紹介（10分）／このスライド 2分】
みなさん、こんばんは。マナベル1期へようこそ。講師の笹原です。さっさーと呼んでください。鹿児島を拠点に、Lark・AI・LINEを使った業務のしくみづくりをお手伝いしています。これから8週間、全12回、どうぞよろしくお願いします。今日は第1回、オリエンテーションと、作りたいものを言葉にする回です。最初に、みなさんにも自己紹介をお願いします。お名前、会社とお仕事、それから「今いちばん面倒だと感じている業務」を1つ、1人1分くらいで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【自己紹介（10分）／このスライド 8分】
（自己紹介：1人1分×最大6名。講師は「面倒な業務」をメモしておき、説明②の例に使う）ありがとうございました。今日のゴールは2つです。1つ目は、この講座で目指す「構築者」とは何か、8週間後にどこまで作れるようになるかを知ること。2つ目は、自分の業務から、この講座で作るものを1つに絞ることです。流れは画面の帯のとおりで、黒が聞く時間、オレンジが手を動かす時間です。この講座は、毎回こうして聞くと作るを交互に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【説明①（10分）／このスライド 5分】
まず、この講座のゴールです。マナベルは、ツールの使い方を覚える講座ではありません。ゴールは、みなさんが自分の会社の「構築者」になることです。構築者というのは、現場の困りごとを聞き取って、しくみを設計して、LarkとAIで作って、公開して、使われながら直し続けられる人のことです。外注すると、ちょっと直したいだけでも見積もりから始まります。でも社内に構築者がいれば、気づいた人がその日に直せます。8週間後の最終回では、みなさん一人ひとりが、自社で実際に使うしくみを1つ公開して発表します。勉強用のサンプルではなく、本物の業務です。だから今日、何を作るかを決めることが、とても大切です。（対話：「直したいのに自分では直せなかった経験」を2〜3名に聞く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【説明①（10分）／このスライド 5分】
使う道具は3つです。Larkは社内の整理役。台帳、通知、マニュアル、承認をまとめます。AIは、作る・考える相棒です。文章も、要件の整理も、最終的にはプログラムのコードも書いてくれます。LINEは、お客様との接点です。予約や問い合わせの入口になります。たとえば、あるパン屋さんでは、お客様がLINEから予約すると、Larkの台帳に自動で入って、スタッフのグループに通知が届くしくみを作りました。進め方の順番も大事です。まずはコードを書かずにLarkで作れるところまで作ります。それでも足りないところだけ、AIにコードを書いてもらいます。いきなりプログラミングから始めないので、未経験の方も安心してください。（デモ：講師デモ版「まなべ食堂」でスマホから予約 → BASEに1件入る → グループに通知が届く、を画面共有で見せる。「8週間後、みなさんはこれを自分の業務で作ります」）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【ハンズオン①（20分）／このスライド 20分】
では、手を動かしましょう。設計シートの「1. 業務の棚卸し」を開いてください。1週間の仕事を思い出して、くり返している作業を10個書き出します。それぞれに、誰が、どのくらいの頻度で、何を使ってやっているか、紙なのかExcelなのか電話なのかを書いてください。最後に、面倒だな、ミスが起きるな、人に聞かないとわからないな、と思うものに印を付けます。時間は18分です。手が止まったら、昨日やったことを朝から順番に思い出してみてください。（講師は巡回。止まっている人に声をかける。残り3分で声かけ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【説明②（10分）／このスライド 10分】
お疲れさまでした。書き出した困りごとは、だいたい4つの型に分けられます。1つ目は「集める」。電話や紙やLINEに、バラバラに届いて困っている。これは入力フォームで入口を1つにします。2つ目は「貯める」。Excelが人ごとにあって、どれが最新かわからない。これはLarkのBASEで台帳を1つにします。3つ目は「知らせる・回す」。伝え忘れや、承認待ちで止まってしまう。これは自動化と通知です。4つ目は「見る」。今月の数字がすぐに出ない。これは一覧やダッシュボードです。（対話：自己紹介で出た「面倒な業務」を3つ取り上げ、どの型か全員で分類する）では、最初に作るものはどう選ぶか。おすすめは3つの条件です。毎週くり返していること。関わる人が2人から5人くらいであること。そして、失敗しても大事故にならないこと。いきなりお金や個人情報の中心になる業務を選ぶより、まずは小さく、毎週効くところから始め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【ハンズオン②（20分）／このスライド 20分】
では、1つに絞ります。印を付けた作業から候補を3つ選んで、効果の大きさと作りやすさで、丸・三角・バツを付けてください。決まったら、設計シートに一言で書きます。たとえば「電話予約をフォーム受付にして、BASEで管理する」のような書き方です。時間は15分。そのあと5分で、私が一人ずつ、2ヶ月で公開まで届く大きさかを確認します。大きすぎる場合は、最初に公開する範囲と、修了後に足す範囲に分けましょう。（講師は1人1分で題材を確認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【共有・質問・宿題（20分）／このスライド 15分】
では、決まったものを1人1分で共有してください。（1人1分×最大6名＋講師コメント）ありがとうございました。どれも8週間で形にできる題材です。最後に、家で試してほしいことです。画面の文章をAIに貼って、棚卸しした業務を渡すと、どれから始めると効果が出やすいかを理由つきで答えてくれます。今日決めたものと答えが違っても大丈夫です。AIは相談相手で、決めるのはみなさんです。ただし、お客様の名前や電話番号は入れないでください。この約束は、これから毎回出て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【共有・質問・宿題（20分）／このスライド 3分】
宿題は1つです。設計シートの「3. 誰が・何に困っているか」を、関係者ごとに書いてきてください。30分くらいが目安です。今日のチェックは2つ。作りたいものが1つ決まったこと、業務の棚卸しが10個書けたこと。できた人は、心の中でチェックを入れ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【共有・質問・宿題（20分）／このスライド 2分】
次回は「AIと話す型を身につける」です。今日決めたものを、AIと一緒に設計シートに仕上げます。わからないことは、講座グループでいつでも質問してください。平日は24時間以内にお返事します。APIキーやパスワードは送らないでくださいね。今日はお疲れさまで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754880"/>
            <a:ext cx="2423160" cy="274320"/>
          </a:xfrm>
          <a:prstGeom prst="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6510528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ささエール｜OFFICE PLATA</a:t>
            </a:r>
            <a:endParaRPr lang="ja-JP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マナベル　第1回　オリエンテーション／作りたいものを言葉にする</a:t>
            </a:r>
            <a:endParaRPr lang="ja-JP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411480"/>
            <a:ext cx="1600200" cy="60350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第1回</a:t>
            </a:r>
            <a:endParaRPr lang="ja-JP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ja-JP" altLang="en-US" sz="3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オリエンテーション／</a:t>
            </a:r>
            <a:endParaRPr lang="ja-JP" sz="3600" dirty="0"/>
          </a:p>
          <a:p>
            <a:pPr indent="0" marL="0">
              <a:lnSpc>
                <a:spcPct val="105000"/>
              </a:lnSpc>
              <a:buNone/>
            </a:pPr>
            <a:r>
              <a:rPr lang="ja-JP" altLang="en-US" sz="3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作りたいものを言葉にする</a:t>
            </a:r>
            <a:endParaRPr lang="ja-JP" sz="3600" dirty="0"/>
          </a:p>
        </p:txBody>
      </p:sp>
      <p:sp>
        <p:nvSpPr>
          <p:cNvPr id="5" name="Text 2"/>
          <p:cNvSpPr txBox="1"/>
          <p:nvPr/>
        </p:nvSpPr>
        <p:spPr>
          <a:xfrm rot="-120000">
            <a:off x="457200" y="2971800"/>
            <a:ext cx="49377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フェーズ1 土台をつくる｜第1週</a:t>
            </a:r>
            <a:endParaRPr lang="ja-JP" sz="1600" dirty="0"/>
          </a:p>
        </p:txBody>
      </p:sp>
      <p:sp>
        <p:nvSpPr>
          <p:cNvPr id="6" name="card"/>
          <p:cNvSpPr/>
          <p:nvPr/>
        </p:nvSpPr>
        <p:spPr>
          <a:xfrm>
            <a:off x="457200" y="3730752"/>
            <a:ext cx="493776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58368" y="37673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ja-JP" alt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マナベル｜AI×Lark 構築者育成講座</a:t>
            </a:r>
            <a:endParaRPr lang="ja-JP" sz="15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 ／ OFFICE PLATA　笹原 彰朗</a:t>
            </a:r>
            <a:endParaRPr lang="ja-JP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040587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はじめに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今日のゴールと流れ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685800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82496"/>
            <a:ext cx="219456" cy="219456"/>
          </a:xfrm>
          <a:prstGeom prst="rect">
            <a:avLst/>
          </a:prstGeom>
        </p:spPr>
      </p:pic>
      <p:sp>
        <p:nvSpPr>
          <p:cNvPr id="7" name="goal"/>
          <p:cNvSpPr txBox="1"/>
          <p:nvPr/>
        </p:nvSpPr>
        <p:spPr>
          <a:xfrm>
            <a:off x="1252728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「構築者」とは何か、8週間後にどこまで作れるかがわかる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4700016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4882896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682496"/>
            <a:ext cx="219456" cy="219456"/>
          </a:xfrm>
          <a:prstGeom prst="rect">
            <a:avLst/>
          </a:prstGeom>
        </p:spPr>
      </p:pic>
      <p:sp>
        <p:nvSpPr>
          <p:cNvPr id="11" name="goal"/>
          <p:cNvSpPr txBox="1"/>
          <p:nvPr/>
        </p:nvSpPr>
        <p:spPr>
          <a:xfrm>
            <a:off x="5449824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自分の業務から「作りたいもの」を1つに絞れている</a:t>
            </a:r>
            <a:endParaRPr lang="ja-JP" sz="1400" dirty="0"/>
          </a:p>
        </p:txBody>
      </p:sp>
      <p:sp>
        <p:nvSpPr>
          <p:cNvPr id="12" name="Text 8"/>
          <p:cNvSpPr txBox="1"/>
          <p:nvPr/>
        </p:nvSpPr>
        <p:spPr>
          <a:xfrm rot="-120000">
            <a:off x="457200" y="2907792"/>
            <a:ext cx="191566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今日の流れ（90分）</a:t>
            </a:r>
            <a:endParaRPr lang="ja-JP" sz="1100" dirty="0"/>
          </a:p>
        </p:txBody>
      </p:sp>
      <p:sp>
        <p:nvSpPr>
          <p:cNvPr id="13" name="Shape 9"/>
          <p:cNvSpPr/>
          <p:nvPr/>
        </p:nvSpPr>
        <p:spPr>
          <a:xfrm>
            <a:off x="502920" y="3364992"/>
            <a:ext cx="813816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ime-block"/>
          <p:cNvSpPr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自己紹介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6" name="time-block"/>
          <p:cNvSpPr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8" name="time-block"/>
          <p:cNvSpPr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0" name="time-block"/>
          <p:cNvSpPr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22" name="time-block"/>
          <p:cNvSpPr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4" name="time-block"/>
          <p:cNvSpPr/>
          <p:nvPr/>
        </p:nvSpPr>
        <p:spPr>
          <a:xfrm>
            <a:off x="6832600" y="3364992"/>
            <a:ext cx="18084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3260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共有・質問・宿題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　</a:t>
            </a:r>
            <a:pPr indent="0" marL="0">
              <a:buNone/>
            </a:pPr>
            <a:r>
              <a:rPr lang="ja-JP" altLang="en-US" sz="10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手を動かす</a:t>
            </a:r>
            <a:endParaRPr lang="ja-JP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この講座のゴールは</a:t>
            </a:r>
            <a:pPr indent="0" marL="0">
              <a:buNone/>
            </a:pPr>
            <a:r>
              <a:rPr lang="ja-JP" altLang="en-US" sz="2600" dirty="0">
                <a:solidFill>
                  <a:srgbClr val="DD642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「構築者」</a:t>
            </a:r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になること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463040"/>
            <a:ext cx="8138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879092"/>
            <a:ext cx="283464" cy="283464"/>
          </a:xfrm>
          <a:prstGeom prst="rect">
            <a:avLst/>
          </a:prstGeom>
        </p:spPr>
      </p:pic>
      <p:sp>
        <p:nvSpPr>
          <p:cNvPr id="8" name="big-text"/>
          <p:cNvSpPr txBox="1"/>
          <p:nvPr/>
        </p:nvSpPr>
        <p:spPr>
          <a:xfrm>
            <a:off x="1600200" y="1554480"/>
            <a:ext cx="6812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9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構築者＝現場の困りごとを聞き取り、しくみを設計し、</a:t>
            </a:r>
            <a:endParaRPr lang="ja-JP" sz="1900" dirty="0"/>
          </a:p>
          <a:p>
            <a:pPr indent="0" marL="0">
              <a:buNone/>
            </a:pPr>
            <a:r>
              <a:rPr lang="ja-JP" altLang="en-US" sz="19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LarkとAIで作り、公開し、直し続けられる人</a:t>
            </a:r>
            <a:endParaRPr lang="ja-JP" sz="1900" dirty="0"/>
          </a:p>
        </p:txBody>
      </p:sp>
      <p:sp>
        <p:nvSpPr>
          <p:cNvPr id="9" name="Text 5"/>
          <p:cNvSpPr txBox="1"/>
          <p:nvPr/>
        </p:nvSpPr>
        <p:spPr>
          <a:xfrm rot="-60000">
            <a:off x="502920" y="388620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8週間後、自社で実際に使うしくみを1つ公開して発表します。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3つの道具の役割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04088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5564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Lark</a:t>
            </a:r>
            <a:endParaRPr lang="ja-JP" sz="1700" dirty="0"/>
          </a:p>
        </p:txBody>
      </p:sp>
      <p:sp>
        <p:nvSpPr>
          <p:cNvPr id="9" name="card-body"/>
          <p:cNvSpPr txBox="1"/>
          <p:nvPr/>
        </p:nvSpPr>
        <p:spPr>
          <a:xfrm>
            <a:off x="704088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社内の整理</a:t>
            </a:r>
            <a:endParaRPr lang="ja-JP" sz="1350" dirty="0"/>
          </a:p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台帳・通知・Wiki・承認</a:t>
            </a:r>
            <a:endParaRPr lang="ja-JP" sz="1350" dirty="0"/>
          </a:p>
        </p:txBody>
      </p:sp>
      <p:sp>
        <p:nvSpPr>
          <p:cNvPr id="10" name="card"/>
          <p:cNvSpPr/>
          <p:nvPr/>
        </p:nvSpPr>
        <p:spPr>
          <a:xfrm>
            <a:off x="3300984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3502152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75564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69664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AI</a:t>
            </a:r>
            <a:endParaRPr lang="ja-JP" sz="1700" dirty="0"/>
          </a:p>
        </p:txBody>
      </p:sp>
      <p:sp>
        <p:nvSpPr>
          <p:cNvPr id="14" name="card-body"/>
          <p:cNvSpPr txBox="1"/>
          <p:nvPr/>
        </p:nvSpPr>
        <p:spPr>
          <a:xfrm>
            <a:off x="3502152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作る・考える相棒</a:t>
            </a:r>
            <a:endParaRPr lang="ja-JP" sz="1350" dirty="0"/>
          </a:p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文章・要件・コードを書く</a:t>
            </a:r>
            <a:endParaRPr lang="ja-JP" sz="1350" dirty="0"/>
          </a:p>
        </p:txBody>
      </p:sp>
      <p:sp>
        <p:nvSpPr>
          <p:cNvPr id="15" name="card"/>
          <p:cNvSpPr/>
          <p:nvPr/>
        </p:nvSpPr>
        <p:spPr>
          <a:xfrm>
            <a:off x="6099048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300216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755648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967728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LINE</a:t>
            </a:r>
            <a:endParaRPr lang="ja-JP" sz="1700" dirty="0"/>
          </a:p>
        </p:txBody>
      </p:sp>
      <p:sp>
        <p:nvSpPr>
          <p:cNvPr id="19" name="card-body"/>
          <p:cNvSpPr txBox="1"/>
          <p:nvPr/>
        </p:nvSpPr>
        <p:spPr>
          <a:xfrm>
            <a:off x="6300216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お客様との接点</a:t>
            </a:r>
            <a:endParaRPr lang="ja-JP" sz="1350" dirty="0"/>
          </a:p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予約・問い合わせの入口</a:t>
            </a:r>
            <a:endParaRPr lang="ja-JP" sz="1350" dirty="0"/>
          </a:p>
        </p:txBody>
      </p:sp>
      <p:sp>
        <p:nvSpPr>
          <p:cNvPr id="20" name="Text 14"/>
          <p:cNvSpPr txBox="1"/>
          <p:nvPr/>
        </p:nvSpPr>
        <p:spPr>
          <a:xfrm rot="-60000">
            <a:off x="502920" y="411480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進め方：まずコードを書かずにLarkで作る → 足りない部分だけAIにコードを書かせる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ハンズオン①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業務の棚卸し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04772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687068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60477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1週間の仕事を思い出し、くり返している作業を10個書き出す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2299716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238201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2299716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それぞれに「誰が」「頻度」「何を使って（紙・Excel・電話・LINE）」を書く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994660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3076956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994660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「面倒」「ミスが起きる」「人に聞かないとわからない」に印を付ける</a:t>
            </a:r>
            <a:endParaRPr lang="ja-JP" sz="1400" dirty="0"/>
          </a:p>
        </p:txBody>
      </p:sp>
      <p:sp>
        <p:nvSpPr>
          <p:cNvPr id="14" name="Text 11"/>
          <p:cNvSpPr txBox="1"/>
          <p:nvPr/>
        </p:nvSpPr>
        <p:spPr>
          <a:xfrm rot="-60000">
            <a:off x="502920" y="4005072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使うもの：作りたいもの設計シート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「1. 業務の棚卸し」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説明②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困りごとは4つの型に分けられる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1446784"/>
                <a:gridCol w="3255264"/>
                <a:gridCol w="343611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型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よくある困りごと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しくみの形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集める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電話・紙・LINEにバラバラに届く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入力フォーム（入口を1つに）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貯める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Excelが人ごとにある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Lark BASE（台帳を1つに）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知らせる・回す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伝え忘れ、承認待ちで止まる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自動化・Bot通知・承認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見る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今月の数字がすぐ出ない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ビュー・ダッシュボード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 rot="-60000">
            <a:off x="502920" y="411480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最初に作るもの：毎週くり返す／関わる人が2〜5人／失敗しても大事故にならない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ハンズオン②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作りたいものを1つに絞る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04772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687068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60477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印を付けた作業から、候補を3つ選ぶ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2299716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238201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2299716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「効果の大きさ」「作りやすさ」で ○△× を付ける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994660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3076956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994660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1つに決め、設計シートに一言で書く</a:t>
            </a:r>
            <a:endParaRPr lang="ja-JP" sz="1400" dirty="0"/>
          </a:p>
        </p:txBody>
      </p:sp>
      <p:sp>
        <p:nvSpPr>
          <p:cNvPr id="14" name="Text 11"/>
          <p:cNvSpPr txBox="1"/>
          <p:nvPr/>
        </p:nvSpPr>
        <p:spPr>
          <a:xfrm rot="-60000">
            <a:off x="502920" y="4005072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例：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「電話予約をフォーム受付にして、BASEで管理する」</a:t>
            </a:r>
            <a:endParaRPr lang="ja-JP" sz="1300" dirty="0"/>
          </a:p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2ヶ月で公開まで届く大きさか、講師と一緒に確認します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040587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家で試す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AIへの頼み方の例</a:t>
            </a:r>
            <a:endParaRPr lang="ja-JP" sz="2600" dirty="0"/>
          </a:p>
        </p:txBody>
      </p:sp>
      <p:sp>
        <p:nvSpPr>
          <p:cNvPr id="5" name="prompt-box"/>
          <p:cNvSpPr/>
          <p:nvPr/>
        </p:nvSpPr>
        <p:spPr>
          <a:xfrm>
            <a:off x="502920" y="1417320"/>
            <a:ext cx="8138160" cy="3108960"/>
          </a:xfrm>
          <a:prstGeom prst="roundRect">
            <a:avLst>
              <a:gd name="adj" fmla="val 2941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rgbClr val="FFD60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714500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AIへの頼み方（コピーして使う）</a:t>
            </a:r>
            <a:endParaRPr lang="ja-JP" sz="1400" dirty="0"/>
          </a:p>
        </p:txBody>
      </p:sp>
      <p:sp>
        <p:nvSpPr>
          <p:cNvPr id="9" name="prompt-text"/>
          <p:cNvSpPr txBox="1"/>
          <p:nvPr/>
        </p:nvSpPr>
        <p:spPr>
          <a:xfrm>
            <a:off x="777240" y="2240280"/>
            <a:ext cx="7589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ja-JP" altLang="en-US" sz="130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あなたは中小企業の業務改善の相談相手です。</a:t>
            </a:r>
            <a:endParaRPr lang="ja-JP" sz="13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30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私の会社は「（業種）」で、従業員は（人数）名です。</a:t>
            </a:r>
            <a:endParaRPr lang="ja-JP" sz="13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30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次の業務の中から、Larkで最初にしくみ化すると効果が出やすいものを、</a:t>
            </a:r>
            <a:endParaRPr lang="ja-JP" sz="13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30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理由とあわせて上位3つ挙げてください。</a:t>
            </a:r>
            <a:endParaRPr lang="ja-JP" sz="13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30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（棚卸しした業務を貼り付け）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894740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まとめ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宿題と、今日のチェック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</a:t>
            </a:r>
            <a:endParaRPr lang="ja-JP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設計シートの「3. 誰が・何に困っているか」を関係者ごとに書く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470916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91032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628" y="171450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できたらチェック</a:t>
            </a:r>
            <a:endParaRPr lang="ja-JP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作りたいものが1つ決まった</a:t>
            </a:r>
            <a:endParaRPr lang="ja-JP" sz="1350" dirty="0"/>
          </a:p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業務の棚卸しが10個書けた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548640"/>
            <a:ext cx="1280160" cy="548640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0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次回</a:t>
            </a:r>
            <a:endParaRPr lang="ja-JP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第2回</a:t>
            </a:r>
            <a:endParaRPr lang="ja-JP" sz="3200" dirty="0"/>
          </a:p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AIと話す型を身につける</a:t>
            </a:r>
            <a:endParaRPr lang="ja-JP" sz="3200" dirty="0"/>
          </a:p>
        </p:txBody>
      </p:sp>
      <p:sp>
        <p:nvSpPr>
          <p:cNvPr id="5" name="card"/>
          <p:cNvSpPr/>
          <p:nvPr/>
        </p:nvSpPr>
        <p:spPr>
          <a:xfrm>
            <a:off x="457200" y="3108960"/>
            <a:ext cx="53949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32004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わからないところは、講座グループでいつでも質問してください。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APIキーやパスワードは送らないでください。</a:t>
            </a:r>
            <a:endParaRPr lang="ja-JP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saYell">
  <a:themeElements>
    <a:clrScheme name="SasaYell">
      <a:dk1>
        <a:srgbClr val="1A1A1A"/>
      </a:dk1>
      <a:lt1>
        <a:srgbClr val="FFFFFF"/>
      </a:lt1>
      <a:dk2>
        <a:srgbClr val="1A1A1A"/>
      </a:dk2>
      <a:lt2>
        <a:srgbClr val="FFD600"/>
      </a:lt2>
      <a:accent1>
        <a:srgbClr val="FFD600"/>
      </a:accent1>
      <a:accent2>
        <a:srgbClr val="DD6420"/>
      </a:accent2>
      <a:accent3>
        <a:srgbClr val="F5A623"/>
      </a:accent3>
      <a:accent4>
        <a:srgbClr val="1A1A1A"/>
      </a:accent4>
      <a:accent5>
        <a:srgbClr val="FFFFFF"/>
      </a:accent5>
      <a:accent6>
        <a:srgbClr val="DD6420"/>
      </a:accent6>
      <a:hlink>
        <a:srgbClr val="DD6420"/>
      </a:hlink>
      <a:folHlink>
        <a:srgbClr val="F5A623"/>
      </a:folHlink>
    </a:clrScheme>
    <a:fontScheme name="SasaYell">
      <a:majorFont>
        <a:latin typeface="Dela Gothic One"/>
        <a:ea typeface="けいふぉんと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第1回 オリエンテーション／作りたいものを言葉にする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2026-10-08T07:08:41Z</dcterms:created>
  <dcterms:modified xsi:type="dcterms:W3CDTF">2026-10-08T07:08:41Z</dcterms:modified>
</cp:coreProperties>
</file>