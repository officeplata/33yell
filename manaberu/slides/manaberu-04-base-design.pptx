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5cd6b2e6-a470-1e93-1056-3ddc8fa13df0}">
          <p14:sldIdLst>
            <p14:sldId id="256"/>
            <p14:sldId id="257"/>
          </p14:sldIdLst>
        </p14:section>
        <p14:section name="本編" id="{59062248-c486-625f-6981-6babc450f892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まとめ" id="{0d1a2750-49be-6a9e-5489-928bfbf8c07e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第4回「BASEでデータの入れ物を設計する」。前回の宿題の提出状況を確認してから始める。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ゴールを読み上げ、今日は「聞く」と「手を動かす」を交互に進めることを伝える。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Excelの表とBASEを並べて見せる。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選択肢は必ず単一選択に、を強調。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紙の帳票しかない人は、AIに表に起こしてもらってから取り込む。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共通サンプルの顧客／予約で実演する。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フィールド名は後で変えるとAPI（第9回）に響くので、今日決める。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宿題の目安時間を伝える。質問は講座グループへ（24時間以内に返信・土日祝を除く）。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次回までの宿題をもう一度確認して終了。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TITLE">
    <p:bg>
      <p:bgPr>
        <a:solidFill>
          <a:srgbClr val="FFD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91640"/>
            <a:ext cx="58521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46120"/>
            <a:ext cx="58521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マナベル｜AI×Lark 構築者育成講座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676656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ささエール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54864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マナベル　第4回　BASEでデータの入れ物を設計する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DARK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マナベル｜AI×Lark 構築者育成講座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sson-badge"/>
          <p:cNvSpPr/>
          <p:nvPr/>
        </p:nvSpPr>
        <p:spPr>
          <a:xfrm>
            <a:off x="548640" y="82296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第4回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9164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BASEでデータの入れ物を設計する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2461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フェーズ2 Larkで組む　｜　第2週</a:t>
            </a:r>
            <a:endParaRPr lang="en-US" sz="1400" dirty="0"/>
          </a:p>
        </p:txBody>
      </p:sp>
      <p:sp>
        <p:nvSpPr>
          <p:cNvPr id="6" name="title-circle"/>
          <p:cNvSpPr/>
          <p:nvPr/>
        </p:nvSpPr>
        <p:spPr>
          <a:xfrm>
            <a:off x="6537960" y="1188720"/>
            <a:ext cx="2103120" cy="2103120"/>
          </a:xfrm>
          <a:prstGeom prst="ellipse">
            <a:avLst/>
          </a:prstGeom>
          <a:solidFill>
            <a:schemeClr val="bg1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titl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373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今日のゴールと流れ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93268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はじめに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417320"/>
            <a:ext cx="39090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icon-circle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1707185"/>
            <a:ext cx="197510" cy="197510"/>
          </a:xfrm>
          <a:prstGeom prst="rect">
            <a:avLst/>
          </a:prstGeom>
        </p:spPr>
      </p:pic>
      <p:sp>
        <p:nvSpPr>
          <p:cNvPr id="8" name="goal"/>
          <p:cNvSpPr txBox="1"/>
          <p:nvPr/>
        </p:nvSpPr>
        <p:spPr>
          <a:xfrm>
            <a:off x="1280160" y="1508760"/>
            <a:ext cx="29946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テーブル・フィールド・レコードの意味がわかる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686300" y="1417320"/>
            <a:ext cx="39090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4869180" y="1600200"/>
            <a:ext cx="411480" cy="41148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165" y="1707185"/>
            <a:ext cx="197510" cy="197510"/>
          </a:xfrm>
          <a:prstGeom prst="rect">
            <a:avLst/>
          </a:prstGeom>
        </p:spPr>
      </p:pic>
      <p:sp>
        <p:nvSpPr>
          <p:cNvPr id="12" name="goal"/>
          <p:cNvSpPr txBox="1"/>
          <p:nvPr/>
        </p:nvSpPr>
        <p:spPr>
          <a:xfrm>
            <a:off x="5417820" y="1508760"/>
            <a:ext cx="29946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自社用のBASE（2テーブル以上・リンクあり）を作る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今日の流れ（90分）</a:t>
            </a:r>
            <a:endParaRPr lang="en-US" sz="1300" dirty="0"/>
          </a:p>
        </p:txBody>
      </p:sp>
      <p:sp>
        <p:nvSpPr>
          <p:cNvPr id="14" name="time-block"/>
          <p:cNvSpPr/>
          <p:nvPr/>
        </p:nvSpPr>
        <p:spPr>
          <a:xfrm>
            <a:off x="548640" y="3383280"/>
            <a:ext cx="89408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ime-label"/>
          <p:cNvSpPr txBox="1"/>
          <p:nvPr/>
        </p:nvSpPr>
        <p:spPr>
          <a:xfrm>
            <a:off x="548640" y="3383280"/>
            <a:ext cx="89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ふりかえり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10分</a:t>
            </a:r>
            <a:endParaRPr lang="en-US" sz="1050" dirty="0"/>
          </a:p>
        </p:txBody>
      </p:sp>
      <p:sp>
        <p:nvSpPr>
          <p:cNvPr id="16" name="time-block"/>
          <p:cNvSpPr/>
          <p:nvPr/>
        </p:nvSpPr>
        <p:spPr>
          <a:xfrm>
            <a:off x="1442720" y="3383280"/>
            <a:ext cx="89408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ime-label"/>
          <p:cNvSpPr txBox="1"/>
          <p:nvPr/>
        </p:nvSpPr>
        <p:spPr>
          <a:xfrm>
            <a:off x="1442720" y="3383280"/>
            <a:ext cx="89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説明①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10分</a:t>
            </a:r>
            <a:endParaRPr lang="en-US" sz="1050" dirty="0"/>
          </a:p>
        </p:txBody>
      </p:sp>
      <p:sp>
        <p:nvSpPr>
          <p:cNvPr id="18" name="time-block"/>
          <p:cNvSpPr/>
          <p:nvPr/>
        </p:nvSpPr>
        <p:spPr>
          <a:xfrm>
            <a:off x="2336800" y="3383280"/>
            <a:ext cx="1788160" cy="685800"/>
          </a:xfrm>
          <a:prstGeom prst="rect">
            <a:avLst/>
          </a:prstGeom>
          <a:solidFill>
            <a:srgbClr val="DD6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ime-label"/>
          <p:cNvSpPr txBox="1"/>
          <p:nvPr/>
        </p:nvSpPr>
        <p:spPr>
          <a:xfrm>
            <a:off x="2336800" y="3383280"/>
            <a:ext cx="178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ハンズオン①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20分</a:t>
            </a:r>
            <a:endParaRPr lang="en-US" sz="1050" dirty="0"/>
          </a:p>
        </p:txBody>
      </p:sp>
      <p:sp>
        <p:nvSpPr>
          <p:cNvPr id="20" name="time-block"/>
          <p:cNvSpPr/>
          <p:nvPr/>
        </p:nvSpPr>
        <p:spPr>
          <a:xfrm>
            <a:off x="4124960" y="3383280"/>
            <a:ext cx="89408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ime-label"/>
          <p:cNvSpPr txBox="1"/>
          <p:nvPr/>
        </p:nvSpPr>
        <p:spPr>
          <a:xfrm>
            <a:off x="4124960" y="3383280"/>
            <a:ext cx="89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説明②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10分</a:t>
            </a:r>
            <a:endParaRPr lang="en-US" sz="1050" dirty="0"/>
          </a:p>
        </p:txBody>
      </p:sp>
      <p:sp>
        <p:nvSpPr>
          <p:cNvPr id="22" name="time-block"/>
          <p:cNvSpPr/>
          <p:nvPr/>
        </p:nvSpPr>
        <p:spPr>
          <a:xfrm>
            <a:off x="5019040" y="3383280"/>
            <a:ext cx="1788160" cy="685800"/>
          </a:xfrm>
          <a:prstGeom prst="rect">
            <a:avLst/>
          </a:prstGeom>
          <a:solidFill>
            <a:srgbClr val="DD6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ime-label"/>
          <p:cNvSpPr txBox="1"/>
          <p:nvPr/>
        </p:nvSpPr>
        <p:spPr>
          <a:xfrm>
            <a:off x="5019040" y="3383280"/>
            <a:ext cx="178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ハンズオン②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20分</a:t>
            </a:r>
            <a:endParaRPr lang="en-US" sz="1050" dirty="0"/>
          </a:p>
        </p:txBody>
      </p:sp>
      <p:sp>
        <p:nvSpPr>
          <p:cNvPr id="24" name="time-block"/>
          <p:cNvSpPr/>
          <p:nvPr/>
        </p:nvSpPr>
        <p:spPr>
          <a:xfrm>
            <a:off x="6807200" y="3383280"/>
            <a:ext cx="134112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ime-label"/>
          <p:cNvSpPr txBox="1"/>
          <p:nvPr/>
        </p:nvSpPr>
        <p:spPr>
          <a:xfrm>
            <a:off x="6807200" y="3383280"/>
            <a:ext cx="134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質問・共有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15分</a:t>
            </a:r>
            <a:endParaRPr lang="en-US" sz="1050" dirty="0"/>
          </a:p>
        </p:txBody>
      </p:sp>
      <p:sp>
        <p:nvSpPr>
          <p:cNvPr id="26" name="time-block"/>
          <p:cNvSpPr/>
          <p:nvPr/>
        </p:nvSpPr>
        <p:spPr>
          <a:xfrm>
            <a:off x="8148320" y="3383280"/>
            <a:ext cx="44704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ime-label"/>
          <p:cNvSpPr txBox="1"/>
          <p:nvPr/>
        </p:nvSpPr>
        <p:spPr>
          <a:xfrm>
            <a:off x="8148320" y="3383280"/>
            <a:ext cx="44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600"/>
                </a:solidFill>
              </a:rPr>
              <a:t>宿題</a:t>
            </a:r>
            <a:endParaRPr lang="en-US" sz="8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5分</a:t>
            </a:r>
            <a:endParaRPr lang="en-US" sz="850" dirty="0"/>
          </a:p>
        </p:txBody>
      </p:sp>
      <p:sp>
        <p:nvSpPr>
          <p:cNvPr id="28" name="Text 24"/>
          <p:cNvSpPr txBox="1"/>
          <p:nvPr/>
        </p:nvSpPr>
        <p:spPr>
          <a:xfrm>
            <a:off x="54864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聞く　</a:t>
            </a:r>
            <a:pPr indent="0" marL="0">
              <a:buNone/>
            </a:pPr>
            <a:r>
              <a:rPr lang="en-US" sz="1000" dirty="0">
                <a:solidFill>
                  <a:srgbClr val="DD6420"/>
                </a:solidFill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手を動かす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BASEの言葉をたとえで覚える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34416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説明① 10分</a:t>
            </a:r>
            <a:endParaRPr lang="en-US" sz="11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1609344"/>
                <a:gridCol w="2324608"/>
                <a:gridCol w="4112768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D600"/>
                          </a:solidFill>
                        </a:rPr>
                        <a:t>用語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D600"/>
                          </a:solidFill>
                        </a:rPr>
                        <a:t>たとえ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D600"/>
                          </a:solidFill>
                        </a:rPr>
                        <a:t>例（まなべ食堂）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BASE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台帳のファイル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まなべ食堂 台帳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テーブル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台帳の中の1冊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顧客／予約／弁当注文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フィールド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列（項目）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来店日時、人数、ステータス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レコード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行（1件分）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山田さんの10/10の予約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7" name="foot-box"/>
          <p:cNvSpPr/>
          <p:nvPr/>
        </p:nvSpPr>
        <p:spPr>
          <a:xfrm>
            <a:off x="548640" y="4114800"/>
            <a:ext cx="80467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foo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242816"/>
            <a:ext cx="246888" cy="246888"/>
          </a:xfrm>
          <a:prstGeom prst="rect">
            <a:avLst/>
          </a:prstGeom>
        </p:spPr>
      </p:pic>
      <p:sp>
        <p:nvSpPr>
          <p:cNvPr id="9" name="foot-text"/>
          <p:cNvSpPr txBox="1"/>
          <p:nvPr/>
        </p:nvSpPr>
        <p:spPr>
          <a:xfrm>
            <a:off x="1051560" y="41148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Excelとの違い：フィールドに「種類」がある／テーブル同士をリンクできる／自動化できる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よく使うフィールドの種類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34416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説明① 10分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463040"/>
            <a:ext cx="25298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card-head"/>
          <p:cNvSpPr txBox="1"/>
          <p:nvPr/>
        </p:nvSpPr>
        <p:spPr>
          <a:xfrm>
            <a:off x="731520" y="1645920"/>
            <a:ext cx="216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テキスト・数値・日付</a:t>
            </a:r>
            <a:endParaRPr lang="en-US" sz="1500" dirty="0"/>
          </a:p>
        </p:txBody>
      </p:sp>
      <p:sp>
        <p:nvSpPr>
          <p:cNvPr id="8" name="card-body"/>
          <p:cNvSpPr txBox="1"/>
          <p:nvPr/>
        </p:nvSpPr>
        <p:spPr>
          <a:xfrm>
            <a:off x="731520" y="2103120"/>
            <a:ext cx="216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名前、個数、予約日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3307080" y="1463040"/>
            <a:ext cx="25298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card-head"/>
          <p:cNvSpPr txBox="1"/>
          <p:nvPr/>
        </p:nvSpPr>
        <p:spPr>
          <a:xfrm>
            <a:off x="3489960" y="1645920"/>
            <a:ext cx="216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単一選択・複数選択</a:t>
            </a:r>
            <a:endParaRPr lang="en-US" sz="1500" dirty="0"/>
          </a:p>
        </p:txBody>
      </p:sp>
      <p:sp>
        <p:nvSpPr>
          <p:cNvPr id="11" name="card-body"/>
          <p:cNvSpPr txBox="1"/>
          <p:nvPr/>
        </p:nvSpPr>
        <p:spPr>
          <a:xfrm>
            <a:off x="3489960" y="2103120"/>
            <a:ext cx="216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ステータス、分類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表記ゆれを防ぐ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6065520" y="1463040"/>
            <a:ext cx="25298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card-head"/>
          <p:cNvSpPr txBox="1"/>
          <p:nvPr/>
        </p:nvSpPr>
        <p:spPr>
          <a:xfrm>
            <a:off x="6248400" y="1645920"/>
            <a:ext cx="216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ユーザー</a:t>
            </a:r>
            <a:endParaRPr lang="en-US" sz="1500" dirty="0"/>
          </a:p>
        </p:txBody>
      </p:sp>
      <p:sp>
        <p:nvSpPr>
          <p:cNvPr id="14" name="card-body"/>
          <p:cNvSpPr txBox="1"/>
          <p:nvPr/>
        </p:nvSpPr>
        <p:spPr>
          <a:xfrm>
            <a:off x="6248400" y="2103120"/>
            <a:ext cx="216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担当者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通知先にもなる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548640" y="3108960"/>
            <a:ext cx="25298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card-head"/>
          <p:cNvSpPr txBox="1"/>
          <p:nvPr/>
        </p:nvSpPr>
        <p:spPr>
          <a:xfrm>
            <a:off x="731520" y="3291840"/>
            <a:ext cx="216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リンク</a:t>
            </a:r>
            <a:endParaRPr lang="en-US" sz="1500" dirty="0"/>
          </a:p>
        </p:txBody>
      </p:sp>
      <p:sp>
        <p:nvSpPr>
          <p:cNvPr id="17" name="card-body"/>
          <p:cNvSpPr txBox="1"/>
          <p:nvPr/>
        </p:nvSpPr>
        <p:spPr>
          <a:xfrm>
            <a:off x="731520" y="3749040"/>
            <a:ext cx="216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別テーブルの1件を指す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3307080" y="3108960"/>
            <a:ext cx="25298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card-head"/>
          <p:cNvSpPr txBox="1"/>
          <p:nvPr/>
        </p:nvSpPr>
        <p:spPr>
          <a:xfrm>
            <a:off x="3489960" y="3291840"/>
            <a:ext cx="216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数式</a:t>
            </a:r>
            <a:endParaRPr lang="en-US" sz="1500" dirty="0"/>
          </a:p>
        </p:txBody>
      </p:sp>
      <p:sp>
        <p:nvSpPr>
          <p:cNvPr id="20" name="card-body"/>
          <p:cNvSpPr txBox="1"/>
          <p:nvPr/>
        </p:nvSpPr>
        <p:spPr>
          <a:xfrm>
            <a:off x="3489960" y="3749040"/>
            <a:ext cx="216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金額＝個数×単価</a:t>
            </a:r>
            <a:endParaRPr lang="en-US" sz="1300" dirty="0"/>
          </a:p>
        </p:txBody>
      </p:sp>
      <p:sp>
        <p:nvSpPr>
          <p:cNvPr id="21" name="card"/>
          <p:cNvSpPr/>
          <p:nvPr/>
        </p:nvSpPr>
        <p:spPr>
          <a:xfrm>
            <a:off x="6065520" y="3108960"/>
            <a:ext cx="252984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card-head"/>
          <p:cNvSpPr txBox="1"/>
          <p:nvPr/>
        </p:nvSpPr>
        <p:spPr>
          <a:xfrm>
            <a:off x="6248400" y="3291840"/>
            <a:ext cx="216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自動採番・作成日時</a:t>
            </a:r>
            <a:endParaRPr lang="en-US" sz="1500" dirty="0"/>
          </a:p>
        </p:txBody>
      </p:sp>
      <p:sp>
        <p:nvSpPr>
          <p:cNvPr id="23" name="card-body"/>
          <p:cNvSpPr txBox="1"/>
          <p:nvPr/>
        </p:nvSpPr>
        <p:spPr>
          <a:xfrm>
            <a:off x="6248400" y="3749040"/>
            <a:ext cx="216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番号や記録を自動で残す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Excelを取り込む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755648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ハンズオン① 20分</a:t>
            </a:r>
            <a:endParaRPr lang="en-US" sz="1100" dirty="0"/>
          </a:p>
        </p:txBody>
      </p:sp>
      <p:sp>
        <p:nvSpPr>
          <p:cNvPr id="6" name="step-num"/>
          <p:cNvSpPr/>
          <p:nvPr/>
        </p:nvSpPr>
        <p:spPr>
          <a:xfrm>
            <a:off x="548640" y="1805940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step-num-text"/>
          <p:cNvSpPr txBox="1"/>
          <p:nvPr/>
        </p:nvSpPr>
        <p:spPr>
          <a:xfrm>
            <a:off x="548640" y="1805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tep-text"/>
          <p:cNvSpPr txBox="1"/>
          <p:nvPr/>
        </p:nvSpPr>
        <p:spPr>
          <a:xfrm>
            <a:off x="1097280" y="1696212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BASEを新規作成し、宿題のExcelを取り込む</a:t>
            </a:r>
            <a:endParaRPr lang="en-US" sz="1450" dirty="0"/>
          </a:p>
        </p:txBody>
      </p:sp>
      <p:sp>
        <p:nvSpPr>
          <p:cNvPr id="9" name="step-num"/>
          <p:cNvSpPr/>
          <p:nvPr/>
        </p:nvSpPr>
        <p:spPr>
          <a:xfrm>
            <a:off x="548640" y="2409444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0" name="step-num-text"/>
          <p:cNvSpPr txBox="1"/>
          <p:nvPr/>
        </p:nvSpPr>
        <p:spPr>
          <a:xfrm>
            <a:off x="548640" y="24094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tep-text"/>
          <p:cNvSpPr txBox="1"/>
          <p:nvPr/>
        </p:nvSpPr>
        <p:spPr>
          <a:xfrm>
            <a:off x="1097280" y="229971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各列の「種類」を見直す（日付が文字になっていないか）</a:t>
            </a:r>
            <a:endParaRPr lang="en-US" sz="1450" dirty="0"/>
          </a:p>
        </p:txBody>
      </p:sp>
      <p:sp>
        <p:nvSpPr>
          <p:cNvPr id="12" name="step-num"/>
          <p:cNvSpPr/>
          <p:nvPr/>
        </p:nvSpPr>
        <p:spPr>
          <a:xfrm>
            <a:off x="548640" y="3012948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step-num-text"/>
          <p:cNvSpPr txBox="1"/>
          <p:nvPr/>
        </p:nvSpPr>
        <p:spPr>
          <a:xfrm>
            <a:off x="548640" y="30129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step-text"/>
          <p:cNvSpPr txBox="1"/>
          <p:nvPr/>
        </p:nvSpPr>
        <p:spPr>
          <a:xfrm>
            <a:off x="1097280" y="290322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ステータスなどは単一選択にする</a:t>
            </a:r>
            <a:endParaRPr lang="en-US" sz="1450" dirty="0"/>
          </a:p>
        </p:txBody>
      </p:sp>
      <p:sp>
        <p:nvSpPr>
          <p:cNvPr id="15" name="step-num"/>
          <p:cNvSpPr/>
          <p:nvPr/>
        </p:nvSpPr>
        <p:spPr>
          <a:xfrm>
            <a:off x="548640" y="3616452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step-num-text"/>
          <p:cNvSpPr txBox="1"/>
          <p:nvPr/>
        </p:nvSpPr>
        <p:spPr>
          <a:xfrm>
            <a:off x="548640" y="36164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step-text"/>
          <p:cNvSpPr txBox="1"/>
          <p:nvPr/>
        </p:nvSpPr>
        <p:spPr>
          <a:xfrm>
            <a:off x="1097280" y="350672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主フィールド（いちばん左）を、1件を見分けられる項目にする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テーブルを分ける・つなぐ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34416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説明② 10分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463040"/>
            <a:ext cx="3611880" cy="2468880"/>
          </a:xfrm>
          <a:prstGeom prst="roundRect">
            <a:avLst>
              <a:gd name="adj" fmla="val 4444"/>
            </a:avLst>
          </a:prstGeom>
          <a:solidFill>
            <a:srgbClr val="F4F4F4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16459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分ける前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9456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予約のたびに顧客名・電話番号を書く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同じ人の情報がバラバラに増える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電話番号が変わると全部直す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983480" y="1463040"/>
            <a:ext cx="361188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9050">
            <a:solidFill>
              <a:srgbClr val="DD642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212080" y="16459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分けてリンク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219456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顧客テーブルに1人1件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予約は顧客をリンクで指すだけ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直すのは1か所</a:t>
            </a:r>
            <a:endParaRPr lang="en-US" sz="1300" dirty="0"/>
          </a:p>
        </p:txBody>
      </p:sp>
      <p:sp>
        <p:nvSpPr>
          <p:cNvPr id="12" name="icon-circle"/>
          <p:cNvSpPr/>
          <p:nvPr/>
        </p:nvSpPr>
        <p:spPr>
          <a:xfrm>
            <a:off x="4325112" y="2450592"/>
            <a:ext cx="493776" cy="493776"/>
          </a:xfrm>
          <a:prstGeom prst="ellipse">
            <a:avLst/>
          </a:prstGeom>
          <a:solidFill>
            <a:schemeClr val="accent2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3494" y="2578974"/>
            <a:ext cx="237012" cy="237012"/>
          </a:xfrm>
          <a:prstGeom prst="rect">
            <a:avLst/>
          </a:prstGeom>
        </p:spPr>
      </p:pic>
      <p:sp>
        <p:nvSpPr>
          <p:cNvPr id="14" name="foot-box"/>
          <p:cNvSpPr/>
          <p:nvPr/>
        </p:nvSpPr>
        <p:spPr>
          <a:xfrm>
            <a:off x="548640" y="4114800"/>
            <a:ext cx="80467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5" name="foot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242816"/>
            <a:ext cx="246888" cy="246888"/>
          </a:xfrm>
          <a:prstGeom prst="rect">
            <a:avLst/>
          </a:prstGeom>
        </p:spPr>
      </p:pic>
      <p:sp>
        <p:nvSpPr>
          <p:cNvPr id="16" name="foot-text"/>
          <p:cNvSpPr txBox="1"/>
          <p:nvPr/>
        </p:nvSpPr>
        <p:spPr>
          <a:xfrm>
            <a:off x="1051560" y="41148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迷ったら「その情報は1つか、何度も起きるか」で考える（顧客は1人1件、予約は何度も起きる）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2テーブル以上で設計する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755648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ハンズオン② 20分</a:t>
            </a:r>
            <a:endParaRPr lang="en-US" sz="1100" dirty="0"/>
          </a:p>
        </p:txBody>
      </p:sp>
      <p:sp>
        <p:nvSpPr>
          <p:cNvPr id="6" name="step-num"/>
          <p:cNvSpPr/>
          <p:nvPr/>
        </p:nvSpPr>
        <p:spPr>
          <a:xfrm>
            <a:off x="548640" y="1805940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step-num-text"/>
          <p:cNvSpPr txBox="1"/>
          <p:nvPr/>
        </p:nvSpPr>
        <p:spPr>
          <a:xfrm>
            <a:off x="548640" y="1805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tep-text"/>
          <p:cNvSpPr txBox="1"/>
          <p:nvPr/>
        </p:nvSpPr>
        <p:spPr>
          <a:xfrm>
            <a:off x="1097280" y="1696212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テーブルとフィールドの一覧を作る（プロンプト集 P-03）</a:t>
            </a:r>
            <a:endParaRPr lang="en-US" sz="1450" dirty="0"/>
          </a:p>
        </p:txBody>
      </p:sp>
      <p:sp>
        <p:nvSpPr>
          <p:cNvPr id="9" name="step-num"/>
          <p:cNvSpPr/>
          <p:nvPr/>
        </p:nvSpPr>
        <p:spPr>
          <a:xfrm>
            <a:off x="548640" y="2409444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0" name="step-num-text"/>
          <p:cNvSpPr txBox="1"/>
          <p:nvPr/>
        </p:nvSpPr>
        <p:spPr>
          <a:xfrm>
            <a:off x="548640" y="24094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tep-text"/>
          <p:cNvSpPr txBox="1"/>
          <p:nvPr/>
        </p:nvSpPr>
        <p:spPr>
          <a:xfrm>
            <a:off x="1097280" y="229971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2つ目のテーブルを作り、リンクでつなぐ</a:t>
            </a:r>
            <a:endParaRPr lang="en-US" sz="1450" dirty="0"/>
          </a:p>
        </p:txBody>
      </p:sp>
      <p:sp>
        <p:nvSpPr>
          <p:cNvPr id="12" name="step-num"/>
          <p:cNvSpPr/>
          <p:nvPr/>
        </p:nvSpPr>
        <p:spPr>
          <a:xfrm>
            <a:off x="548640" y="3012948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step-num-text"/>
          <p:cNvSpPr txBox="1"/>
          <p:nvPr/>
        </p:nvSpPr>
        <p:spPr>
          <a:xfrm>
            <a:off x="548640" y="30129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step-text"/>
          <p:cNvSpPr txBox="1"/>
          <p:nvPr/>
        </p:nvSpPr>
        <p:spPr>
          <a:xfrm>
            <a:off x="1097280" y="290322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1件入力し、リンク先から元のテーブルが見えるか確かめる</a:t>
            </a:r>
            <a:endParaRPr lang="en-US" sz="1450" dirty="0"/>
          </a:p>
        </p:txBody>
      </p:sp>
      <p:sp>
        <p:nvSpPr>
          <p:cNvPr id="15" name="step-num"/>
          <p:cNvSpPr/>
          <p:nvPr/>
        </p:nvSpPr>
        <p:spPr>
          <a:xfrm>
            <a:off x="548640" y="3616452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step-num-text"/>
          <p:cNvSpPr txBox="1"/>
          <p:nvPr/>
        </p:nvSpPr>
        <p:spPr>
          <a:xfrm>
            <a:off x="548640" y="36164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step-text"/>
          <p:cNvSpPr txBox="1"/>
          <p:nvPr/>
        </p:nvSpPr>
        <p:spPr>
          <a:xfrm>
            <a:off x="1097280" y="350672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設計をWikiの「02 業務ルール」に貼る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最初に避けたい3つのこと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481328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つまずきやすい点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2529840" cy="2286000"/>
          </a:xfrm>
          <a:prstGeom prst="roundRect">
            <a:avLst>
              <a:gd name="adj" fmla="val 4800"/>
            </a:avLst>
          </a:prstGeom>
          <a:solidFill>
            <a:srgbClr val="FFF1F0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icon-circ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E53935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776679"/>
            <a:ext cx="241402" cy="241402"/>
          </a:xfrm>
          <a:prstGeom prst="rect">
            <a:avLst/>
          </a:prstGeom>
        </p:spPr>
      </p:pic>
      <p:sp>
        <p:nvSpPr>
          <p:cNvPr id="8" name="card-head"/>
          <p:cNvSpPr txBox="1"/>
          <p:nvPr/>
        </p:nvSpPr>
        <p:spPr>
          <a:xfrm>
            <a:off x="731520" y="228600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全部を1テーブルに</a:t>
            </a:r>
            <a:endParaRPr lang="en-US" sz="1500" dirty="0"/>
          </a:p>
        </p:txBody>
      </p:sp>
      <p:sp>
        <p:nvSpPr>
          <p:cNvPr id="9" name="card-body"/>
          <p:cNvSpPr txBox="1"/>
          <p:nvPr/>
        </p:nvSpPr>
        <p:spPr>
          <a:xfrm>
            <a:off x="731520" y="2697480"/>
            <a:ext cx="216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列が50を超えたら分けどき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3307080" y="1463040"/>
            <a:ext cx="2529840" cy="2286000"/>
          </a:xfrm>
          <a:prstGeom prst="roundRect">
            <a:avLst>
              <a:gd name="adj" fmla="val 4800"/>
            </a:avLst>
          </a:prstGeom>
          <a:solidFill>
            <a:srgbClr val="FFF1F0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icon-circle"/>
          <p:cNvSpPr/>
          <p:nvPr/>
        </p:nvSpPr>
        <p:spPr>
          <a:xfrm>
            <a:off x="3489960" y="1645920"/>
            <a:ext cx="502920" cy="502920"/>
          </a:xfrm>
          <a:prstGeom prst="ellipse">
            <a:avLst/>
          </a:prstGeom>
          <a:solidFill>
            <a:srgbClr val="E53935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719" y="1776679"/>
            <a:ext cx="241402" cy="241402"/>
          </a:xfrm>
          <a:prstGeom prst="rect">
            <a:avLst/>
          </a:prstGeom>
        </p:spPr>
      </p:pic>
      <p:sp>
        <p:nvSpPr>
          <p:cNvPr id="13" name="card-head"/>
          <p:cNvSpPr txBox="1"/>
          <p:nvPr/>
        </p:nvSpPr>
        <p:spPr>
          <a:xfrm>
            <a:off x="3489960" y="228600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選択肢を自由入力に</a:t>
            </a:r>
            <a:endParaRPr lang="en-US" sz="1500" dirty="0"/>
          </a:p>
        </p:txBody>
      </p:sp>
      <p:sp>
        <p:nvSpPr>
          <p:cNvPr id="14" name="card-body"/>
          <p:cNvSpPr txBox="1"/>
          <p:nvPr/>
        </p:nvSpPr>
        <p:spPr>
          <a:xfrm>
            <a:off x="3489960" y="2697480"/>
            <a:ext cx="216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表記ゆれで集計できなくなる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6065520" y="1463040"/>
            <a:ext cx="2529840" cy="2286000"/>
          </a:xfrm>
          <a:prstGeom prst="roundRect">
            <a:avLst>
              <a:gd name="adj" fmla="val 4800"/>
            </a:avLst>
          </a:prstGeom>
          <a:solidFill>
            <a:srgbClr val="FFF1F0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icon-circle"/>
          <p:cNvSpPr/>
          <p:nvPr/>
        </p:nvSpPr>
        <p:spPr>
          <a:xfrm>
            <a:off x="6248400" y="1645920"/>
            <a:ext cx="502920" cy="502920"/>
          </a:xfrm>
          <a:prstGeom prst="ellipse">
            <a:avLst/>
          </a:prstGeom>
          <a:solidFill>
            <a:srgbClr val="E53935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159" y="1776679"/>
            <a:ext cx="241402" cy="241402"/>
          </a:xfrm>
          <a:prstGeom prst="rect">
            <a:avLst/>
          </a:prstGeom>
        </p:spPr>
      </p:pic>
      <p:sp>
        <p:nvSpPr>
          <p:cNvPr id="18" name="card-head"/>
          <p:cNvSpPr txBox="1"/>
          <p:nvPr/>
        </p:nvSpPr>
        <p:spPr>
          <a:xfrm>
            <a:off x="6248400" y="228600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名前を後から変える</a:t>
            </a:r>
            <a:endParaRPr lang="en-US" sz="1500" dirty="0"/>
          </a:p>
        </p:txBody>
      </p:sp>
      <p:sp>
        <p:nvSpPr>
          <p:cNvPr id="19" name="card-body"/>
          <p:cNvSpPr txBox="1"/>
          <p:nvPr/>
        </p:nvSpPr>
        <p:spPr>
          <a:xfrm>
            <a:off x="6248400" y="2697480"/>
            <a:ext cx="216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自動化やAPIに影響する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宿題と、今日のチェック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79552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まとめ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388620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icon-circle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宿題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86000"/>
            <a:ext cx="3474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ダミーデータを20件入れる（AIに「架空の予約データを20件、表形式で」と頼んでよい）</a:t>
            </a:r>
            <a:endParaRPr lang="en-US" sz="1350" dirty="0"/>
          </a:p>
        </p:txBody>
      </p:sp>
      <p:sp>
        <p:nvSpPr>
          <p:cNvPr id="10" name="card"/>
          <p:cNvSpPr/>
          <p:nvPr/>
        </p:nvSpPr>
        <p:spPr>
          <a:xfrm>
            <a:off x="4709160" y="1463040"/>
            <a:ext cx="388620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icon-circle"/>
          <p:cNvSpPr/>
          <p:nvPr/>
        </p:nvSpPr>
        <p:spPr>
          <a:xfrm>
            <a:off x="4937760" y="1645920"/>
            <a:ext cx="457200" cy="45720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76479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3212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できたらチェック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2286000"/>
            <a:ext cx="3474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フィールドの種類を目的に合わせて選べた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2つのテーブルをリンクでつなげた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次回：第5回 フォーム・ビュー・ダッシュボード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わからないところは、講座グループでいつでも質問してください。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APIキーやパスワードは送らないでください。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aberu">
  <a:themeElements>
    <a:clrScheme name="Manaberu">
      <a:dk1>
        <a:srgbClr val="1A1A1A"/>
      </a:dk1>
      <a:lt1>
        <a:srgbClr val="FFFFFF"/>
      </a:lt1>
      <a:dk2>
        <a:srgbClr val="5A6872"/>
      </a:dk2>
      <a:lt2>
        <a:srgbClr val="FFF6CC"/>
      </a:lt2>
      <a:accent1>
        <a:srgbClr val="FFD600"/>
      </a:accent1>
      <a:accent2>
        <a:srgbClr val="DD6420"/>
      </a:accent2>
      <a:accent3>
        <a:srgbClr val="3370FF"/>
      </a:accent3>
      <a:accent4>
        <a:srgbClr val="06C755"/>
      </a:accent4>
      <a:accent5>
        <a:srgbClr val="E53935"/>
      </a:accent5>
      <a:accent6>
        <a:srgbClr val="F5A623"/>
      </a:accent6>
      <a:hlink>
        <a:srgbClr val="3370FF"/>
      </a:hlink>
      <a:folHlink>
        <a:srgbClr val="6B4FBB"/>
      </a:folHlink>
    </a:clrScheme>
    <a:fontScheme name="Manaberu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ささエール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マナベル 第4回 BASEでデータの入れ物を設計する</dc:title>
  <dc:subject>PptxGenJS Presentation</dc:subject>
  <dc:creator>ささエール（Office Plata）</dc:creator>
  <cp:lastModifiedBy>ささエール（Office Plata）</cp:lastModifiedBy>
  <cp:revision>1</cp:revision>
  <dcterms:created xsi:type="dcterms:W3CDTF">2026-10-02T10:43:47Z</dcterms:created>
  <dcterms:modified xsi:type="dcterms:W3CDTF">2026-10-02T10:43:47Z</dcterms:modified>
</cp:coreProperties>
</file>