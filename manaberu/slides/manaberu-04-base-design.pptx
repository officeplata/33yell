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ec8f83f0-dd88-c63a-ec86-8f8da303511f}">
          <p14:sldIdLst>
            <p14:sldId id="256"/>
            <p14:sldId id="257"/>
          </p14:sldIdLst>
        </p14:section>
        <p14:section name="本編" id="{43eb2a99-a658-ed48-79e1-a261a8aa2d2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まとめ" id="{646ce9e8-17bb-d2e8-2039-acce961708a4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第4回「BASEでデータの入れ物を設計する」。前回の宿題の提出状況を確認してから始める。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Excelの表とBASEを並べて見せる。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選択肢は必ず単一選択に、を強調。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紙の帳票しかない人は、AIに表に起こしてもらってから取り込む。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共通サンプルの顧客／予約で実演する。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フィールド名は後で変えるとAPI（第9回）に響くので、今日決める。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754880"/>
            <a:ext cx="2423160" cy="274320"/>
          </a:xfrm>
          <a:prstGeom prst="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6510528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ささエール｜OFFICE PLATA</a:t>
            </a:r>
            <a:endParaRPr lang="ja-JP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マナベル　第4回　BASEでデータの入れ物を設計する</a:t>
            </a:r>
            <a:endParaRPr lang="ja-JP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411480"/>
            <a:ext cx="1600200" cy="60350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第4回</a:t>
            </a:r>
            <a:endParaRPr lang="ja-JP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ja-JP" altLang="en-US" sz="2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BASEでデータの入れ物を設計する</a:t>
            </a:r>
            <a:endParaRPr lang="ja-JP" sz="2800" dirty="0"/>
          </a:p>
        </p:txBody>
      </p:sp>
      <p:sp>
        <p:nvSpPr>
          <p:cNvPr id="5" name="Text 2"/>
          <p:cNvSpPr txBox="1"/>
          <p:nvPr/>
        </p:nvSpPr>
        <p:spPr>
          <a:xfrm rot="-120000">
            <a:off x="457200" y="2971800"/>
            <a:ext cx="49377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フェーズ2 Larkで組む｜第2週</a:t>
            </a:r>
            <a:endParaRPr lang="ja-JP" sz="1600" dirty="0"/>
          </a:p>
        </p:txBody>
      </p:sp>
      <p:sp>
        <p:nvSpPr>
          <p:cNvPr id="6" name="card"/>
          <p:cNvSpPr/>
          <p:nvPr/>
        </p:nvSpPr>
        <p:spPr>
          <a:xfrm>
            <a:off x="457200" y="3730752"/>
            <a:ext cx="493776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8368" y="37673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マナベル｜AI×Lark 構築者育成講座</a:t>
            </a:r>
            <a:endParaRPr lang="ja-JP" sz="15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 ／ OFFICE PLATA　笹原 彰朗</a:t>
            </a:r>
            <a:endParaRPr lang="ja-JP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はじめに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今日のゴールと流れ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685800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82496"/>
            <a:ext cx="219456" cy="219456"/>
          </a:xfrm>
          <a:prstGeom prst="rect">
            <a:avLst/>
          </a:prstGeom>
        </p:spPr>
      </p:pic>
      <p:sp>
        <p:nvSpPr>
          <p:cNvPr id="7" name="goal"/>
          <p:cNvSpPr txBox="1"/>
          <p:nvPr/>
        </p:nvSpPr>
        <p:spPr>
          <a:xfrm>
            <a:off x="1252728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テーブル・フィールド・レコードの意味がわかる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4700016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882896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682496"/>
            <a:ext cx="219456" cy="219456"/>
          </a:xfrm>
          <a:prstGeom prst="rect">
            <a:avLst/>
          </a:prstGeom>
        </p:spPr>
      </p:pic>
      <p:sp>
        <p:nvSpPr>
          <p:cNvPr id="11" name="goal"/>
          <p:cNvSpPr txBox="1"/>
          <p:nvPr/>
        </p:nvSpPr>
        <p:spPr>
          <a:xfrm>
            <a:off x="5449824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自社用のBASE（2テーブル以上・リンクあり）を作る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 rot="-120000">
            <a:off x="457200" y="2907792"/>
            <a:ext cx="191566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今日の流れ（90分）</a:t>
            </a:r>
            <a:endParaRPr lang="ja-JP" sz="1100" dirty="0"/>
          </a:p>
        </p:txBody>
      </p:sp>
      <p:sp>
        <p:nvSpPr>
          <p:cNvPr id="13" name="Shape 9"/>
          <p:cNvSpPr/>
          <p:nvPr/>
        </p:nvSpPr>
        <p:spPr>
          <a:xfrm>
            <a:off x="502920" y="3364992"/>
            <a:ext cx="813816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ime-block"/>
          <p:cNvSpPr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ふりかえり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6" name="time-block"/>
          <p:cNvSpPr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8" name="time-block"/>
          <p:cNvSpPr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0" name="time-block"/>
          <p:cNvSpPr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22" name="time-block"/>
          <p:cNvSpPr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4" name="time-block"/>
          <p:cNvSpPr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質問・共有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15分</a:t>
            </a:r>
            <a:endParaRPr lang="ja-JP" sz="1050" dirty="0"/>
          </a:p>
        </p:txBody>
      </p:sp>
      <p:sp>
        <p:nvSpPr>
          <p:cNvPr id="26" name="time-block"/>
          <p:cNvSpPr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8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宿題</a:t>
            </a:r>
            <a:endParaRPr lang="ja-JP" sz="8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5分</a:t>
            </a:r>
            <a:endParaRPr lang="ja-JP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　</a:t>
            </a:r>
            <a:pPr indent="0" marL="0">
              <a:buNone/>
            </a:pPr>
            <a:r>
              <a:rPr lang="ja-JP" altLang="en-US" sz="10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手を動かす</a:t>
            </a:r>
            <a:endParaRPr lang="ja-JP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BASEの言葉をたとえで覚える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2351024"/>
                <a:gridCol w="415950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用語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たとえ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例（まなべ食堂）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BASE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台帳のファイル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まなべ食堂 台帳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テーブル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台帳の中の1冊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顧客／予約／弁当注文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フィールド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列（項目）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来店日時、人数、ステータス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レコード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行（1件分）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山田さんの10/10の予約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 rot="-60000">
            <a:off x="502920" y="41148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Excelとの違い：フィールドに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「種類」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がある／テーブル同士をリンクできる／自動化できる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よく使うフィールドの種類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17320"/>
            <a:ext cx="2542032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2066544" cy="329184"/>
          </a:xfrm>
          <a:prstGeom prst="roundRect">
            <a:avLst>
              <a:gd name="adj" fmla="val 16667"/>
            </a:avLst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テキスト・数値・日付</a:t>
            </a:r>
            <a:endParaRPr lang="ja-JP" sz="1300" dirty="0"/>
          </a:p>
        </p:txBody>
      </p:sp>
      <p:sp>
        <p:nvSpPr>
          <p:cNvPr id="7" name="card-body"/>
          <p:cNvSpPr txBox="1"/>
          <p:nvPr/>
        </p:nvSpPr>
        <p:spPr>
          <a:xfrm>
            <a:off x="704088" y="2075688"/>
            <a:ext cx="21396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名前、個数、予約日</a:t>
            </a:r>
            <a:endParaRPr lang="ja-JP" sz="1350" dirty="0"/>
          </a:p>
        </p:txBody>
      </p:sp>
      <p:sp>
        <p:nvSpPr>
          <p:cNvPr id="8" name="card"/>
          <p:cNvSpPr/>
          <p:nvPr/>
        </p:nvSpPr>
        <p:spPr>
          <a:xfrm>
            <a:off x="3300984" y="1417320"/>
            <a:ext cx="2542032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483864" y="1600200"/>
            <a:ext cx="1892808" cy="329184"/>
          </a:xfrm>
          <a:prstGeom prst="roundRect">
            <a:avLst>
              <a:gd name="adj" fmla="val 16667"/>
            </a:avLst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単一選択・複数選択</a:t>
            </a:r>
            <a:endParaRPr lang="ja-JP" sz="1300" dirty="0"/>
          </a:p>
        </p:txBody>
      </p:sp>
      <p:sp>
        <p:nvSpPr>
          <p:cNvPr id="10" name="card-body"/>
          <p:cNvSpPr txBox="1"/>
          <p:nvPr/>
        </p:nvSpPr>
        <p:spPr>
          <a:xfrm>
            <a:off x="3502152" y="2075688"/>
            <a:ext cx="21396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ステータス、分類</a:t>
            </a:r>
            <a:endParaRPr lang="ja-JP" sz="1350" dirty="0"/>
          </a:p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表記ゆれを防ぐ</a:t>
            </a:r>
            <a:endParaRPr lang="ja-JP" sz="1350" dirty="0"/>
          </a:p>
        </p:txBody>
      </p:sp>
      <p:sp>
        <p:nvSpPr>
          <p:cNvPr id="11" name="card"/>
          <p:cNvSpPr/>
          <p:nvPr/>
        </p:nvSpPr>
        <p:spPr>
          <a:xfrm>
            <a:off x="6099048" y="1417320"/>
            <a:ext cx="2542032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281928" y="1600200"/>
            <a:ext cx="1024128" cy="329184"/>
          </a:xfrm>
          <a:prstGeom prst="roundRect">
            <a:avLst>
              <a:gd name="adj" fmla="val 16667"/>
            </a:avLst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ユーザー</a:t>
            </a:r>
            <a:endParaRPr lang="ja-JP" sz="1300" dirty="0"/>
          </a:p>
        </p:txBody>
      </p:sp>
      <p:sp>
        <p:nvSpPr>
          <p:cNvPr id="13" name="card-body"/>
          <p:cNvSpPr txBox="1"/>
          <p:nvPr/>
        </p:nvSpPr>
        <p:spPr>
          <a:xfrm>
            <a:off x="6300216" y="2075688"/>
            <a:ext cx="21396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担当者</a:t>
            </a:r>
            <a:endParaRPr lang="ja-JP" sz="1350" dirty="0"/>
          </a:p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通知先にもなる</a:t>
            </a:r>
            <a:endParaRPr lang="ja-JP" sz="1350" dirty="0"/>
          </a:p>
        </p:txBody>
      </p:sp>
      <p:sp>
        <p:nvSpPr>
          <p:cNvPr id="14" name="card"/>
          <p:cNvSpPr/>
          <p:nvPr/>
        </p:nvSpPr>
        <p:spPr>
          <a:xfrm>
            <a:off x="502920" y="3099816"/>
            <a:ext cx="2542032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85800" y="3282696"/>
            <a:ext cx="850392" cy="329184"/>
          </a:xfrm>
          <a:prstGeom prst="roundRect">
            <a:avLst>
              <a:gd name="adj" fmla="val 16667"/>
            </a:avLst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リンク</a:t>
            </a:r>
            <a:endParaRPr lang="ja-JP" sz="1300" dirty="0"/>
          </a:p>
        </p:txBody>
      </p:sp>
      <p:sp>
        <p:nvSpPr>
          <p:cNvPr id="16" name="card-body"/>
          <p:cNvSpPr txBox="1"/>
          <p:nvPr/>
        </p:nvSpPr>
        <p:spPr>
          <a:xfrm>
            <a:off x="704088" y="3758184"/>
            <a:ext cx="21396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別テーブルの1件を指す</a:t>
            </a:r>
            <a:endParaRPr lang="ja-JP" sz="1350" dirty="0"/>
          </a:p>
        </p:txBody>
      </p:sp>
      <p:sp>
        <p:nvSpPr>
          <p:cNvPr id="17" name="card"/>
          <p:cNvSpPr/>
          <p:nvPr/>
        </p:nvSpPr>
        <p:spPr>
          <a:xfrm>
            <a:off x="3300984" y="3099816"/>
            <a:ext cx="2542032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483864" y="3282696"/>
            <a:ext cx="676656" cy="329184"/>
          </a:xfrm>
          <a:prstGeom prst="roundRect">
            <a:avLst>
              <a:gd name="adj" fmla="val 16667"/>
            </a:avLst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数式</a:t>
            </a:r>
            <a:endParaRPr lang="ja-JP" sz="1300" dirty="0"/>
          </a:p>
        </p:txBody>
      </p:sp>
      <p:sp>
        <p:nvSpPr>
          <p:cNvPr id="19" name="card-body"/>
          <p:cNvSpPr txBox="1"/>
          <p:nvPr/>
        </p:nvSpPr>
        <p:spPr>
          <a:xfrm>
            <a:off x="3502152" y="3758184"/>
            <a:ext cx="21396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金額＝個数×単価</a:t>
            </a:r>
            <a:endParaRPr lang="ja-JP" sz="1350" dirty="0"/>
          </a:p>
        </p:txBody>
      </p:sp>
      <p:sp>
        <p:nvSpPr>
          <p:cNvPr id="20" name="card"/>
          <p:cNvSpPr/>
          <p:nvPr/>
        </p:nvSpPr>
        <p:spPr>
          <a:xfrm>
            <a:off x="6099048" y="3099816"/>
            <a:ext cx="2542032" cy="1426464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81928" y="3282696"/>
            <a:ext cx="1892808" cy="329184"/>
          </a:xfrm>
          <a:prstGeom prst="roundRect">
            <a:avLst>
              <a:gd name="adj" fmla="val 16667"/>
            </a:avLst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自動採番・作成日時</a:t>
            </a:r>
            <a:endParaRPr lang="ja-JP" sz="1300" dirty="0"/>
          </a:p>
        </p:txBody>
      </p:sp>
      <p:sp>
        <p:nvSpPr>
          <p:cNvPr id="22" name="card-body"/>
          <p:cNvSpPr txBox="1"/>
          <p:nvPr/>
        </p:nvSpPr>
        <p:spPr>
          <a:xfrm>
            <a:off x="6300216" y="3758184"/>
            <a:ext cx="21396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番号や記録を自動で残す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ハンズオン①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Excelを取り込む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0020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68249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60020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BASEを新規作成し、宿題のExcelを取り込む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295144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295144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各列の「種類」を見直す（日付が文字になっていないか）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990088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3072384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990088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ステータスなどは単一選択にする</a:t>
            </a:r>
            <a:endParaRPr lang="ja-JP" sz="1400" dirty="0"/>
          </a:p>
        </p:txBody>
      </p:sp>
      <p:sp>
        <p:nvSpPr>
          <p:cNvPr id="14" name="card"/>
          <p:cNvSpPr/>
          <p:nvPr/>
        </p:nvSpPr>
        <p:spPr>
          <a:xfrm>
            <a:off x="502920" y="368503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6" name="step-text"/>
          <p:cNvSpPr txBox="1"/>
          <p:nvPr/>
        </p:nvSpPr>
        <p:spPr>
          <a:xfrm>
            <a:off x="1234440" y="368503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主フィールド（いちばん左）を、1件を見分けられる項目にする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説明②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テーブルを分ける・つなぐ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173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04088" y="1618488"/>
            <a:ext cx="1024128" cy="329184"/>
          </a:xfrm>
          <a:prstGeom prst="roundRect">
            <a:avLst>
              <a:gd name="adj" fmla="val 16667"/>
            </a:avLst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分ける前</a:t>
            </a:r>
            <a:endParaRPr lang="ja-JP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30552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予約のたびに顧客名・電話番号を書く</a:t>
            </a:r>
            <a:endParaRPr lang="ja-JP" sz="13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同じ人の情報がバラバラに増える</a:t>
            </a:r>
            <a:endParaRPr lang="ja-JP" sz="13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電話番号が変わると全部直す</a:t>
            </a:r>
            <a:endParaRPr lang="ja-JP" sz="1350" dirty="0"/>
          </a:p>
        </p:txBody>
      </p:sp>
      <p:sp>
        <p:nvSpPr>
          <p:cNvPr id="8" name="card"/>
          <p:cNvSpPr/>
          <p:nvPr/>
        </p:nvSpPr>
        <p:spPr>
          <a:xfrm>
            <a:off x="5029200" y="14173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230368" y="161848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分けてリンク</a:t>
            </a:r>
            <a:endParaRPr lang="ja-JP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257800" y="2130552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顧客テーブルに1人1件</a:t>
            </a:r>
            <a:endParaRPr lang="ja-JP" sz="13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予約は顧客をリンクで指すだけ</a:t>
            </a:r>
            <a:endParaRPr lang="ja-JP" sz="13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直すのは1か所</a:t>
            </a:r>
            <a:endParaRPr lang="ja-JP" sz="1350" dirty="0"/>
          </a:p>
        </p:txBody>
      </p:sp>
      <p:sp>
        <p:nvSpPr>
          <p:cNvPr id="11" name="icon-circle"/>
          <p:cNvSpPr/>
          <p:nvPr/>
        </p:nvSpPr>
        <p:spPr>
          <a:xfrm>
            <a:off x="4325112" y="2382012"/>
            <a:ext cx="493776" cy="49377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556" y="2505456"/>
            <a:ext cx="246888" cy="246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 rot="-60000">
            <a:off x="502920" y="41148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迷ったら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「その情報は1つか、何度も起きるか」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で考える（顧客は1人1件、予約は何度も起きる）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ハンズオン②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2テーブル以上で設計する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0020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68249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60020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テーブルとフィールドの一覧を作る（プロンプト集 P-03）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295144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295144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2つ目のテーブルを作り、リンクでつなぐ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990088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3072384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990088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1件入力し、リンク先から元のテーブルが見えるか確かめる</a:t>
            </a:r>
            <a:endParaRPr lang="ja-JP" sz="1400" dirty="0"/>
          </a:p>
        </p:txBody>
      </p:sp>
      <p:sp>
        <p:nvSpPr>
          <p:cNvPr id="14" name="card"/>
          <p:cNvSpPr/>
          <p:nvPr/>
        </p:nvSpPr>
        <p:spPr>
          <a:xfrm>
            <a:off x="502920" y="368503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6" name="step-text"/>
          <p:cNvSpPr txBox="1"/>
          <p:nvPr/>
        </p:nvSpPr>
        <p:spPr>
          <a:xfrm>
            <a:off x="1234440" y="368503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設計をWikiの「02 業務ルール」に貼る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623974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つまずきやすい点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最初に避けたい3つのこと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5564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25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全部を1テーブルに</a:t>
            </a:r>
            <a:endParaRPr lang="ja-JP" sz="1250" dirty="0"/>
          </a:p>
        </p:txBody>
      </p:sp>
      <p:sp>
        <p:nvSpPr>
          <p:cNvPr id="8" name="card-body"/>
          <p:cNvSpPr txBox="1"/>
          <p:nvPr/>
        </p:nvSpPr>
        <p:spPr>
          <a:xfrm>
            <a:off x="704088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列が50を超えたら分けどき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3300984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502152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75564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69664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25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選択肢を自由入力に</a:t>
            </a:r>
            <a:endParaRPr lang="ja-JP" sz="1250" dirty="0"/>
          </a:p>
        </p:txBody>
      </p:sp>
      <p:sp>
        <p:nvSpPr>
          <p:cNvPr id="13" name="card-body"/>
          <p:cNvSpPr txBox="1"/>
          <p:nvPr/>
        </p:nvSpPr>
        <p:spPr>
          <a:xfrm>
            <a:off x="3502152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表記ゆれで集計できなくなる</a:t>
            </a:r>
            <a:endParaRPr lang="ja-JP" sz="1350" dirty="0"/>
          </a:p>
        </p:txBody>
      </p:sp>
      <p:sp>
        <p:nvSpPr>
          <p:cNvPr id="14" name="card"/>
          <p:cNvSpPr/>
          <p:nvPr/>
        </p:nvSpPr>
        <p:spPr>
          <a:xfrm>
            <a:off x="6099048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6300216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5564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67728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25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名前を後から変える</a:t>
            </a:r>
            <a:endParaRPr lang="ja-JP" sz="1250" dirty="0"/>
          </a:p>
        </p:txBody>
      </p:sp>
      <p:sp>
        <p:nvSpPr>
          <p:cNvPr id="18" name="card-body"/>
          <p:cNvSpPr txBox="1"/>
          <p:nvPr/>
        </p:nvSpPr>
        <p:spPr>
          <a:xfrm>
            <a:off x="6300216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自動化やAPIに影響する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894740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まとめ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宿題と、今日のチェック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</a:t>
            </a:r>
            <a:endParaRPr lang="ja-JP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ダミーデータを20件入れる（AIに「架空の予約データを20件、表形式で」と頼んでよい）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91032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17145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できたらチェック</a:t>
            </a:r>
            <a:endParaRPr lang="ja-JP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フィールドの種類を目的に合わせて選べた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2つのテーブルをリンクでつなげた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548640"/>
            <a:ext cx="1280160" cy="54864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0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次回</a:t>
            </a:r>
            <a:endParaRPr lang="ja-JP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第5回</a:t>
            </a:r>
            <a:endParaRPr lang="ja-JP" sz="2600" dirty="0"/>
          </a:p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フォーム・ビュー・ダッシュボード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457200" y="3108960"/>
            <a:ext cx="53949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32004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わからないところは、講座グループでいつでも質問してください。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APIキーやパスワードは送らないでください。</a:t>
            </a:r>
            <a:endParaRPr lang="ja-JP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saYell">
  <a:themeElements>
    <a:clrScheme name="SasaYell">
      <a:dk1>
        <a:srgbClr val="1A1A1A"/>
      </a:dk1>
      <a:lt1>
        <a:srgbClr val="FFFFFF"/>
      </a:lt1>
      <a:dk2>
        <a:srgbClr val="1A1A1A"/>
      </a:dk2>
      <a:lt2>
        <a:srgbClr val="FFD600"/>
      </a:lt2>
      <a:accent1>
        <a:srgbClr val="FFD600"/>
      </a:accent1>
      <a:accent2>
        <a:srgbClr val="DD6420"/>
      </a:accent2>
      <a:accent3>
        <a:srgbClr val="F5A623"/>
      </a:accent3>
      <a:accent4>
        <a:srgbClr val="1A1A1A"/>
      </a:accent4>
      <a:accent5>
        <a:srgbClr val="FFFFFF"/>
      </a:accent5>
      <a:accent6>
        <a:srgbClr val="DD6420"/>
      </a:accent6>
      <a:hlink>
        <a:srgbClr val="DD6420"/>
      </a:hlink>
      <a:folHlink>
        <a:srgbClr val="F5A623"/>
      </a:folHlink>
    </a:clrScheme>
    <a:fontScheme name="SasaYell">
      <a:majorFont>
        <a:latin typeface="Dela Gothic One"/>
        <a:ea typeface="けいふぉんと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第4回 BASEでデータの入れ物を設計する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2026-10-08T07:08:41Z</dcterms:created>
  <dcterms:modified xsi:type="dcterms:W3CDTF">2026-10-08T07:08:41Z</dcterms:modified>
</cp:coreProperties>
</file>