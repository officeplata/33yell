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f68bfd82-8ad7-3a19-b8bf-d83aaa08bdb3}">
          <p14:sldIdLst>
            <p14:sldId id="256"/>
            <p14:sldId id="257"/>
          </p14:sldIdLst>
        </p14:section>
        <p14:section name="本編" id="{2ce7462e-1a7c-f569-2dc3-b75f309c9c7a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まとめ" id="{4245bf97-e9d3-da06-4ddf-8149d3d1da9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第2回「AIと話す型を身につける」。前回の宿題の提出状況を確認してから始める。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ゴールを読み上げ、今日は「聞く」と「手を動かす」を交互に進めることを伝える。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AIの間違いの実例を1つ見せると伝わりやすい。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4文字を声に出して覚えてもらう。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比較結果を1〜2名に共有してもらう。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出てきた答えは「現場の人が読んでわかるか」で確かめる。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質問が10問を超えて長引く人には、いったん打ち切らせる。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以降の回でも毎回くり返す約束。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宿題の目安時間を伝える。質問は講座グループへ（24時間以内に返信・土日祝を除く）。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次回までの宿題をもう一度確認して終了。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MANA_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MANA_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4754880"/>
            <a:ext cx="2423160" cy="274320"/>
          </a:xfrm>
          <a:prstGeom prst="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6510528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ささエール｜OFFICE PLATA</a:t>
            </a:r>
            <a:endParaRPr lang="ja-JP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754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A1A1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マナベル　第2回　AIと話す型を身につける</a:t>
            </a:r>
            <a:endParaRPr lang="ja-JP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rait" descr="講師 笹原彰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588" y="1211580"/>
            <a:ext cx="2866092" cy="3931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 rot="-240000">
            <a:off x="457200" y="411480"/>
            <a:ext cx="1600200" cy="60350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200" dirty="0">
                <a:solidFill>
                  <a:srgbClr val="FFD60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第2回</a:t>
            </a:r>
            <a:endParaRPr lang="ja-JP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ja-JP" altLang="en-US" sz="38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AIと話す型を身につける</a:t>
            </a:r>
            <a:endParaRPr lang="ja-JP" sz="3800" dirty="0"/>
          </a:p>
        </p:txBody>
      </p:sp>
      <p:sp>
        <p:nvSpPr>
          <p:cNvPr id="5" name="Text 2"/>
          <p:cNvSpPr txBox="1"/>
          <p:nvPr/>
        </p:nvSpPr>
        <p:spPr>
          <a:xfrm rot="-120000">
            <a:off x="457200" y="2971800"/>
            <a:ext cx="49377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フェーズ1 土台をつくる｜第1週</a:t>
            </a:r>
            <a:endParaRPr lang="ja-JP" sz="1600" dirty="0"/>
          </a:p>
        </p:txBody>
      </p:sp>
      <p:sp>
        <p:nvSpPr>
          <p:cNvPr id="6" name="card"/>
          <p:cNvSpPr/>
          <p:nvPr/>
        </p:nvSpPr>
        <p:spPr>
          <a:xfrm>
            <a:off x="457200" y="3730752"/>
            <a:ext cx="49377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" y="37673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マナベル｜AI×Lark 構築者育成講座</a:t>
            </a:r>
            <a:endParaRPr lang="ja-JP" sz="15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DD642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ささエール ／ OFFICE PLATA　笹原 彰朗</a:t>
            </a:r>
            <a:endParaRPr lang="ja-JP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040587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はじめに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今日のゴールと流れ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371600"/>
            <a:ext cx="394106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685800" y="1572768"/>
            <a:ext cx="438912" cy="438912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82496"/>
            <a:ext cx="219456" cy="219456"/>
          </a:xfrm>
          <a:prstGeom prst="rect">
            <a:avLst/>
          </a:prstGeom>
        </p:spPr>
      </p:pic>
      <p:sp>
        <p:nvSpPr>
          <p:cNvPr id="7" name="goal"/>
          <p:cNvSpPr txBox="1"/>
          <p:nvPr/>
        </p:nvSpPr>
        <p:spPr>
          <a:xfrm>
            <a:off x="1252728" y="1463040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頼み方の「型」で、欲しい答えを引き出せる</a:t>
            </a:r>
            <a:endParaRPr lang="ja-JP" sz="1400" dirty="0"/>
          </a:p>
        </p:txBody>
      </p:sp>
      <p:sp>
        <p:nvSpPr>
          <p:cNvPr id="8" name="card"/>
          <p:cNvSpPr/>
          <p:nvPr/>
        </p:nvSpPr>
        <p:spPr>
          <a:xfrm>
            <a:off x="4700016" y="1371600"/>
            <a:ext cx="394106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4882896" y="1572768"/>
            <a:ext cx="438912" cy="438912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682496"/>
            <a:ext cx="219456" cy="219456"/>
          </a:xfrm>
          <a:prstGeom prst="rect">
            <a:avLst/>
          </a:prstGeom>
        </p:spPr>
      </p:pic>
      <p:sp>
        <p:nvSpPr>
          <p:cNvPr id="11" name="goal"/>
          <p:cNvSpPr txBox="1"/>
          <p:nvPr/>
        </p:nvSpPr>
        <p:spPr>
          <a:xfrm>
            <a:off x="5449824" y="1463040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AIと壁打ちして「作りたいもの設計シート」を完成させる</a:t>
            </a:r>
            <a:endParaRPr lang="ja-JP" sz="1400" dirty="0"/>
          </a:p>
        </p:txBody>
      </p:sp>
      <p:sp>
        <p:nvSpPr>
          <p:cNvPr id="12" name="Text 8"/>
          <p:cNvSpPr txBox="1"/>
          <p:nvPr/>
        </p:nvSpPr>
        <p:spPr>
          <a:xfrm rot="-120000">
            <a:off x="457200" y="2907792"/>
            <a:ext cx="191566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今日の流れ（90分）</a:t>
            </a:r>
            <a:endParaRPr lang="ja-JP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3364992"/>
            <a:ext cx="813816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4" name="time-block"/>
          <p:cNvSpPr/>
          <p:nvPr/>
        </p:nvSpPr>
        <p:spPr>
          <a:xfrm>
            <a:off x="502920" y="3364992"/>
            <a:ext cx="9042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ime-label"/>
          <p:cNvSpPr txBox="1"/>
          <p:nvPr/>
        </p:nvSpPr>
        <p:spPr>
          <a:xfrm>
            <a:off x="502920" y="3364992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ふりかえり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</a:t>
            </a:r>
            <a:endParaRPr lang="ja-JP" sz="1050" dirty="0"/>
          </a:p>
        </p:txBody>
      </p:sp>
      <p:sp>
        <p:nvSpPr>
          <p:cNvPr id="16" name="time-block"/>
          <p:cNvSpPr/>
          <p:nvPr/>
        </p:nvSpPr>
        <p:spPr>
          <a:xfrm>
            <a:off x="1407160" y="3364992"/>
            <a:ext cx="9042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ime-label"/>
          <p:cNvSpPr txBox="1"/>
          <p:nvPr/>
        </p:nvSpPr>
        <p:spPr>
          <a:xfrm>
            <a:off x="1407160" y="3364992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説明①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</a:t>
            </a:r>
            <a:endParaRPr lang="ja-JP" sz="1050" dirty="0"/>
          </a:p>
        </p:txBody>
      </p:sp>
      <p:sp>
        <p:nvSpPr>
          <p:cNvPr id="18" name="time-block"/>
          <p:cNvSpPr/>
          <p:nvPr/>
        </p:nvSpPr>
        <p:spPr>
          <a:xfrm>
            <a:off x="2311400" y="3364992"/>
            <a:ext cx="180848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me-label"/>
          <p:cNvSpPr txBox="1"/>
          <p:nvPr/>
        </p:nvSpPr>
        <p:spPr>
          <a:xfrm>
            <a:off x="2311400" y="3364992"/>
            <a:ext cx="180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ハンズオン①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20分</a:t>
            </a:r>
            <a:endParaRPr lang="ja-JP" sz="1050" dirty="0"/>
          </a:p>
        </p:txBody>
      </p:sp>
      <p:sp>
        <p:nvSpPr>
          <p:cNvPr id="20" name="time-block"/>
          <p:cNvSpPr/>
          <p:nvPr/>
        </p:nvSpPr>
        <p:spPr>
          <a:xfrm>
            <a:off x="4119880" y="3364992"/>
            <a:ext cx="9042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ime-label"/>
          <p:cNvSpPr txBox="1"/>
          <p:nvPr/>
        </p:nvSpPr>
        <p:spPr>
          <a:xfrm>
            <a:off x="4119880" y="3364992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説明②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</a:t>
            </a:r>
            <a:endParaRPr lang="ja-JP" sz="1050" dirty="0"/>
          </a:p>
        </p:txBody>
      </p:sp>
      <p:sp>
        <p:nvSpPr>
          <p:cNvPr id="22" name="time-block"/>
          <p:cNvSpPr/>
          <p:nvPr/>
        </p:nvSpPr>
        <p:spPr>
          <a:xfrm>
            <a:off x="5024120" y="3364992"/>
            <a:ext cx="180848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ime-label"/>
          <p:cNvSpPr txBox="1"/>
          <p:nvPr/>
        </p:nvSpPr>
        <p:spPr>
          <a:xfrm>
            <a:off x="5024120" y="3364992"/>
            <a:ext cx="180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ハンズオン②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20分</a:t>
            </a:r>
            <a:endParaRPr lang="ja-JP" sz="1050" dirty="0"/>
          </a:p>
        </p:txBody>
      </p:sp>
      <p:sp>
        <p:nvSpPr>
          <p:cNvPr id="24" name="time-block"/>
          <p:cNvSpPr/>
          <p:nvPr/>
        </p:nvSpPr>
        <p:spPr>
          <a:xfrm>
            <a:off x="6832600" y="3364992"/>
            <a:ext cx="135636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ime-label"/>
          <p:cNvSpPr txBox="1"/>
          <p:nvPr/>
        </p:nvSpPr>
        <p:spPr>
          <a:xfrm>
            <a:off x="6832600" y="3364992"/>
            <a:ext cx="135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質問・共有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15分</a:t>
            </a:r>
            <a:endParaRPr lang="ja-JP" sz="1050" dirty="0"/>
          </a:p>
        </p:txBody>
      </p:sp>
      <p:sp>
        <p:nvSpPr>
          <p:cNvPr id="26" name="time-block"/>
          <p:cNvSpPr/>
          <p:nvPr/>
        </p:nvSpPr>
        <p:spPr>
          <a:xfrm>
            <a:off x="8188960" y="3364992"/>
            <a:ext cx="45212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ime-label"/>
          <p:cNvSpPr txBox="1"/>
          <p:nvPr/>
        </p:nvSpPr>
        <p:spPr>
          <a:xfrm>
            <a:off x="8188960" y="3364992"/>
            <a:ext cx="45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8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宿題</a:t>
            </a:r>
            <a:endParaRPr lang="ja-JP" sz="8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</a:t>
            </a:r>
            <a:endParaRPr lang="ja-JP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50292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　</a:t>
            </a:r>
            <a:pPr indent="0" marL="0">
              <a:buNone/>
            </a:pPr>
            <a:r>
              <a:rPr lang="ja-JP" altLang="en-US" sz="1050" b="1" dirty="0">
                <a:solidFill>
                  <a:srgbClr val="DD642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手を動かす</a:t>
            </a:r>
            <a:endParaRPr lang="ja-JP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47812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説明① 10分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AIは</a:t>
            </a:r>
            <a:pPr indent="0" marL="0">
              <a:buNone/>
            </a:pPr>
            <a:r>
              <a:rPr lang="ja-JP" altLang="en-US" sz="2600" dirty="0">
                <a:solidFill>
                  <a:srgbClr val="DD642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「優秀な新人」</a:t>
            </a:r>
            <a:endParaRPr lang="ja-JP" sz="2600" dirty="0"/>
          </a:p>
        </p:txBody>
      </p:sp>
      <p:sp>
        <p:nvSpPr>
          <p:cNvPr id="5" name="card"/>
          <p:cNvSpPr/>
          <p:nvPr/>
        </p:nvSpPr>
        <p:spPr>
          <a:xfrm>
            <a:off x="502920" y="141732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04088" y="1618488"/>
            <a:ext cx="1197864" cy="329184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得意なこと</a:t>
            </a:r>
            <a:endParaRPr lang="ja-JP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30552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文章の下書き・整理・要約</a:t>
            </a:r>
            <a:endParaRPr lang="ja-JP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案出し・言い換え</a:t>
            </a:r>
            <a:endParaRPr lang="ja-JP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コードを書くこと</a:t>
            </a:r>
            <a:endParaRPr lang="ja-JP" sz="1350" dirty="0"/>
          </a:p>
        </p:txBody>
      </p:sp>
      <p:sp>
        <p:nvSpPr>
          <p:cNvPr id="8" name="card"/>
          <p:cNvSpPr/>
          <p:nvPr/>
        </p:nvSpPr>
        <p:spPr>
          <a:xfrm>
            <a:off x="5029200" y="141732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230368" y="1618488"/>
            <a:ext cx="1197864" cy="329184"/>
          </a:xfrm>
          <a:prstGeom prst="roundRect">
            <a:avLst>
              <a:gd name="adj" fmla="val 16667"/>
            </a:avLst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苦手なこと</a:t>
            </a:r>
            <a:endParaRPr lang="ja-JP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257800" y="2130552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自社の事情（教えないと知らない）</a:t>
            </a:r>
            <a:endParaRPr lang="ja-JP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最新の情報</a:t>
            </a:r>
            <a:endParaRPr lang="ja-JP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正確な数字（もっともらしく間違える）</a:t>
            </a:r>
            <a:endParaRPr lang="ja-JP" sz="1350" dirty="0"/>
          </a:p>
        </p:txBody>
      </p:sp>
      <p:sp>
        <p:nvSpPr>
          <p:cNvPr id="11" name="icon-circle"/>
          <p:cNvSpPr/>
          <p:nvPr/>
        </p:nvSpPr>
        <p:spPr>
          <a:xfrm>
            <a:off x="4325112" y="2382012"/>
            <a:ext cx="493776" cy="49377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8556" y="250545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 rot="-60000">
            <a:off x="502920" y="4114800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基本は</a:t>
            </a:r>
            <a:pPr algn="ctr" indent="0" marL="0">
              <a:buNone/>
            </a:pPr>
            <a:r>
              <a:rPr lang="ja-JP" altLang="en-US" sz="13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「材料を渡す」</a:t>
            </a:r>
            <a:pPr algn="ctr" indent="0" marL="0">
              <a:buNone/>
            </a:pPr>
            <a:r>
              <a:rPr lang="ja-JP" altLang="en-US" sz="13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「出てきたものを人が確かめる」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47812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説明① 10分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頼み方の型</a:t>
            </a:r>
            <a:pPr indent="0" marL="0">
              <a:buNone/>
            </a:pPr>
            <a:r>
              <a:rPr lang="ja-JP" altLang="en-US" sz="2600" dirty="0">
                <a:solidFill>
                  <a:srgbClr val="DD642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「や・も・ざ・か」</a:t>
            </a:r>
            <a:endParaRPr lang="ja-JP" sz="2600" dirty="0"/>
          </a:p>
        </p:txBody>
      </p:sp>
      <p:sp>
        <p:nvSpPr>
          <p:cNvPr id="5" name="card"/>
          <p:cNvSpPr/>
          <p:nvPr/>
        </p:nvSpPr>
        <p:spPr>
          <a:xfrm>
            <a:off x="502920" y="1417320"/>
            <a:ext cx="1842516" cy="2331720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600200"/>
            <a:ext cx="1024128" cy="329184"/>
          </a:xfrm>
          <a:prstGeom prst="roundRect">
            <a:avLst>
              <a:gd name="adj" fmla="val 16667"/>
            </a:avLst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や｜役割</a:t>
            </a:r>
            <a:endParaRPr lang="ja-JP" sz="1300" dirty="0"/>
          </a:p>
        </p:txBody>
      </p:sp>
      <p:sp>
        <p:nvSpPr>
          <p:cNvPr id="7" name="card-body"/>
          <p:cNvSpPr txBox="1"/>
          <p:nvPr/>
        </p:nvSpPr>
        <p:spPr>
          <a:xfrm>
            <a:off x="704088" y="2075688"/>
            <a:ext cx="14401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何者として答えるか</a:t>
            </a:r>
            <a:endParaRPr lang="ja-JP" sz="1250" dirty="0"/>
          </a:p>
          <a:p>
            <a:pPr indent="0" marL="0">
              <a:spcAft>
                <a:spcPts val="300"/>
              </a:spcAft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例：飲食店の業務改善コンサルタント</a:t>
            </a:r>
            <a:endParaRPr lang="ja-JP" sz="1250" dirty="0"/>
          </a:p>
        </p:txBody>
      </p:sp>
      <p:sp>
        <p:nvSpPr>
          <p:cNvPr id="8" name="card"/>
          <p:cNvSpPr/>
          <p:nvPr/>
        </p:nvSpPr>
        <p:spPr>
          <a:xfrm>
            <a:off x="2601468" y="1417320"/>
            <a:ext cx="1842516" cy="2331720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784348" y="1600200"/>
            <a:ext cx="1024128" cy="329184"/>
          </a:xfrm>
          <a:prstGeom prst="roundRect">
            <a:avLst>
              <a:gd name="adj" fmla="val 16667"/>
            </a:avLst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も｜目的</a:t>
            </a:r>
            <a:endParaRPr lang="ja-JP" sz="1300" dirty="0"/>
          </a:p>
        </p:txBody>
      </p:sp>
      <p:sp>
        <p:nvSpPr>
          <p:cNvPr id="10" name="card-body"/>
          <p:cNvSpPr txBox="1"/>
          <p:nvPr/>
        </p:nvSpPr>
        <p:spPr>
          <a:xfrm>
            <a:off x="2802636" y="2075688"/>
            <a:ext cx="14401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何のため・誰向けか</a:t>
            </a:r>
            <a:endParaRPr lang="ja-JP" sz="1250" dirty="0"/>
          </a:p>
          <a:p>
            <a:pPr indent="0" marL="0">
              <a:spcAft>
                <a:spcPts val="300"/>
              </a:spcAft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例：スタッフ3名向けの受付ルール</a:t>
            </a:r>
            <a:endParaRPr lang="ja-JP" sz="1250" dirty="0"/>
          </a:p>
        </p:txBody>
      </p:sp>
      <p:sp>
        <p:nvSpPr>
          <p:cNvPr id="11" name="card"/>
          <p:cNvSpPr/>
          <p:nvPr/>
        </p:nvSpPr>
        <p:spPr>
          <a:xfrm>
            <a:off x="4700016" y="1417320"/>
            <a:ext cx="1842516" cy="2331720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882896" y="1600200"/>
            <a:ext cx="1024128" cy="329184"/>
          </a:xfrm>
          <a:prstGeom prst="roundRect">
            <a:avLst>
              <a:gd name="adj" fmla="val 16667"/>
            </a:avLst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ざ｜材料</a:t>
            </a:r>
            <a:endParaRPr lang="ja-JP" sz="1300" dirty="0"/>
          </a:p>
        </p:txBody>
      </p:sp>
      <p:sp>
        <p:nvSpPr>
          <p:cNvPr id="13" name="card-body"/>
          <p:cNvSpPr txBox="1"/>
          <p:nvPr/>
        </p:nvSpPr>
        <p:spPr>
          <a:xfrm>
            <a:off x="4901184" y="2075688"/>
            <a:ext cx="14401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判断に必要な情報</a:t>
            </a:r>
            <a:endParaRPr lang="ja-JP" sz="1250" dirty="0"/>
          </a:p>
          <a:p>
            <a:pPr indent="0" marL="0">
              <a:spcAft>
                <a:spcPts val="300"/>
              </a:spcAft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例：今のやり方・困りごと</a:t>
            </a:r>
            <a:endParaRPr lang="ja-JP" sz="1250" dirty="0"/>
          </a:p>
        </p:txBody>
      </p:sp>
      <p:sp>
        <p:nvSpPr>
          <p:cNvPr id="14" name="card"/>
          <p:cNvSpPr/>
          <p:nvPr/>
        </p:nvSpPr>
        <p:spPr>
          <a:xfrm>
            <a:off x="6798564" y="1417320"/>
            <a:ext cx="1842516" cy="2331720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981444" y="1600200"/>
            <a:ext cx="850392" cy="329184"/>
          </a:xfrm>
          <a:prstGeom prst="roundRect">
            <a:avLst>
              <a:gd name="adj" fmla="val 16667"/>
            </a:avLst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か｜形</a:t>
            </a:r>
            <a:endParaRPr lang="ja-JP" sz="1300" dirty="0"/>
          </a:p>
        </p:txBody>
      </p:sp>
      <p:sp>
        <p:nvSpPr>
          <p:cNvPr id="16" name="card-body"/>
          <p:cNvSpPr txBox="1"/>
          <p:nvPr/>
        </p:nvSpPr>
        <p:spPr>
          <a:xfrm>
            <a:off x="6999732" y="2075688"/>
            <a:ext cx="14401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出力の形</a:t>
            </a:r>
            <a:endParaRPr lang="ja-JP" sz="1250" dirty="0"/>
          </a:p>
          <a:p>
            <a:pPr indent="0" marL="0">
              <a:spcAft>
                <a:spcPts val="300"/>
              </a:spcAft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例：表で／300字以内で</a:t>
            </a:r>
            <a:endParaRPr lang="ja-JP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915668" cy="352044"/>
          </a:xfrm>
          <a:prstGeom prst="rect">
            <a:avLst/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ハンズオン① 20分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業務文書をAIで作る</a:t>
            </a:r>
            <a:endParaRPr lang="ja-JP" sz="2600" dirty="0"/>
          </a:p>
        </p:txBody>
      </p:sp>
      <p:sp>
        <p:nvSpPr>
          <p:cNvPr id="5" name="card"/>
          <p:cNvSpPr/>
          <p:nvPr/>
        </p:nvSpPr>
        <p:spPr>
          <a:xfrm>
            <a:off x="502920" y="1417320"/>
            <a:ext cx="8138160" cy="509778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472184"/>
            <a:ext cx="400050" cy="40005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1</a:t>
            </a:r>
            <a:endParaRPr lang="ja-JP" sz="1500" dirty="0"/>
          </a:p>
        </p:txBody>
      </p:sp>
      <p:sp>
        <p:nvSpPr>
          <p:cNvPr id="7" name="step-text"/>
          <p:cNvSpPr txBox="1"/>
          <p:nvPr/>
        </p:nvSpPr>
        <p:spPr>
          <a:xfrm>
            <a:off x="1234440" y="1417320"/>
            <a:ext cx="726948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型を使わずに「予約受付のルールを作って」と頼む</a:t>
            </a:r>
            <a:endParaRPr lang="ja-JP" sz="1400" dirty="0"/>
          </a:p>
        </p:txBody>
      </p:sp>
      <p:sp>
        <p:nvSpPr>
          <p:cNvPr id="8" name="card"/>
          <p:cNvSpPr/>
          <p:nvPr/>
        </p:nvSpPr>
        <p:spPr>
          <a:xfrm>
            <a:off x="502920" y="2055114"/>
            <a:ext cx="8138160" cy="509778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2109978"/>
            <a:ext cx="400050" cy="40005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2</a:t>
            </a:r>
            <a:endParaRPr lang="ja-JP" sz="1500" dirty="0"/>
          </a:p>
        </p:txBody>
      </p:sp>
      <p:sp>
        <p:nvSpPr>
          <p:cNvPr id="10" name="step-text"/>
          <p:cNvSpPr txBox="1"/>
          <p:nvPr/>
        </p:nvSpPr>
        <p:spPr>
          <a:xfrm>
            <a:off x="1234440" y="2055114"/>
            <a:ext cx="726948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型を使って同じことを頼む（プロンプト集 P-01）</a:t>
            </a:r>
            <a:endParaRPr lang="ja-JP" sz="1400" dirty="0"/>
          </a:p>
        </p:txBody>
      </p:sp>
      <p:sp>
        <p:nvSpPr>
          <p:cNvPr id="11" name="card"/>
          <p:cNvSpPr/>
          <p:nvPr/>
        </p:nvSpPr>
        <p:spPr>
          <a:xfrm>
            <a:off x="502920" y="2692908"/>
            <a:ext cx="8138160" cy="509778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" y="2747772"/>
            <a:ext cx="400050" cy="40005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3</a:t>
            </a:r>
            <a:endParaRPr lang="ja-JP" sz="1500" dirty="0"/>
          </a:p>
        </p:txBody>
      </p:sp>
      <p:sp>
        <p:nvSpPr>
          <p:cNvPr id="13" name="step-text"/>
          <p:cNvSpPr txBox="1"/>
          <p:nvPr/>
        </p:nvSpPr>
        <p:spPr>
          <a:xfrm>
            <a:off x="1234440" y="2692908"/>
            <a:ext cx="726948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2つの答えを比べ、違いを共有する</a:t>
            </a:r>
            <a:endParaRPr lang="ja-JP" sz="1400" dirty="0"/>
          </a:p>
        </p:txBody>
      </p:sp>
      <p:sp>
        <p:nvSpPr>
          <p:cNvPr id="14" name="card"/>
          <p:cNvSpPr/>
          <p:nvPr/>
        </p:nvSpPr>
        <p:spPr>
          <a:xfrm>
            <a:off x="502920" y="3330702"/>
            <a:ext cx="8138160" cy="509778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" y="3385566"/>
            <a:ext cx="400050" cy="40005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4</a:t>
            </a:r>
            <a:endParaRPr lang="ja-JP" sz="1500" dirty="0"/>
          </a:p>
        </p:txBody>
      </p:sp>
      <p:sp>
        <p:nvSpPr>
          <p:cNvPr id="16" name="step-text"/>
          <p:cNvSpPr txBox="1"/>
          <p:nvPr/>
        </p:nvSpPr>
        <p:spPr>
          <a:xfrm>
            <a:off x="1234440" y="3330702"/>
            <a:ext cx="726948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「もっと短く」「〜の場合を足して」と会話で直していく</a:t>
            </a:r>
            <a:endParaRPr lang="ja-JP" sz="1400" dirty="0"/>
          </a:p>
        </p:txBody>
      </p:sp>
      <p:sp>
        <p:nvSpPr>
          <p:cNvPr id="17" name="Text 14"/>
          <p:cNvSpPr txBox="1"/>
          <p:nvPr/>
        </p:nvSpPr>
        <p:spPr>
          <a:xfrm rot="-60000">
            <a:off x="502920" y="4005072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1回で完璧を狙わず、会話で育てる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47812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説明② 10分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AIを</a:t>
            </a:r>
            <a:pPr indent="0" marL="0">
              <a:buNone/>
            </a:pPr>
            <a:r>
              <a:rPr lang="ja-JP" altLang="en-US" sz="2600" dirty="0">
                <a:solidFill>
                  <a:srgbClr val="DD642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「壁打ち相手」</a:t>
            </a:r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にする</a:t>
            </a:r>
            <a:endParaRPr lang="ja-JP" sz="2600" dirty="0"/>
          </a:p>
        </p:txBody>
      </p:sp>
      <p:sp>
        <p:nvSpPr>
          <p:cNvPr id="5" name="card"/>
          <p:cNvSpPr/>
          <p:nvPr/>
        </p:nvSpPr>
        <p:spPr>
          <a:xfrm>
            <a:off x="502920" y="1691640"/>
            <a:ext cx="1746504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 rot="-180000">
            <a:off x="918972" y="1545336"/>
            <a:ext cx="91440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STEP 1</a:t>
            </a:r>
            <a:endParaRPr lang="ja-JP" sz="1000" dirty="0"/>
          </a:p>
        </p:txBody>
      </p:sp>
      <p:sp>
        <p:nvSpPr>
          <p:cNvPr id="7" name="flow-node"/>
          <p:cNvSpPr txBox="1"/>
          <p:nvPr/>
        </p:nvSpPr>
        <p:spPr>
          <a:xfrm>
            <a:off x="612648" y="1965960"/>
            <a:ext cx="1527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設計シートを渡す</a:t>
            </a:r>
            <a:endParaRPr lang="ja-JP" sz="1400" dirty="0"/>
          </a:p>
        </p:txBody>
      </p:sp>
      <p:pic>
        <p:nvPicPr>
          <p:cNvPr id="8" name="flow-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432" y="2363724"/>
            <a:ext cx="256032" cy="256032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2633472" y="1691640"/>
            <a:ext cx="1746504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 rot="-180000">
            <a:off x="3049524" y="1545336"/>
            <a:ext cx="91440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STEP 2</a:t>
            </a:r>
            <a:endParaRPr lang="ja-JP" sz="1000" dirty="0"/>
          </a:p>
        </p:txBody>
      </p:sp>
      <p:sp>
        <p:nvSpPr>
          <p:cNvPr id="11" name="flow-node"/>
          <p:cNvSpPr txBox="1"/>
          <p:nvPr/>
        </p:nvSpPr>
        <p:spPr>
          <a:xfrm>
            <a:off x="2743200" y="1965960"/>
            <a:ext cx="1527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AIが1問ずつ質問</a:t>
            </a:r>
            <a:endParaRPr lang="ja-JP" sz="1400" dirty="0"/>
          </a:p>
        </p:txBody>
      </p:sp>
      <p:pic>
        <p:nvPicPr>
          <p:cNvPr id="12" name="flow-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2363724"/>
            <a:ext cx="256032" cy="256032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4764024" y="1691640"/>
            <a:ext cx="1746504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 rot="-180000">
            <a:off x="5180076" y="1545336"/>
            <a:ext cx="91440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STEP 3</a:t>
            </a:r>
            <a:endParaRPr lang="ja-JP" sz="1000" dirty="0"/>
          </a:p>
        </p:txBody>
      </p:sp>
      <p:sp>
        <p:nvSpPr>
          <p:cNvPr id="15" name="flow-node"/>
          <p:cNvSpPr txBox="1"/>
          <p:nvPr/>
        </p:nvSpPr>
        <p:spPr>
          <a:xfrm>
            <a:off x="4873752" y="1965960"/>
            <a:ext cx="1527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自分が答える</a:t>
            </a:r>
            <a:endParaRPr lang="ja-JP" sz="1400" dirty="0"/>
          </a:p>
        </p:txBody>
      </p:sp>
      <p:pic>
        <p:nvPicPr>
          <p:cNvPr id="16" name="flow-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363724"/>
            <a:ext cx="256032" cy="256032"/>
          </a:xfrm>
          <a:prstGeom prst="rect">
            <a:avLst/>
          </a:prstGeom>
        </p:spPr>
      </p:pic>
      <p:sp>
        <p:nvSpPr>
          <p:cNvPr id="17" name="card"/>
          <p:cNvSpPr/>
          <p:nvPr/>
        </p:nvSpPr>
        <p:spPr>
          <a:xfrm>
            <a:off x="6894576" y="1691640"/>
            <a:ext cx="1746504" cy="1600200"/>
          </a:xfrm>
          <a:prstGeom prst="roundRect">
            <a:avLst>
              <a:gd name="adj" fmla="val 5714"/>
            </a:avLst>
          </a:prstGeom>
          <a:solidFill>
            <a:srgbClr val="F5A623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 rot="-180000">
            <a:off x="7310628" y="1545336"/>
            <a:ext cx="91440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STEP 4</a:t>
            </a:r>
            <a:endParaRPr lang="ja-JP" sz="1000" dirty="0"/>
          </a:p>
        </p:txBody>
      </p:sp>
      <p:sp>
        <p:nvSpPr>
          <p:cNvPr id="19" name="flow-node"/>
          <p:cNvSpPr txBox="1"/>
          <p:nvPr/>
        </p:nvSpPr>
        <p:spPr>
          <a:xfrm>
            <a:off x="7004304" y="1965960"/>
            <a:ext cx="1527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設計シートにまとめる</a:t>
            </a:r>
            <a:endParaRPr lang="ja-JP" sz="1400" dirty="0"/>
          </a:p>
        </p:txBody>
      </p:sp>
      <p:sp>
        <p:nvSpPr>
          <p:cNvPr id="20" name="Text 14"/>
          <p:cNvSpPr txBox="1"/>
          <p:nvPr/>
        </p:nvSpPr>
        <p:spPr>
          <a:xfrm rot="-60000">
            <a:off x="502920" y="3794760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「足りない情報があれば、1つずつ質問してください」</a:t>
            </a:r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と付けると、AIが聞き役になる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915668" cy="352044"/>
          </a:xfrm>
          <a:prstGeom prst="rect">
            <a:avLst/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ハンズオン② 20分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設計シートをAIと仕上げる</a:t>
            </a:r>
            <a:endParaRPr lang="ja-JP" sz="2600" dirty="0"/>
          </a:p>
        </p:txBody>
      </p:sp>
      <p:sp>
        <p:nvSpPr>
          <p:cNvPr id="5" name="card"/>
          <p:cNvSpPr/>
          <p:nvPr/>
        </p:nvSpPr>
        <p:spPr>
          <a:xfrm>
            <a:off x="502920" y="1604772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687068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1</a:t>
            </a:r>
            <a:endParaRPr lang="ja-JP" sz="1500" dirty="0"/>
          </a:p>
        </p:txBody>
      </p:sp>
      <p:sp>
        <p:nvSpPr>
          <p:cNvPr id="7" name="step-text"/>
          <p:cNvSpPr txBox="1"/>
          <p:nvPr/>
        </p:nvSpPr>
        <p:spPr>
          <a:xfrm>
            <a:off x="1234440" y="1604772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第1回の設計シートを貼り付け、P-02「要件の壁打ち」で頼む</a:t>
            </a:r>
            <a:endParaRPr lang="ja-JP" sz="1400" dirty="0"/>
          </a:p>
        </p:txBody>
      </p:sp>
      <p:sp>
        <p:nvSpPr>
          <p:cNvPr id="8" name="card"/>
          <p:cNvSpPr/>
          <p:nvPr/>
        </p:nvSpPr>
        <p:spPr>
          <a:xfrm>
            <a:off x="502920" y="2299716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2382012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2</a:t>
            </a:r>
            <a:endParaRPr lang="ja-JP" sz="1500" dirty="0"/>
          </a:p>
        </p:txBody>
      </p:sp>
      <p:sp>
        <p:nvSpPr>
          <p:cNvPr id="10" name="step-text"/>
          <p:cNvSpPr txBox="1"/>
          <p:nvPr/>
        </p:nvSpPr>
        <p:spPr>
          <a:xfrm>
            <a:off x="1234440" y="2299716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AIの質問に答えていく（5〜10問）</a:t>
            </a:r>
            <a:endParaRPr lang="ja-JP" sz="1400" dirty="0"/>
          </a:p>
        </p:txBody>
      </p:sp>
      <p:sp>
        <p:nvSpPr>
          <p:cNvPr id="11" name="card"/>
          <p:cNvSpPr/>
          <p:nvPr/>
        </p:nvSpPr>
        <p:spPr>
          <a:xfrm>
            <a:off x="502920" y="2994660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" y="3076956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3</a:t>
            </a:r>
            <a:endParaRPr lang="ja-JP" sz="1500" dirty="0"/>
          </a:p>
        </p:txBody>
      </p:sp>
      <p:sp>
        <p:nvSpPr>
          <p:cNvPr id="13" name="step-text"/>
          <p:cNvSpPr txBox="1"/>
          <p:nvPr/>
        </p:nvSpPr>
        <p:spPr>
          <a:xfrm>
            <a:off x="1234440" y="2994660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「設計シートの形にまとめて」と頼み、自分の言葉で直す</a:t>
            </a:r>
            <a:endParaRPr lang="ja-JP" sz="1400" dirty="0"/>
          </a:p>
        </p:txBody>
      </p:sp>
      <p:sp>
        <p:nvSpPr>
          <p:cNvPr id="14" name="Text 11"/>
          <p:cNvSpPr txBox="1"/>
          <p:nvPr/>
        </p:nvSpPr>
        <p:spPr>
          <a:xfrm rot="-60000">
            <a:off x="502920" y="4005072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完成の目安：使う人／入力する項目／見たい画面／知らせたいタイミング が埋まっている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040587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必ず守る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AIに渡してはいけないもの</a:t>
            </a:r>
            <a:endParaRPr lang="ja-JP" sz="2600" dirty="0"/>
          </a:p>
        </p:txBody>
      </p:sp>
      <p:sp>
        <p:nvSpPr>
          <p:cNvPr id="5" name="card"/>
          <p:cNvSpPr/>
          <p:nvPr/>
        </p:nvSpPr>
        <p:spPr>
          <a:xfrm>
            <a:off x="502920" y="14173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04088" y="1618488"/>
            <a:ext cx="548640" cy="54864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5564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618488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7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個人情報</a:t>
            </a:r>
            <a:endParaRPr lang="ja-JP" sz="1700" dirty="0"/>
          </a:p>
        </p:txBody>
      </p:sp>
      <p:sp>
        <p:nvSpPr>
          <p:cNvPr id="9" name="card-body"/>
          <p:cNvSpPr txBox="1"/>
          <p:nvPr/>
        </p:nvSpPr>
        <p:spPr>
          <a:xfrm>
            <a:off x="704088" y="2313432"/>
            <a:ext cx="21396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顧客の実名・電話番号は「顧客A」に置き換える</a:t>
            </a:r>
            <a:endParaRPr lang="ja-JP" sz="1350" dirty="0"/>
          </a:p>
        </p:txBody>
      </p:sp>
      <p:sp>
        <p:nvSpPr>
          <p:cNvPr id="10" name="card"/>
          <p:cNvSpPr/>
          <p:nvPr/>
        </p:nvSpPr>
        <p:spPr>
          <a:xfrm>
            <a:off x="3300984" y="14173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3502152" y="1618488"/>
            <a:ext cx="548640" cy="54864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75564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169664" y="1618488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社外秘の数字</a:t>
            </a:r>
            <a:endParaRPr lang="ja-JP" sz="1500" dirty="0"/>
          </a:p>
        </p:txBody>
      </p:sp>
      <p:sp>
        <p:nvSpPr>
          <p:cNvPr id="14" name="card-body"/>
          <p:cNvSpPr txBox="1"/>
          <p:nvPr/>
        </p:nvSpPr>
        <p:spPr>
          <a:xfrm>
            <a:off x="3502152" y="2313432"/>
            <a:ext cx="21396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丸めるか伏せる</a:t>
            </a:r>
            <a:endParaRPr lang="ja-JP" sz="1350" dirty="0"/>
          </a:p>
        </p:txBody>
      </p:sp>
      <p:sp>
        <p:nvSpPr>
          <p:cNvPr id="15" name="card"/>
          <p:cNvSpPr/>
          <p:nvPr/>
        </p:nvSpPr>
        <p:spPr>
          <a:xfrm>
            <a:off x="6099048" y="14173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6" name="icon-circle"/>
          <p:cNvSpPr/>
          <p:nvPr/>
        </p:nvSpPr>
        <p:spPr>
          <a:xfrm>
            <a:off x="6300216" y="1618488"/>
            <a:ext cx="548640" cy="54864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75564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67728" y="1618488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AIの事実・数字</a:t>
            </a:r>
            <a:endParaRPr lang="ja-JP" sz="1250" dirty="0"/>
          </a:p>
        </p:txBody>
      </p:sp>
      <p:sp>
        <p:nvSpPr>
          <p:cNvPr id="19" name="card-body"/>
          <p:cNvSpPr txBox="1"/>
          <p:nvPr/>
        </p:nvSpPr>
        <p:spPr>
          <a:xfrm>
            <a:off x="6300216" y="2313432"/>
            <a:ext cx="21396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そのまま使わず、自分で確かめる</a:t>
            </a:r>
            <a:endParaRPr lang="ja-JP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894740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まとめ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宿題と、今日のチェック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4173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04088" y="1600200"/>
            <a:ext cx="457200" cy="45720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7145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宿題</a:t>
            </a:r>
            <a:endParaRPr lang="ja-JP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設計シートを見直し、画面の手書きラフ（入力画面・一覧画面）を描いて写真を撮る</a:t>
            </a:r>
            <a:endParaRPr lang="ja-JP" sz="1350" dirty="0"/>
          </a:p>
        </p:txBody>
      </p:sp>
      <p:sp>
        <p:nvSpPr>
          <p:cNvPr id="9" name="card"/>
          <p:cNvSpPr/>
          <p:nvPr/>
        </p:nvSpPr>
        <p:spPr>
          <a:xfrm>
            <a:off x="4709160" y="14173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910328" y="1600200"/>
            <a:ext cx="457200" cy="45720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628" y="17145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できたらチェック</a:t>
            </a:r>
            <a:endParaRPr lang="ja-JP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24028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☐ 頼み方の型を使って頼めた</a:t>
            </a:r>
            <a:endParaRPr lang="ja-JP" sz="135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☐ 設計シートが1枚完成した</a:t>
            </a:r>
            <a:endParaRPr lang="ja-JP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rait" descr="講師 笹原彰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588" y="1211580"/>
            <a:ext cx="2866092" cy="3931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 rot="-240000">
            <a:off x="457200" y="548640"/>
            <a:ext cx="1280160" cy="54864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dirty="0">
                <a:solidFill>
                  <a:srgbClr val="FFD60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次回</a:t>
            </a:r>
            <a:endParaRPr lang="ja-JP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32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第3回</a:t>
            </a:r>
            <a:endParaRPr lang="ja-JP" sz="3200" dirty="0"/>
          </a:p>
          <a:p>
            <a:pPr indent="0" marL="0">
              <a:buNone/>
            </a:pPr>
            <a:r>
              <a:rPr lang="ja-JP" altLang="en-US" sz="32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Larkの基本を使いこなす</a:t>
            </a:r>
            <a:endParaRPr lang="ja-JP" sz="3200" dirty="0"/>
          </a:p>
        </p:txBody>
      </p:sp>
      <p:sp>
        <p:nvSpPr>
          <p:cNvPr id="5" name="card"/>
          <p:cNvSpPr/>
          <p:nvPr/>
        </p:nvSpPr>
        <p:spPr>
          <a:xfrm>
            <a:off x="457200" y="31089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32004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わからないところは、講座グループでいつでも質問してください。</a:t>
            </a:r>
            <a:endParaRPr lang="ja-JP" sz="14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APIキーやパスワードは送らないでください。</a:t>
            </a:r>
            <a:endParaRPr lang="ja-JP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aYell">
  <a:themeElements>
    <a:clrScheme name="SasaYell">
      <a:dk1>
        <a:srgbClr val="1A1A1A"/>
      </a:dk1>
      <a:lt1>
        <a:srgbClr val="FFFFFF"/>
      </a:lt1>
      <a:dk2>
        <a:srgbClr val="1A1A1A"/>
      </a:dk2>
      <a:lt2>
        <a:srgbClr val="FFD600"/>
      </a:lt2>
      <a:accent1>
        <a:srgbClr val="FFD600"/>
      </a:accent1>
      <a:accent2>
        <a:srgbClr val="DD6420"/>
      </a:accent2>
      <a:accent3>
        <a:srgbClr val="F5A623"/>
      </a:accent3>
      <a:accent4>
        <a:srgbClr val="1A1A1A"/>
      </a:accent4>
      <a:accent5>
        <a:srgbClr val="FFFFFF"/>
      </a:accent5>
      <a:accent6>
        <a:srgbClr val="DD6420"/>
      </a:accent6>
      <a:hlink>
        <a:srgbClr val="DD6420"/>
      </a:hlink>
      <a:folHlink>
        <a:srgbClr val="F5A623"/>
      </a:folHlink>
    </a:clrScheme>
    <a:fontScheme name="SasaYell">
      <a:majorFont>
        <a:latin typeface="Dela Gothic One"/>
        <a:ea typeface="けいふぉんと"/>
        <a:cs typeface=""/>
      </a:majorFont>
      <a:minorFont>
        <a:latin typeface="Noto Sans JP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ささエール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マナベル 第2回 AIと話す型を身につける</dc:title>
  <dc:subject>PptxGenJS Presentation</dc:subject>
  <dc:creator>ささエール（Office Plata）</dc:creator>
  <cp:lastModifiedBy>ささエール（Office Plata）</cp:lastModifiedBy>
  <cp:revision>1</cp:revision>
  <dcterms:created xsi:type="dcterms:W3CDTF">2026-10-08T07:08:41Z</dcterms:created>
  <dcterms:modified xsi:type="dcterms:W3CDTF">2026-10-08T07:08:41Z</dcterms:modified>
</cp:coreProperties>
</file>