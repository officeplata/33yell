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導入" id="{5116db85-9187-ca34-b872-025daff79785}">
          <p14:sldIdLst>
            <p14:sldId id="256"/>
            <p14:sldId id="257"/>
          </p14:sldIdLst>
        </p14:section>
        <p14:section name="本編" id="{41dbe73a-b3e6-1267-c685-b537a89a6188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まとめ" id="{5d984821-24fb-4de1-5333-9730d73a8f2b}">
          <p14:sldIdLst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第2回「AIと話す型を身につける」。前回の宿題の提出状況を確認してから始める。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ゴールを読み上げ、今日は「聞く」と「手を動かす」を交互に進めることを伝える。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AIの間違いの実例を1つ見せると伝わりやすい。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4文字を声に出して覚えてもらう。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比較結果を1〜2名に共有してもらう。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出てきた答えは「現場の人が読んでわかるか」で確かめる。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質問が10問を超えて長引く人には、いったん打ち切らせる。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以降の回でも毎回くり返す約束。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宿題の目安時間を伝える。質問は講座グループへ（24時間以内に返信・土日祝を除く）。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次回までの宿題をもう一度確認して終了。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NA_TITLE">
    <p:bg>
      <p:bgPr>
        <a:solidFill>
          <a:srgbClr val="FFD6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691640"/>
            <a:ext cx="585216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246120"/>
            <a:ext cx="58521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Text 0"/>
          <p:cNvSpPr/>
          <p:nvPr/>
        </p:nvSpPr>
        <p:spPr>
          <a:xfrm>
            <a:off x="548640" y="45262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マナベル｜AI×Lark 構築者育成講座</a:t>
            </a:r>
            <a:endParaRPr lang="en-US" sz="1000" dirty="0"/>
          </a:p>
        </p:txBody>
      </p:sp>
      <p:sp>
        <p:nvSpPr>
          <p:cNvPr id="5" name="Text 1"/>
          <p:cNvSpPr/>
          <p:nvPr/>
        </p:nvSpPr>
        <p:spPr>
          <a:xfrm>
            <a:off x="6766560" y="4526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ささエール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NA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804672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3" name="Text 0"/>
          <p:cNvSpPr/>
          <p:nvPr/>
        </p:nvSpPr>
        <p:spPr>
          <a:xfrm>
            <a:off x="548640" y="477316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マナベル　第2回　AIと話す型を身につける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NA_DARK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80467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0604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1500" dirty="0"/>
          </a:p>
        </p:txBody>
      </p:sp>
      <p:sp>
        <p:nvSpPr>
          <p:cNvPr id="4" name="Text 0"/>
          <p:cNvSpPr/>
          <p:nvPr/>
        </p:nvSpPr>
        <p:spPr>
          <a:xfrm>
            <a:off x="548640" y="45262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マナベル｜AI×Lark 構築者育成講座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esson-badge"/>
          <p:cNvSpPr/>
          <p:nvPr/>
        </p:nvSpPr>
        <p:spPr>
          <a:xfrm>
            <a:off x="548640" y="822960"/>
            <a:ext cx="1828800" cy="566928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3" name="Text 1"/>
          <p:cNvSpPr txBox="1"/>
          <p:nvPr/>
        </p:nvSpPr>
        <p:spPr>
          <a:xfrm>
            <a:off x="548640" y="82296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第2回</a:t>
            </a:r>
            <a:endParaRPr lang="en-US" sz="2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1691640"/>
            <a:ext cx="5852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AIと話す型を身につける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548640" y="324612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フェーズ1 土台をつくる　｜　第1週</a:t>
            </a:r>
            <a:endParaRPr lang="en-US" sz="1400" dirty="0"/>
          </a:p>
        </p:txBody>
      </p:sp>
      <p:sp>
        <p:nvSpPr>
          <p:cNvPr id="6" name="title-circle"/>
          <p:cNvSpPr/>
          <p:nvPr/>
        </p:nvSpPr>
        <p:spPr>
          <a:xfrm>
            <a:off x="6537960" y="1188720"/>
            <a:ext cx="2103120" cy="2103120"/>
          </a:xfrm>
          <a:prstGeom prst="ellipse">
            <a:avLst/>
          </a:prstGeom>
          <a:solidFill>
            <a:schemeClr val="bg1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pic>
        <p:nvPicPr>
          <p:cNvPr id="7" name="title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0" y="1737360"/>
            <a:ext cx="1005840" cy="10058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今日のゴールと流れ</a:t>
            </a:r>
            <a:endParaRPr lang="en-US" sz="2400" dirty="0"/>
          </a:p>
        </p:txBody>
      </p:sp>
      <p:sp>
        <p:nvSpPr>
          <p:cNvPr id="3" name="chip"/>
          <p:cNvSpPr/>
          <p:nvPr/>
        </p:nvSpPr>
        <p:spPr>
          <a:xfrm>
            <a:off x="548640" y="292608"/>
            <a:ext cx="932688" cy="29260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chip-text"/>
          <p:cNvSpPr txBox="1"/>
          <p:nvPr/>
        </p:nvSpPr>
        <p:spPr>
          <a:xfrm>
            <a:off x="548640" y="292608"/>
            <a:ext cx="932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はじめに</a:t>
            </a:r>
            <a:endParaRPr lang="en-US" sz="1100" dirty="0"/>
          </a:p>
        </p:txBody>
      </p:sp>
      <p:sp>
        <p:nvSpPr>
          <p:cNvPr id="5" name="card"/>
          <p:cNvSpPr/>
          <p:nvPr/>
        </p:nvSpPr>
        <p:spPr>
          <a:xfrm>
            <a:off x="548640" y="1417320"/>
            <a:ext cx="39090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905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6" name="icon-circle"/>
          <p:cNvSpPr/>
          <p:nvPr/>
        </p:nvSpPr>
        <p:spPr>
          <a:xfrm>
            <a:off x="731520" y="1600200"/>
            <a:ext cx="411480" cy="411480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pic>
        <p:nvPicPr>
          <p:cNvPr id="7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5" y="1707185"/>
            <a:ext cx="197510" cy="197510"/>
          </a:xfrm>
          <a:prstGeom prst="rect">
            <a:avLst/>
          </a:prstGeom>
        </p:spPr>
      </p:pic>
      <p:sp>
        <p:nvSpPr>
          <p:cNvPr id="8" name="goal"/>
          <p:cNvSpPr txBox="1"/>
          <p:nvPr/>
        </p:nvSpPr>
        <p:spPr>
          <a:xfrm>
            <a:off x="1280160" y="1508760"/>
            <a:ext cx="29946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頼み方の「型」で、欲しい答えを引き出せる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4686300" y="1417320"/>
            <a:ext cx="39090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905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869180" y="1600200"/>
            <a:ext cx="411480" cy="411480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pic>
        <p:nvPicPr>
          <p:cNvPr id="11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165" y="1707185"/>
            <a:ext cx="197510" cy="197510"/>
          </a:xfrm>
          <a:prstGeom prst="rect">
            <a:avLst/>
          </a:prstGeom>
        </p:spPr>
      </p:pic>
      <p:sp>
        <p:nvSpPr>
          <p:cNvPr id="12" name="goal"/>
          <p:cNvSpPr txBox="1"/>
          <p:nvPr/>
        </p:nvSpPr>
        <p:spPr>
          <a:xfrm>
            <a:off x="5417820" y="1508760"/>
            <a:ext cx="29946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AIと壁打ちして「作りたいもの設計シート」を完成させる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2971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今日の流れ（90分）</a:t>
            </a:r>
            <a:endParaRPr lang="en-US" sz="1300" dirty="0"/>
          </a:p>
        </p:txBody>
      </p:sp>
      <p:sp>
        <p:nvSpPr>
          <p:cNvPr id="14" name="time-block"/>
          <p:cNvSpPr/>
          <p:nvPr/>
        </p:nvSpPr>
        <p:spPr>
          <a:xfrm>
            <a:off x="548640" y="3383280"/>
            <a:ext cx="894080" cy="685800"/>
          </a:xfrm>
          <a:prstGeom prst="rect">
            <a:avLst/>
          </a:prstGeom>
          <a:solidFill>
            <a:srgbClr val="1A1A1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ime-label"/>
          <p:cNvSpPr txBox="1"/>
          <p:nvPr/>
        </p:nvSpPr>
        <p:spPr>
          <a:xfrm>
            <a:off x="548640" y="3383280"/>
            <a:ext cx="894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D600"/>
                </a:solidFill>
              </a:rPr>
              <a:t>ふりかえり</a:t>
            </a:r>
            <a:endParaRPr lang="en-US" sz="105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D600"/>
                </a:solidFill>
              </a:rPr>
              <a:t>10分</a:t>
            </a:r>
            <a:endParaRPr lang="en-US" sz="1050" dirty="0"/>
          </a:p>
        </p:txBody>
      </p:sp>
      <p:sp>
        <p:nvSpPr>
          <p:cNvPr id="16" name="time-block"/>
          <p:cNvSpPr/>
          <p:nvPr/>
        </p:nvSpPr>
        <p:spPr>
          <a:xfrm>
            <a:off x="1442720" y="3383280"/>
            <a:ext cx="894080" cy="685800"/>
          </a:xfrm>
          <a:prstGeom prst="rect">
            <a:avLst/>
          </a:prstGeom>
          <a:solidFill>
            <a:srgbClr val="1A1A1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ime-label"/>
          <p:cNvSpPr txBox="1"/>
          <p:nvPr/>
        </p:nvSpPr>
        <p:spPr>
          <a:xfrm>
            <a:off x="1442720" y="3383280"/>
            <a:ext cx="894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D600"/>
                </a:solidFill>
              </a:rPr>
              <a:t>説明①</a:t>
            </a:r>
            <a:endParaRPr lang="en-US" sz="105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D600"/>
                </a:solidFill>
              </a:rPr>
              <a:t>10分</a:t>
            </a:r>
            <a:endParaRPr lang="en-US" sz="1050" dirty="0"/>
          </a:p>
        </p:txBody>
      </p:sp>
      <p:sp>
        <p:nvSpPr>
          <p:cNvPr id="18" name="time-block"/>
          <p:cNvSpPr/>
          <p:nvPr/>
        </p:nvSpPr>
        <p:spPr>
          <a:xfrm>
            <a:off x="2336800" y="3383280"/>
            <a:ext cx="1788160" cy="685800"/>
          </a:xfrm>
          <a:prstGeom prst="rect">
            <a:avLst/>
          </a:prstGeom>
          <a:solidFill>
            <a:srgbClr val="DD64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time-label"/>
          <p:cNvSpPr txBox="1"/>
          <p:nvPr/>
        </p:nvSpPr>
        <p:spPr>
          <a:xfrm>
            <a:off x="2336800" y="3383280"/>
            <a:ext cx="178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ハンズオン①</a:t>
            </a:r>
            <a:endParaRPr lang="en-US" sz="105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20分</a:t>
            </a:r>
            <a:endParaRPr lang="en-US" sz="1050" dirty="0"/>
          </a:p>
        </p:txBody>
      </p:sp>
      <p:sp>
        <p:nvSpPr>
          <p:cNvPr id="20" name="time-block"/>
          <p:cNvSpPr/>
          <p:nvPr/>
        </p:nvSpPr>
        <p:spPr>
          <a:xfrm>
            <a:off x="4124960" y="3383280"/>
            <a:ext cx="894080" cy="685800"/>
          </a:xfrm>
          <a:prstGeom prst="rect">
            <a:avLst/>
          </a:prstGeom>
          <a:solidFill>
            <a:srgbClr val="1A1A1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ime-label"/>
          <p:cNvSpPr txBox="1"/>
          <p:nvPr/>
        </p:nvSpPr>
        <p:spPr>
          <a:xfrm>
            <a:off x="4124960" y="3383280"/>
            <a:ext cx="894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D600"/>
                </a:solidFill>
              </a:rPr>
              <a:t>説明②</a:t>
            </a:r>
            <a:endParaRPr lang="en-US" sz="105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D600"/>
                </a:solidFill>
              </a:rPr>
              <a:t>10分</a:t>
            </a:r>
            <a:endParaRPr lang="en-US" sz="1050" dirty="0"/>
          </a:p>
        </p:txBody>
      </p:sp>
      <p:sp>
        <p:nvSpPr>
          <p:cNvPr id="22" name="time-block"/>
          <p:cNvSpPr/>
          <p:nvPr/>
        </p:nvSpPr>
        <p:spPr>
          <a:xfrm>
            <a:off x="5019040" y="3383280"/>
            <a:ext cx="1788160" cy="685800"/>
          </a:xfrm>
          <a:prstGeom prst="rect">
            <a:avLst/>
          </a:prstGeom>
          <a:solidFill>
            <a:srgbClr val="DD64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time-label"/>
          <p:cNvSpPr txBox="1"/>
          <p:nvPr/>
        </p:nvSpPr>
        <p:spPr>
          <a:xfrm>
            <a:off x="5019040" y="3383280"/>
            <a:ext cx="178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ハンズオン②</a:t>
            </a:r>
            <a:endParaRPr lang="en-US" sz="105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20分</a:t>
            </a:r>
            <a:endParaRPr lang="en-US" sz="1050" dirty="0"/>
          </a:p>
        </p:txBody>
      </p:sp>
      <p:sp>
        <p:nvSpPr>
          <p:cNvPr id="24" name="time-block"/>
          <p:cNvSpPr/>
          <p:nvPr/>
        </p:nvSpPr>
        <p:spPr>
          <a:xfrm>
            <a:off x="6807200" y="3383280"/>
            <a:ext cx="1341120" cy="685800"/>
          </a:xfrm>
          <a:prstGeom prst="rect">
            <a:avLst/>
          </a:prstGeom>
          <a:solidFill>
            <a:srgbClr val="1A1A1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time-label"/>
          <p:cNvSpPr txBox="1"/>
          <p:nvPr/>
        </p:nvSpPr>
        <p:spPr>
          <a:xfrm>
            <a:off x="6807200" y="3383280"/>
            <a:ext cx="1341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D600"/>
                </a:solidFill>
              </a:rPr>
              <a:t>質問・共有</a:t>
            </a:r>
            <a:endParaRPr lang="en-US" sz="105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D600"/>
                </a:solidFill>
              </a:rPr>
              <a:t>15分</a:t>
            </a:r>
            <a:endParaRPr lang="en-US" sz="1050" dirty="0"/>
          </a:p>
        </p:txBody>
      </p:sp>
      <p:sp>
        <p:nvSpPr>
          <p:cNvPr id="26" name="time-block"/>
          <p:cNvSpPr/>
          <p:nvPr/>
        </p:nvSpPr>
        <p:spPr>
          <a:xfrm>
            <a:off x="8148320" y="3383280"/>
            <a:ext cx="447040" cy="685800"/>
          </a:xfrm>
          <a:prstGeom prst="rect">
            <a:avLst/>
          </a:prstGeom>
          <a:solidFill>
            <a:srgbClr val="1A1A1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time-label"/>
          <p:cNvSpPr txBox="1"/>
          <p:nvPr/>
        </p:nvSpPr>
        <p:spPr>
          <a:xfrm>
            <a:off x="8148320" y="3383280"/>
            <a:ext cx="44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D600"/>
                </a:solidFill>
              </a:rPr>
              <a:t>宿題</a:t>
            </a:r>
            <a:endParaRPr lang="en-US" sz="85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D600"/>
                </a:solidFill>
              </a:rPr>
              <a:t>5分</a:t>
            </a:r>
            <a:endParaRPr lang="en-US" sz="850" dirty="0"/>
          </a:p>
        </p:txBody>
      </p:sp>
      <p:sp>
        <p:nvSpPr>
          <p:cNvPr id="28" name="Text 24"/>
          <p:cNvSpPr txBox="1"/>
          <p:nvPr/>
        </p:nvSpPr>
        <p:spPr>
          <a:xfrm>
            <a:off x="548640" y="4160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</a:rPr>
              <a:t>■ </a:t>
            </a:r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聞く　</a:t>
            </a:r>
            <a:pPr indent="0" marL="0">
              <a:buNone/>
            </a:pPr>
            <a:r>
              <a:rPr lang="en-US" sz="1000" dirty="0">
                <a:solidFill>
                  <a:srgbClr val="DD6420"/>
                </a:solidFill>
              </a:rPr>
              <a:t>■ </a:t>
            </a:r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手を動かす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AIは「優秀な新人」</a:t>
            </a:r>
            <a:endParaRPr lang="en-US" sz="2400" dirty="0"/>
          </a:p>
        </p:txBody>
      </p:sp>
      <p:sp>
        <p:nvSpPr>
          <p:cNvPr id="3" name="chip"/>
          <p:cNvSpPr/>
          <p:nvPr/>
        </p:nvSpPr>
        <p:spPr>
          <a:xfrm>
            <a:off x="548640" y="292608"/>
            <a:ext cx="1344168" cy="29260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chip-text"/>
          <p:cNvSpPr txBox="1"/>
          <p:nvPr/>
        </p:nvSpPr>
        <p:spPr>
          <a:xfrm>
            <a:off x="548640" y="292608"/>
            <a:ext cx="1344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説明① 10分</a:t>
            </a:r>
            <a:endParaRPr lang="en-US" sz="1100" dirty="0"/>
          </a:p>
        </p:txBody>
      </p:sp>
      <p:sp>
        <p:nvSpPr>
          <p:cNvPr id="6" name="card"/>
          <p:cNvSpPr/>
          <p:nvPr/>
        </p:nvSpPr>
        <p:spPr>
          <a:xfrm>
            <a:off x="548640" y="1463040"/>
            <a:ext cx="3611880" cy="2468880"/>
          </a:xfrm>
          <a:prstGeom prst="roundRect">
            <a:avLst>
              <a:gd name="adj" fmla="val 4444"/>
            </a:avLst>
          </a:prstGeom>
          <a:solidFill>
            <a:srgbClr val="F4F4F4"/>
          </a:solidFill>
          <a:ln w="1905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77240" y="164592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得意なこと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19456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文章の下書き・整理・要約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案出し・言い換え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コードを書くこと</a:t>
            </a:r>
            <a:endParaRPr lang="en-US" sz="1300" dirty="0"/>
          </a:p>
        </p:txBody>
      </p:sp>
      <p:sp>
        <p:nvSpPr>
          <p:cNvPr id="9" name="card"/>
          <p:cNvSpPr/>
          <p:nvPr/>
        </p:nvSpPr>
        <p:spPr>
          <a:xfrm>
            <a:off x="4983480" y="1463040"/>
            <a:ext cx="3611880" cy="246888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9050">
            <a:solidFill>
              <a:srgbClr val="DD642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5212080" y="164592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苦手なこと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5212080" y="219456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自社の事情（教えないと知らない）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最新の情報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正確な数字（もっともらしく間違える）</a:t>
            </a:r>
            <a:endParaRPr lang="en-US" sz="1300" dirty="0"/>
          </a:p>
        </p:txBody>
      </p:sp>
      <p:sp>
        <p:nvSpPr>
          <p:cNvPr id="12" name="icon-circle"/>
          <p:cNvSpPr/>
          <p:nvPr/>
        </p:nvSpPr>
        <p:spPr>
          <a:xfrm>
            <a:off x="4325112" y="2450592"/>
            <a:ext cx="493776" cy="493776"/>
          </a:xfrm>
          <a:prstGeom prst="ellipse">
            <a:avLst/>
          </a:prstGeom>
          <a:solidFill>
            <a:schemeClr val="accent2"/>
          </a:solidFill>
          <a:ln w="15875">
            <a:solidFill>
              <a:srgbClr val="1A1A1A"/>
            </a:solidFill>
            <a:prstDash val="solid"/>
          </a:ln>
        </p:spPr>
      </p:sp>
      <p:pic>
        <p:nvPicPr>
          <p:cNvPr id="13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53494" y="2578974"/>
            <a:ext cx="237012" cy="237012"/>
          </a:xfrm>
          <a:prstGeom prst="rect">
            <a:avLst/>
          </a:prstGeom>
        </p:spPr>
      </p:pic>
      <p:sp>
        <p:nvSpPr>
          <p:cNvPr id="14" name="foot-box"/>
          <p:cNvSpPr/>
          <p:nvPr/>
        </p:nvSpPr>
        <p:spPr>
          <a:xfrm>
            <a:off x="548640" y="4114800"/>
            <a:ext cx="804672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5" name="foot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242816"/>
            <a:ext cx="246888" cy="246888"/>
          </a:xfrm>
          <a:prstGeom prst="rect">
            <a:avLst/>
          </a:prstGeom>
        </p:spPr>
      </p:pic>
      <p:sp>
        <p:nvSpPr>
          <p:cNvPr id="16" name="foot-text"/>
          <p:cNvSpPr txBox="1"/>
          <p:nvPr/>
        </p:nvSpPr>
        <p:spPr>
          <a:xfrm>
            <a:off x="1051560" y="4114800"/>
            <a:ext cx="7406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基本は「材料を渡す」「出てきたものを人が確かめる」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頼み方の型「や・も・ざ・か」</a:t>
            </a:r>
            <a:endParaRPr lang="en-US" sz="2400" dirty="0"/>
          </a:p>
        </p:txBody>
      </p:sp>
      <p:sp>
        <p:nvSpPr>
          <p:cNvPr id="3" name="chip"/>
          <p:cNvSpPr/>
          <p:nvPr/>
        </p:nvSpPr>
        <p:spPr>
          <a:xfrm>
            <a:off x="548640" y="292608"/>
            <a:ext cx="1344168" cy="29260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chip-text"/>
          <p:cNvSpPr txBox="1"/>
          <p:nvPr/>
        </p:nvSpPr>
        <p:spPr>
          <a:xfrm>
            <a:off x="548640" y="292608"/>
            <a:ext cx="1344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説明① 10分</a:t>
            </a:r>
            <a:endParaRPr lang="en-US" sz="1100" dirty="0"/>
          </a:p>
        </p:txBody>
      </p:sp>
      <p:sp>
        <p:nvSpPr>
          <p:cNvPr id="6" name="card"/>
          <p:cNvSpPr/>
          <p:nvPr/>
        </p:nvSpPr>
        <p:spPr>
          <a:xfrm>
            <a:off x="548640" y="1463040"/>
            <a:ext cx="1840230" cy="2286000"/>
          </a:xfrm>
          <a:prstGeom prst="roundRect">
            <a:avLst>
              <a:gd name="adj" fmla="val 5963"/>
            </a:avLst>
          </a:prstGeom>
          <a:solidFill>
            <a:schemeClr val="bg1"/>
          </a:solidFill>
          <a:ln w="1905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7" name="card-head"/>
          <p:cNvSpPr txBox="1"/>
          <p:nvPr/>
        </p:nvSpPr>
        <p:spPr>
          <a:xfrm>
            <a:off x="731520" y="1645920"/>
            <a:ext cx="147447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や｜役割</a:t>
            </a:r>
            <a:endParaRPr lang="en-US" sz="1700" dirty="0"/>
          </a:p>
        </p:txBody>
      </p:sp>
      <p:sp>
        <p:nvSpPr>
          <p:cNvPr id="8" name="card-body"/>
          <p:cNvSpPr txBox="1"/>
          <p:nvPr/>
        </p:nvSpPr>
        <p:spPr>
          <a:xfrm>
            <a:off x="731520" y="2103120"/>
            <a:ext cx="147447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何者として答えるか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例：飲食店の業務改善コンサルタント</a:t>
            </a:r>
            <a:endParaRPr lang="en-US" sz="1300" dirty="0"/>
          </a:p>
        </p:txBody>
      </p:sp>
      <p:sp>
        <p:nvSpPr>
          <p:cNvPr id="9" name="card"/>
          <p:cNvSpPr/>
          <p:nvPr/>
        </p:nvSpPr>
        <p:spPr>
          <a:xfrm>
            <a:off x="2617470" y="1463040"/>
            <a:ext cx="1840230" cy="2286000"/>
          </a:xfrm>
          <a:prstGeom prst="roundRect">
            <a:avLst>
              <a:gd name="adj" fmla="val 5963"/>
            </a:avLst>
          </a:prstGeom>
          <a:solidFill>
            <a:schemeClr val="bg1"/>
          </a:solidFill>
          <a:ln w="1905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10" name="card-head"/>
          <p:cNvSpPr txBox="1"/>
          <p:nvPr/>
        </p:nvSpPr>
        <p:spPr>
          <a:xfrm>
            <a:off x="2800350" y="1645920"/>
            <a:ext cx="147447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も｜目的</a:t>
            </a:r>
            <a:endParaRPr lang="en-US" sz="1700" dirty="0"/>
          </a:p>
        </p:txBody>
      </p:sp>
      <p:sp>
        <p:nvSpPr>
          <p:cNvPr id="11" name="card-body"/>
          <p:cNvSpPr txBox="1"/>
          <p:nvPr/>
        </p:nvSpPr>
        <p:spPr>
          <a:xfrm>
            <a:off x="2800350" y="2103120"/>
            <a:ext cx="147447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何のため・誰向けか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例：スタッフ3名向けの受付ルール</a:t>
            </a:r>
            <a:endParaRPr lang="en-US" sz="1300" dirty="0"/>
          </a:p>
        </p:txBody>
      </p:sp>
      <p:sp>
        <p:nvSpPr>
          <p:cNvPr id="12" name="card"/>
          <p:cNvSpPr/>
          <p:nvPr/>
        </p:nvSpPr>
        <p:spPr>
          <a:xfrm>
            <a:off x="4686300" y="1463040"/>
            <a:ext cx="1840230" cy="2286000"/>
          </a:xfrm>
          <a:prstGeom prst="roundRect">
            <a:avLst>
              <a:gd name="adj" fmla="val 5963"/>
            </a:avLst>
          </a:prstGeom>
          <a:solidFill>
            <a:schemeClr val="bg1"/>
          </a:solidFill>
          <a:ln w="1905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13" name="card-head"/>
          <p:cNvSpPr txBox="1"/>
          <p:nvPr/>
        </p:nvSpPr>
        <p:spPr>
          <a:xfrm>
            <a:off x="4869180" y="1645920"/>
            <a:ext cx="147447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ざ｜材料</a:t>
            </a:r>
            <a:endParaRPr lang="en-US" sz="1700" dirty="0"/>
          </a:p>
        </p:txBody>
      </p:sp>
      <p:sp>
        <p:nvSpPr>
          <p:cNvPr id="14" name="card-body"/>
          <p:cNvSpPr txBox="1"/>
          <p:nvPr/>
        </p:nvSpPr>
        <p:spPr>
          <a:xfrm>
            <a:off x="4869180" y="2103120"/>
            <a:ext cx="147447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判断に必要な情報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例：今のやり方・困りごと</a:t>
            </a:r>
            <a:endParaRPr lang="en-US" sz="1300" dirty="0"/>
          </a:p>
        </p:txBody>
      </p:sp>
      <p:sp>
        <p:nvSpPr>
          <p:cNvPr id="15" name="card"/>
          <p:cNvSpPr/>
          <p:nvPr/>
        </p:nvSpPr>
        <p:spPr>
          <a:xfrm>
            <a:off x="6755130" y="1463040"/>
            <a:ext cx="1840230" cy="2286000"/>
          </a:xfrm>
          <a:prstGeom prst="roundRect">
            <a:avLst>
              <a:gd name="adj" fmla="val 5963"/>
            </a:avLst>
          </a:prstGeom>
          <a:solidFill>
            <a:schemeClr val="bg1"/>
          </a:solidFill>
          <a:ln w="1905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16" name="card-head"/>
          <p:cNvSpPr txBox="1"/>
          <p:nvPr/>
        </p:nvSpPr>
        <p:spPr>
          <a:xfrm>
            <a:off x="6938010" y="1645920"/>
            <a:ext cx="147447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か｜形</a:t>
            </a:r>
            <a:endParaRPr lang="en-US" sz="1700" dirty="0"/>
          </a:p>
        </p:txBody>
      </p:sp>
      <p:sp>
        <p:nvSpPr>
          <p:cNvPr id="17" name="card-body"/>
          <p:cNvSpPr txBox="1"/>
          <p:nvPr/>
        </p:nvSpPr>
        <p:spPr>
          <a:xfrm>
            <a:off x="6938010" y="2103120"/>
            <a:ext cx="147447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出力の形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例：表で／300字以内で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業務文書をAIで作る</a:t>
            </a:r>
            <a:endParaRPr lang="en-US" sz="2400" dirty="0"/>
          </a:p>
        </p:txBody>
      </p:sp>
      <p:sp>
        <p:nvSpPr>
          <p:cNvPr id="3" name="chip"/>
          <p:cNvSpPr/>
          <p:nvPr/>
        </p:nvSpPr>
        <p:spPr>
          <a:xfrm>
            <a:off x="548640" y="292608"/>
            <a:ext cx="1755648" cy="29260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chip-text"/>
          <p:cNvSpPr txBox="1"/>
          <p:nvPr/>
        </p:nvSpPr>
        <p:spPr>
          <a:xfrm>
            <a:off x="548640" y="292608"/>
            <a:ext cx="175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ハンズオン① 20分</a:t>
            </a:r>
            <a:endParaRPr lang="en-US" sz="1100" dirty="0"/>
          </a:p>
        </p:txBody>
      </p:sp>
      <p:sp>
        <p:nvSpPr>
          <p:cNvPr id="6" name="step-num"/>
          <p:cNvSpPr/>
          <p:nvPr/>
        </p:nvSpPr>
        <p:spPr>
          <a:xfrm>
            <a:off x="548640" y="1572768"/>
            <a:ext cx="384048" cy="384048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7" name="step-num-text"/>
          <p:cNvSpPr txBox="1"/>
          <p:nvPr/>
        </p:nvSpPr>
        <p:spPr>
          <a:xfrm>
            <a:off x="54864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step-text"/>
          <p:cNvSpPr txBox="1"/>
          <p:nvPr/>
        </p:nvSpPr>
        <p:spPr>
          <a:xfrm>
            <a:off x="1097280" y="1463040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型を使わずに「予約受付のルールを作って」と頼む</a:t>
            </a:r>
            <a:endParaRPr lang="en-US" sz="1450" dirty="0"/>
          </a:p>
        </p:txBody>
      </p:sp>
      <p:sp>
        <p:nvSpPr>
          <p:cNvPr id="9" name="step-num"/>
          <p:cNvSpPr/>
          <p:nvPr/>
        </p:nvSpPr>
        <p:spPr>
          <a:xfrm>
            <a:off x="548640" y="2176272"/>
            <a:ext cx="384048" cy="384048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10" name="step-num-text"/>
          <p:cNvSpPr txBox="1"/>
          <p:nvPr/>
        </p:nvSpPr>
        <p:spPr>
          <a:xfrm>
            <a:off x="548640" y="2176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step-text"/>
          <p:cNvSpPr txBox="1"/>
          <p:nvPr/>
        </p:nvSpPr>
        <p:spPr>
          <a:xfrm>
            <a:off x="1097280" y="206654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型を使って同じことを頼む（プロンプト集 P-01）</a:t>
            </a:r>
            <a:endParaRPr lang="en-US" sz="1450" dirty="0"/>
          </a:p>
        </p:txBody>
      </p:sp>
      <p:sp>
        <p:nvSpPr>
          <p:cNvPr id="12" name="step-num"/>
          <p:cNvSpPr/>
          <p:nvPr/>
        </p:nvSpPr>
        <p:spPr>
          <a:xfrm>
            <a:off x="548640" y="2779776"/>
            <a:ext cx="384048" cy="384048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13" name="step-num-text"/>
          <p:cNvSpPr txBox="1"/>
          <p:nvPr/>
        </p:nvSpPr>
        <p:spPr>
          <a:xfrm>
            <a:off x="548640" y="27797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step-text"/>
          <p:cNvSpPr txBox="1"/>
          <p:nvPr/>
        </p:nvSpPr>
        <p:spPr>
          <a:xfrm>
            <a:off x="1097280" y="2670048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2つの答えを比べ、違いを共有する</a:t>
            </a:r>
            <a:endParaRPr lang="en-US" sz="1450" dirty="0"/>
          </a:p>
        </p:txBody>
      </p:sp>
      <p:sp>
        <p:nvSpPr>
          <p:cNvPr id="15" name="step-num"/>
          <p:cNvSpPr/>
          <p:nvPr/>
        </p:nvSpPr>
        <p:spPr>
          <a:xfrm>
            <a:off x="548640" y="3383280"/>
            <a:ext cx="384048" cy="384048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16" name="step-num-text"/>
          <p:cNvSpPr txBox="1"/>
          <p:nvPr/>
        </p:nvSpPr>
        <p:spPr>
          <a:xfrm>
            <a:off x="548640" y="3383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step-text"/>
          <p:cNvSpPr txBox="1"/>
          <p:nvPr/>
        </p:nvSpPr>
        <p:spPr>
          <a:xfrm>
            <a:off x="1097280" y="3273552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「もっと短く」「〜の場合を足して」と会話で直していく</a:t>
            </a:r>
            <a:endParaRPr lang="en-US" sz="1450" dirty="0"/>
          </a:p>
        </p:txBody>
      </p:sp>
      <p:sp>
        <p:nvSpPr>
          <p:cNvPr id="18" name="foot-box"/>
          <p:cNvSpPr/>
          <p:nvPr/>
        </p:nvSpPr>
        <p:spPr>
          <a:xfrm>
            <a:off x="548640" y="3977640"/>
            <a:ext cx="804672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9" name="foot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105656"/>
            <a:ext cx="246888" cy="246888"/>
          </a:xfrm>
          <a:prstGeom prst="rect">
            <a:avLst/>
          </a:prstGeom>
        </p:spPr>
      </p:pic>
      <p:sp>
        <p:nvSpPr>
          <p:cNvPr id="20" name="foot-text"/>
          <p:cNvSpPr txBox="1"/>
          <p:nvPr/>
        </p:nvSpPr>
        <p:spPr>
          <a:xfrm>
            <a:off x="1051560" y="3977640"/>
            <a:ext cx="7406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1回で完璧を狙わず、会話で育てる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AIを「壁打ち相手」にする</a:t>
            </a:r>
            <a:endParaRPr lang="en-US" sz="2400" dirty="0"/>
          </a:p>
        </p:txBody>
      </p:sp>
      <p:sp>
        <p:nvSpPr>
          <p:cNvPr id="3" name="chip"/>
          <p:cNvSpPr/>
          <p:nvPr/>
        </p:nvSpPr>
        <p:spPr>
          <a:xfrm>
            <a:off x="548640" y="292608"/>
            <a:ext cx="1344168" cy="29260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chip-text"/>
          <p:cNvSpPr txBox="1"/>
          <p:nvPr/>
        </p:nvSpPr>
        <p:spPr>
          <a:xfrm>
            <a:off x="548640" y="292608"/>
            <a:ext cx="1344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説明② 10分</a:t>
            </a:r>
            <a:endParaRPr lang="en-US" sz="1100" dirty="0"/>
          </a:p>
        </p:txBody>
      </p:sp>
      <p:sp>
        <p:nvSpPr>
          <p:cNvPr id="6" name="card"/>
          <p:cNvSpPr/>
          <p:nvPr/>
        </p:nvSpPr>
        <p:spPr>
          <a:xfrm>
            <a:off x="548640" y="1828800"/>
            <a:ext cx="1723644" cy="146304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 w="1905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548640" y="1993392"/>
            <a:ext cx="17236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STEP 1</a:t>
            </a:r>
            <a:endParaRPr lang="en-US" sz="1000" dirty="0"/>
          </a:p>
        </p:txBody>
      </p:sp>
      <p:sp>
        <p:nvSpPr>
          <p:cNvPr id="8" name="flow-node"/>
          <p:cNvSpPr txBox="1"/>
          <p:nvPr/>
        </p:nvSpPr>
        <p:spPr>
          <a:xfrm>
            <a:off x="640080" y="2286000"/>
            <a:ext cx="15407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設計シートを渡す</a:t>
            </a:r>
            <a:endParaRPr lang="en-US" sz="1400" dirty="0"/>
          </a:p>
        </p:txBody>
      </p:sp>
      <p:pic>
        <p:nvPicPr>
          <p:cNvPr id="9" name="flow-arrow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45436" y="2441448"/>
            <a:ext cx="237744" cy="237744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2656332" y="1828800"/>
            <a:ext cx="1723644" cy="146304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 w="1905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2656332" y="1993392"/>
            <a:ext cx="17236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STEP 2</a:t>
            </a:r>
            <a:endParaRPr lang="en-US" sz="1000" dirty="0"/>
          </a:p>
        </p:txBody>
      </p:sp>
      <p:sp>
        <p:nvSpPr>
          <p:cNvPr id="12" name="flow-node"/>
          <p:cNvSpPr txBox="1"/>
          <p:nvPr/>
        </p:nvSpPr>
        <p:spPr>
          <a:xfrm>
            <a:off x="2747772" y="2286000"/>
            <a:ext cx="15407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AIが1問ずつ質問</a:t>
            </a:r>
            <a:endParaRPr lang="en-US" sz="1400" dirty="0"/>
          </a:p>
        </p:txBody>
      </p:sp>
      <p:pic>
        <p:nvPicPr>
          <p:cNvPr id="13" name="flow-arrow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3128" y="2441448"/>
            <a:ext cx="237744" cy="237744"/>
          </a:xfrm>
          <a:prstGeom prst="rect">
            <a:avLst/>
          </a:prstGeom>
        </p:spPr>
      </p:pic>
      <p:sp>
        <p:nvSpPr>
          <p:cNvPr id="14" name="card"/>
          <p:cNvSpPr/>
          <p:nvPr/>
        </p:nvSpPr>
        <p:spPr>
          <a:xfrm>
            <a:off x="4764024" y="1828800"/>
            <a:ext cx="1723644" cy="146304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 w="1905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15" name="Text 10"/>
          <p:cNvSpPr txBox="1"/>
          <p:nvPr/>
        </p:nvSpPr>
        <p:spPr>
          <a:xfrm>
            <a:off x="4764024" y="1993392"/>
            <a:ext cx="17236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STEP 3</a:t>
            </a:r>
            <a:endParaRPr lang="en-US" sz="1000" dirty="0"/>
          </a:p>
        </p:txBody>
      </p:sp>
      <p:sp>
        <p:nvSpPr>
          <p:cNvPr id="16" name="flow-node"/>
          <p:cNvSpPr txBox="1"/>
          <p:nvPr/>
        </p:nvSpPr>
        <p:spPr>
          <a:xfrm>
            <a:off x="4855464" y="2286000"/>
            <a:ext cx="15407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自分が答える</a:t>
            </a:r>
            <a:endParaRPr lang="en-US" sz="1400" dirty="0"/>
          </a:p>
        </p:txBody>
      </p:sp>
      <p:pic>
        <p:nvPicPr>
          <p:cNvPr id="17" name="flow-arrow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0820" y="2441448"/>
            <a:ext cx="237744" cy="237744"/>
          </a:xfrm>
          <a:prstGeom prst="rect">
            <a:avLst/>
          </a:prstGeom>
        </p:spPr>
      </p:pic>
      <p:sp>
        <p:nvSpPr>
          <p:cNvPr id="18" name="card"/>
          <p:cNvSpPr/>
          <p:nvPr/>
        </p:nvSpPr>
        <p:spPr>
          <a:xfrm>
            <a:off x="6871716" y="1828800"/>
            <a:ext cx="1723644" cy="1463040"/>
          </a:xfrm>
          <a:prstGeom prst="roundRect">
            <a:avLst>
              <a:gd name="adj" fmla="val 7500"/>
            </a:avLst>
          </a:prstGeom>
          <a:solidFill>
            <a:schemeClr val="accent1"/>
          </a:solidFill>
          <a:ln w="1905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19" name="Text 13"/>
          <p:cNvSpPr txBox="1"/>
          <p:nvPr/>
        </p:nvSpPr>
        <p:spPr>
          <a:xfrm>
            <a:off x="6871716" y="1993392"/>
            <a:ext cx="17236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STEP 4</a:t>
            </a:r>
            <a:endParaRPr lang="en-US" sz="1000" dirty="0"/>
          </a:p>
        </p:txBody>
      </p:sp>
      <p:sp>
        <p:nvSpPr>
          <p:cNvPr id="20" name="flow-node"/>
          <p:cNvSpPr txBox="1"/>
          <p:nvPr/>
        </p:nvSpPr>
        <p:spPr>
          <a:xfrm>
            <a:off x="6963156" y="2286000"/>
            <a:ext cx="15407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設計シートにまとめる</a:t>
            </a:r>
            <a:endParaRPr lang="en-US" sz="1400" dirty="0"/>
          </a:p>
        </p:txBody>
      </p:sp>
      <p:sp>
        <p:nvSpPr>
          <p:cNvPr id="21" name="foot-box"/>
          <p:cNvSpPr/>
          <p:nvPr/>
        </p:nvSpPr>
        <p:spPr>
          <a:xfrm>
            <a:off x="548640" y="3794760"/>
            <a:ext cx="804672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2" name="foot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922776"/>
            <a:ext cx="246888" cy="246888"/>
          </a:xfrm>
          <a:prstGeom prst="rect">
            <a:avLst/>
          </a:prstGeom>
        </p:spPr>
      </p:pic>
      <p:sp>
        <p:nvSpPr>
          <p:cNvPr id="23" name="foot-text"/>
          <p:cNvSpPr txBox="1"/>
          <p:nvPr/>
        </p:nvSpPr>
        <p:spPr>
          <a:xfrm>
            <a:off x="1051560" y="3794760"/>
            <a:ext cx="7406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「足りない情報があれば、1つずつ質問してください」と付けると、AIが聞き役になる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設計シートをAIと仕上げる</a:t>
            </a:r>
            <a:endParaRPr lang="en-US" sz="2400" dirty="0"/>
          </a:p>
        </p:txBody>
      </p:sp>
      <p:sp>
        <p:nvSpPr>
          <p:cNvPr id="3" name="chip"/>
          <p:cNvSpPr/>
          <p:nvPr/>
        </p:nvSpPr>
        <p:spPr>
          <a:xfrm>
            <a:off x="548640" y="292608"/>
            <a:ext cx="1755648" cy="29260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chip-text"/>
          <p:cNvSpPr txBox="1"/>
          <p:nvPr/>
        </p:nvSpPr>
        <p:spPr>
          <a:xfrm>
            <a:off x="548640" y="292608"/>
            <a:ext cx="175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ハンズオン② 20分</a:t>
            </a:r>
            <a:endParaRPr lang="en-US" sz="1100" dirty="0"/>
          </a:p>
        </p:txBody>
      </p:sp>
      <p:sp>
        <p:nvSpPr>
          <p:cNvPr id="6" name="step-num"/>
          <p:cNvSpPr/>
          <p:nvPr/>
        </p:nvSpPr>
        <p:spPr>
          <a:xfrm>
            <a:off x="548640" y="1787652"/>
            <a:ext cx="384048" cy="384048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7" name="step-num-text"/>
          <p:cNvSpPr txBox="1"/>
          <p:nvPr/>
        </p:nvSpPr>
        <p:spPr>
          <a:xfrm>
            <a:off x="548640" y="17876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step-text"/>
          <p:cNvSpPr txBox="1"/>
          <p:nvPr/>
        </p:nvSpPr>
        <p:spPr>
          <a:xfrm>
            <a:off x="1097280" y="167792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第1回の設計シートを貼り付け、P-02「要件の壁打ち」で頼む</a:t>
            </a:r>
            <a:endParaRPr lang="en-US" sz="1450" dirty="0"/>
          </a:p>
        </p:txBody>
      </p:sp>
      <p:sp>
        <p:nvSpPr>
          <p:cNvPr id="9" name="step-num"/>
          <p:cNvSpPr/>
          <p:nvPr/>
        </p:nvSpPr>
        <p:spPr>
          <a:xfrm>
            <a:off x="548640" y="2391156"/>
            <a:ext cx="384048" cy="384048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10" name="step-num-text"/>
          <p:cNvSpPr txBox="1"/>
          <p:nvPr/>
        </p:nvSpPr>
        <p:spPr>
          <a:xfrm>
            <a:off x="548640" y="23911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step-text"/>
          <p:cNvSpPr txBox="1"/>
          <p:nvPr/>
        </p:nvSpPr>
        <p:spPr>
          <a:xfrm>
            <a:off x="1097280" y="2281428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AIの質問に答えていく（5〜10問）</a:t>
            </a:r>
            <a:endParaRPr lang="en-US" sz="1450" dirty="0"/>
          </a:p>
        </p:txBody>
      </p:sp>
      <p:sp>
        <p:nvSpPr>
          <p:cNvPr id="12" name="step-num"/>
          <p:cNvSpPr/>
          <p:nvPr/>
        </p:nvSpPr>
        <p:spPr>
          <a:xfrm>
            <a:off x="548640" y="2994660"/>
            <a:ext cx="384048" cy="384048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13" name="step-num-text"/>
          <p:cNvSpPr txBox="1"/>
          <p:nvPr/>
        </p:nvSpPr>
        <p:spPr>
          <a:xfrm>
            <a:off x="548640" y="29946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step-text"/>
          <p:cNvSpPr txBox="1"/>
          <p:nvPr/>
        </p:nvSpPr>
        <p:spPr>
          <a:xfrm>
            <a:off x="1097280" y="2884932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「設計シートの形にまとめて」と頼み、自分の言葉で直す</a:t>
            </a:r>
            <a:endParaRPr lang="en-US" sz="1450" dirty="0"/>
          </a:p>
        </p:txBody>
      </p:sp>
      <p:sp>
        <p:nvSpPr>
          <p:cNvPr id="15" name="foot-box"/>
          <p:cNvSpPr/>
          <p:nvPr/>
        </p:nvSpPr>
        <p:spPr>
          <a:xfrm>
            <a:off x="548640" y="3977640"/>
            <a:ext cx="804672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6" name="foot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105656"/>
            <a:ext cx="246888" cy="246888"/>
          </a:xfrm>
          <a:prstGeom prst="rect">
            <a:avLst/>
          </a:prstGeom>
        </p:spPr>
      </p:pic>
      <p:sp>
        <p:nvSpPr>
          <p:cNvPr id="17" name="foot-text"/>
          <p:cNvSpPr txBox="1"/>
          <p:nvPr/>
        </p:nvSpPr>
        <p:spPr>
          <a:xfrm>
            <a:off x="1051560" y="3977640"/>
            <a:ext cx="7406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完成の目安：使う人／入力する項目／見たい画面／知らせたいタイミング が埋まっている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AIに渡してはいけないもの</a:t>
            </a:r>
            <a:endParaRPr lang="en-US" sz="2400" dirty="0"/>
          </a:p>
        </p:txBody>
      </p:sp>
      <p:sp>
        <p:nvSpPr>
          <p:cNvPr id="3" name="chip"/>
          <p:cNvSpPr/>
          <p:nvPr/>
        </p:nvSpPr>
        <p:spPr>
          <a:xfrm>
            <a:off x="548640" y="292608"/>
            <a:ext cx="932688" cy="29260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4" name="chip-text"/>
          <p:cNvSpPr txBox="1"/>
          <p:nvPr/>
        </p:nvSpPr>
        <p:spPr>
          <a:xfrm>
            <a:off x="548640" y="292608"/>
            <a:ext cx="932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必ず守る</a:t>
            </a:r>
            <a:endParaRPr lang="en-US" sz="1100" dirty="0"/>
          </a:p>
        </p:txBody>
      </p:sp>
      <p:sp>
        <p:nvSpPr>
          <p:cNvPr id="6" name="card"/>
          <p:cNvSpPr/>
          <p:nvPr/>
        </p:nvSpPr>
        <p:spPr>
          <a:xfrm>
            <a:off x="548640" y="1463040"/>
            <a:ext cx="2529840" cy="2286000"/>
          </a:xfrm>
          <a:prstGeom prst="roundRect">
            <a:avLst>
              <a:gd name="adj" fmla="val 4800"/>
            </a:avLst>
          </a:prstGeom>
          <a:solidFill>
            <a:srgbClr val="FFF1F0"/>
          </a:solidFill>
          <a:ln w="1905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7" name="icon-circle"/>
          <p:cNvSpPr/>
          <p:nvPr/>
        </p:nvSpPr>
        <p:spPr>
          <a:xfrm>
            <a:off x="731520" y="1645920"/>
            <a:ext cx="502920" cy="502920"/>
          </a:xfrm>
          <a:prstGeom prst="ellipse">
            <a:avLst/>
          </a:prstGeom>
          <a:solidFill>
            <a:srgbClr val="E53935"/>
          </a:solidFill>
          <a:ln w="15875">
            <a:solidFill>
              <a:srgbClr val="1A1A1A"/>
            </a:solidFill>
            <a:prstDash val="solid"/>
          </a:ln>
        </p:spPr>
      </p:sp>
      <p:pic>
        <p:nvPicPr>
          <p:cNvPr id="8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2279" y="1776679"/>
            <a:ext cx="241402" cy="241402"/>
          </a:xfrm>
          <a:prstGeom prst="rect">
            <a:avLst/>
          </a:prstGeom>
        </p:spPr>
      </p:pic>
      <p:sp>
        <p:nvSpPr>
          <p:cNvPr id="9" name="card-head"/>
          <p:cNvSpPr txBox="1"/>
          <p:nvPr/>
        </p:nvSpPr>
        <p:spPr>
          <a:xfrm>
            <a:off x="731520" y="2286000"/>
            <a:ext cx="216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個人情報</a:t>
            </a:r>
            <a:endParaRPr lang="en-US" sz="1500" dirty="0"/>
          </a:p>
        </p:txBody>
      </p:sp>
      <p:sp>
        <p:nvSpPr>
          <p:cNvPr id="10" name="card-body"/>
          <p:cNvSpPr txBox="1"/>
          <p:nvPr/>
        </p:nvSpPr>
        <p:spPr>
          <a:xfrm>
            <a:off x="731520" y="2697480"/>
            <a:ext cx="216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顧客の実名・電話番号は「顧客A」に置き換える</a:t>
            </a:r>
            <a:endParaRPr lang="en-US" sz="1300" dirty="0"/>
          </a:p>
        </p:txBody>
      </p:sp>
      <p:sp>
        <p:nvSpPr>
          <p:cNvPr id="11" name="card"/>
          <p:cNvSpPr/>
          <p:nvPr/>
        </p:nvSpPr>
        <p:spPr>
          <a:xfrm>
            <a:off x="3307080" y="1463040"/>
            <a:ext cx="2529840" cy="2286000"/>
          </a:xfrm>
          <a:prstGeom prst="roundRect">
            <a:avLst>
              <a:gd name="adj" fmla="val 4800"/>
            </a:avLst>
          </a:prstGeom>
          <a:solidFill>
            <a:srgbClr val="FFF1F0"/>
          </a:solidFill>
          <a:ln w="1905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12" name="icon-circle"/>
          <p:cNvSpPr/>
          <p:nvPr/>
        </p:nvSpPr>
        <p:spPr>
          <a:xfrm>
            <a:off x="3489960" y="1645920"/>
            <a:ext cx="502920" cy="502920"/>
          </a:xfrm>
          <a:prstGeom prst="ellipse">
            <a:avLst/>
          </a:prstGeom>
          <a:solidFill>
            <a:srgbClr val="E53935"/>
          </a:solidFill>
          <a:ln w="15875">
            <a:solidFill>
              <a:srgbClr val="1A1A1A"/>
            </a:solidFill>
            <a:prstDash val="solid"/>
          </a:ln>
        </p:spPr>
      </p:sp>
      <p:pic>
        <p:nvPicPr>
          <p:cNvPr id="13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0719" y="1776679"/>
            <a:ext cx="241402" cy="241402"/>
          </a:xfrm>
          <a:prstGeom prst="rect">
            <a:avLst/>
          </a:prstGeom>
        </p:spPr>
      </p:pic>
      <p:sp>
        <p:nvSpPr>
          <p:cNvPr id="14" name="card-head"/>
          <p:cNvSpPr txBox="1"/>
          <p:nvPr/>
        </p:nvSpPr>
        <p:spPr>
          <a:xfrm>
            <a:off x="3489960" y="2286000"/>
            <a:ext cx="216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社外秘の数字</a:t>
            </a:r>
            <a:endParaRPr lang="en-US" sz="1500" dirty="0"/>
          </a:p>
        </p:txBody>
      </p:sp>
      <p:sp>
        <p:nvSpPr>
          <p:cNvPr id="15" name="card-body"/>
          <p:cNvSpPr txBox="1"/>
          <p:nvPr/>
        </p:nvSpPr>
        <p:spPr>
          <a:xfrm>
            <a:off x="3489960" y="2697480"/>
            <a:ext cx="216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丸めるか伏せる</a:t>
            </a:r>
            <a:endParaRPr lang="en-US" sz="1300" dirty="0"/>
          </a:p>
        </p:txBody>
      </p:sp>
      <p:sp>
        <p:nvSpPr>
          <p:cNvPr id="16" name="card"/>
          <p:cNvSpPr/>
          <p:nvPr/>
        </p:nvSpPr>
        <p:spPr>
          <a:xfrm>
            <a:off x="6065520" y="1463040"/>
            <a:ext cx="2529840" cy="2286000"/>
          </a:xfrm>
          <a:prstGeom prst="roundRect">
            <a:avLst>
              <a:gd name="adj" fmla="val 4800"/>
            </a:avLst>
          </a:prstGeom>
          <a:solidFill>
            <a:srgbClr val="FFF1F0"/>
          </a:solidFill>
          <a:ln w="1905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6248400" y="1645920"/>
            <a:ext cx="502920" cy="502920"/>
          </a:xfrm>
          <a:prstGeom prst="ellipse">
            <a:avLst/>
          </a:prstGeom>
          <a:solidFill>
            <a:srgbClr val="E53935"/>
          </a:solidFill>
          <a:ln w="15875">
            <a:solidFill>
              <a:srgbClr val="1A1A1A"/>
            </a:solidFill>
            <a:prstDash val="solid"/>
          </a:ln>
        </p:spPr>
      </p:sp>
      <p:pic>
        <p:nvPicPr>
          <p:cNvPr id="18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9159" y="1776679"/>
            <a:ext cx="241402" cy="241402"/>
          </a:xfrm>
          <a:prstGeom prst="rect">
            <a:avLst/>
          </a:prstGeom>
        </p:spPr>
      </p:pic>
      <p:sp>
        <p:nvSpPr>
          <p:cNvPr id="19" name="card-head"/>
          <p:cNvSpPr txBox="1"/>
          <p:nvPr/>
        </p:nvSpPr>
        <p:spPr>
          <a:xfrm>
            <a:off x="6248400" y="2286000"/>
            <a:ext cx="216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AIの事実・数字</a:t>
            </a:r>
            <a:endParaRPr lang="en-US" sz="1500" dirty="0"/>
          </a:p>
        </p:txBody>
      </p:sp>
      <p:sp>
        <p:nvSpPr>
          <p:cNvPr id="20" name="card-body"/>
          <p:cNvSpPr txBox="1"/>
          <p:nvPr/>
        </p:nvSpPr>
        <p:spPr>
          <a:xfrm>
            <a:off x="6248400" y="2697480"/>
            <a:ext cx="216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そのまま使わず、自分で確かめる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宿題と、今日のチェック</a:t>
            </a:r>
            <a:endParaRPr lang="en-US" sz="2400" dirty="0"/>
          </a:p>
        </p:txBody>
      </p:sp>
      <p:sp>
        <p:nvSpPr>
          <p:cNvPr id="3" name="chip"/>
          <p:cNvSpPr/>
          <p:nvPr/>
        </p:nvSpPr>
        <p:spPr>
          <a:xfrm>
            <a:off x="548640" y="292608"/>
            <a:ext cx="795528" cy="29260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chip-text"/>
          <p:cNvSpPr txBox="1"/>
          <p:nvPr/>
        </p:nvSpPr>
        <p:spPr>
          <a:xfrm>
            <a:off x="548640" y="292608"/>
            <a:ext cx="7955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まとめ</a:t>
            </a:r>
            <a:endParaRPr lang="en-US" sz="1100" dirty="0"/>
          </a:p>
        </p:txBody>
      </p:sp>
      <p:sp>
        <p:nvSpPr>
          <p:cNvPr id="5" name="card"/>
          <p:cNvSpPr/>
          <p:nvPr/>
        </p:nvSpPr>
        <p:spPr>
          <a:xfrm>
            <a:off x="548640" y="1463040"/>
            <a:ext cx="3886200" cy="301752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905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6" name="icon-circle"/>
          <p:cNvSpPr/>
          <p:nvPr/>
        </p:nvSpPr>
        <p:spPr>
          <a:xfrm>
            <a:off x="777240" y="1645920"/>
            <a:ext cx="457200" cy="457200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pic>
        <p:nvPicPr>
          <p:cNvPr id="7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1764792"/>
            <a:ext cx="219456" cy="21945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371600" y="16459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宿題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286000"/>
            <a:ext cx="34747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設計シートを見直し、画面の手書きラフ（入力画面・一覧画面）を描いて写真を撮る</a:t>
            </a:r>
            <a:endParaRPr lang="en-US" sz="1350" dirty="0"/>
          </a:p>
        </p:txBody>
      </p:sp>
      <p:sp>
        <p:nvSpPr>
          <p:cNvPr id="10" name="card"/>
          <p:cNvSpPr/>
          <p:nvPr/>
        </p:nvSpPr>
        <p:spPr>
          <a:xfrm>
            <a:off x="4709160" y="1463040"/>
            <a:ext cx="3886200" cy="301752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1905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4937760" y="1645920"/>
            <a:ext cx="457200" cy="457200"/>
          </a:xfrm>
          <a:prstGeom prst="ellipse">
            <a:avLst/>
          </a:prstGeom>
          <a:solidFill>
            <a:schemeClr val="accent1"/>
          </a:solidFill>
          <a:ln w="15875">
            <a:solidFill>
              <a:srgbClr val="1A1A1A"/>
            </a:solidFill>
            <a:prstDash val="solid"/>
          </a:ln>
        </p:spPr>
      </p:sp>
      <p:pic>
        <p:nvPicPr>
          <p:cNvPr id="12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6632" y="1764792"/>
            <a:ext cx="219456" cy="21945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532120" y="16459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できたらチェック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937760" y="2286000"/>
            <a:ext cx="34747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☐ 頼み方の型を使って頼めた</a:t>
            </a:r>
            <a:endParaRPr lang="en-US" sz="13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☐ 設計シートが1枚完成した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687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次回：第3回 Larkの基本を使いこなす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0604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わからないところは、講座グループでいつでも質問してください。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APIキーやパスワードは送らないでください。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naberu">
  <a:themeElements>
    <a:clrScheme name="Manaberu">
      <a:dk1>
        <a:srgbClr val="1A1A1A"/>
      </a:dk1>
      <a:lt1>
        <a:srgbClr val="FFFFFF"/>
      </a:lt1>
      <a:dk2>
        <a:srgbClr val="5A6872"/>
      </a:dk2>
      <a:lt2>
        <a:srgbClr val="FFF6CC"/>
      </a:lt2>
      <a:accent1>
        <a:srgbClr val="FFD600"/>
      </a:accent1>
      <a:accent2>
        <a:srgbClr val="DD6420"/>
      </a:accent2>
      <a:accent3>
        <a:srgbClr val="3370FF"/>
      </a:accent3>
      <a:accent4>
        <a:srgbClr val="06C755"/>
      </a:accent4>
      <a:accent5>
        <a:srgbClr val="E53935"/>
      </a:accent5>
      <a:accent6>
        <a:srgbClr val="F5A623"/>
      </a:accent6>
      <a:hlink>
        <a:srgbClr val="3370FF"/>
      </a:hlink>
      <a:folHlink>
        <a:srgbClr val="6B4FBB"/>
      </a:folHlink>
    </a:clrScheme>
    <a:fontScheme name="Manaberu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ささエール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マナベル 第2回 AIと話す型を身につける</dc:title>
  <dc:subject>PptxGenJS Presentation</dc:subject>
  <dc:creator>ささエール（Office Plata）</dc:creator>
  <cp:lastModifiedBy>ささエール（Office Plata）</cp:lastModifiedBy>
  <cp:revision>1</cp:revision>
  <dcterms:created xsi:type="dcterms:W3CDTF">2026-10-02T10:43:47Z</dcterms:created>
  <dcterms:modified xsi:type="dcterms:W3CDTF">2026-10-02T10:43:47Z</dcterms:modified>
</cp:coreProperties>
</file>