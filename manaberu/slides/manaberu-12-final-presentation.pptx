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d9aff302-080d-974e-59bd-ea1deacad841}">
          <p14:sldIdLst>
            <p14:sldId id="256"/>
            <p14:sldId id="257"/>
          </p14:sldIdLst>
        </p14:section>
        <p14:section name="本編" id="{6f710df6-4144-eee6-4595-e287e2dc6b84}">
          <p14:sldIdLst>
            <p14:sldId id="258"/>
            <p14:sldId id="259"/>
            <p14:sldId id="260"/>
            <p14:sldId id="261"/>
          </p14:sldIdLst>
        </p14:section>
        <p14:section name="まとめ" id="{015c643c-8dc2-abf3-bd47-5cdbfbb984cc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第12回「成果発表・構築者チェック」。前回の宿題の提出状況を確認してから始める。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ゴールを読み上げ、今日は「聞く」と「手を動かす」を交互に進めることを伝える。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発表原稿はAIに下書きさせてよい。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ワークシートは8項目。スライドでは5つにまとめて見せる。自己評価と講師評価をすり合わせる。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宿題の目安時間を伝える。質問は講座グループへ（24時間以内に返信・土日祝を除く）。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次回までの宿題をもう一度確認して終了。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TITLE">
    <p:bg>
      <p:bgPr>
        <a:solidFill>
          <a:srgbClr val="FFD6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691640"/>
            <a:ext cx="58521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246120"/>
            <a:ext cx="58521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/>
        </p:nvSpPr>
        <p:spPr>
          <a:xfrm>
            <a:off x="548640" y="4526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マナベル｜AI×Lark 構築者育成講座</a:t>
            </a:r>
            <a:endParaRPr lang="en-US" sz="1000" dirty="0"/>
          </a:p>
        </p:txBody>
      </p:sp>
      <p:sp>
        <p:nvSpPr>
          <p:cNvPr id="5" name="Text 1"/>
          <p:cNvSpPr/>
          <p:nvPr/>
        </p:nvSpPr>
        <p:spPr>
          <a:xfrm>
            <a:off x="676656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ささエール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548640" y="4773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マナベル　第12回　成果発表・構築者チェック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DARK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548640" y="4526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マナベル｜AI×Lark 構築者育成講座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sson-badge"/>
          <p:cNvSpPr/>
          <p:nvPr/>
        </p:nvSpPr>
        <p:spPr>
          <a:xfrm>
            <a:off x="548640" y="822960"/>
            <a:ext cx="1828800" cy="56692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548640" y="8229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第12回</a:t>
            </a:r>
            <a:endParaRPr lang="en-US" sz="2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169164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成果発表・構築者チェック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24612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フェーズ4 サービスにする　｜　第8週</a:t>
            </a:r>
            <a:endParaRPr lang="en-US" sz="1400" dirty="0"/>
          </a:p>
        </p:txBody>
      </p:sp>
      <p:sp>
        <p:nvSpPr>
          <p:cNvPr id="6" name="title-circle"/>
          <p:cNvSpPr/>
          <p:nvPr/>
        </p:nvSpPr>
        <p:spPr>
          <a:xfrm>
            <a:off x="6537960" y="1188720"/>
            <a:ext cx="2103120" cy="2103120"/>
          </a:xfrm>
          <a:prstGeom prst="ellipse">
            <a:avLst/>
          </a:prstGeom>
          <a:solidFill>
            <a:schemeClr val="bg1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pic>
        <p:nvPicPr>
          <p:cNvPr id="7" name="title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73736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今日のゴールと流れ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93268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932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はじめに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548640" y="1417320"/>
            <a:ext cx="252984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6" name="icon-circle"/>
          <p:cNvSpPr/>
          <p:nvPr/>
        </p:nvSpPr>
        <p:spPr>
          <a:xfrm>
            <a:off x="731520" y="1600200"/>
            <a:ext cx="411480" cy="41148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5" y="1707185"/>
            <a:ext cx="197510" cy="197510"/>
          </a:xfrm>
          <a:prstGeom prst="rect">
            <a:avLst/>
          </a:prstGeom>
        </p:spPr>
      </p:pic>
      <p:sp>
        <p:nvSpPr>
          <p:cNvPr id="8" name="goal"/>
          <p:cNvSpPr txBox="1"/>
          <p:nvPr/>
        </p:nvSpPr>
        <p:spPr>
          <a:xfrm>
            <a:off x="1280160" y="1508760"/>
            <a:ext cx="1615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作ったしくみを、5分で人に説明できる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3307080" y="1417320"/>
            <a:ext cx="252984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3489960" y="1600200"/>
            <a:ext cx="411480" cy="41148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6945" y="1707185"/>
            <a:ext cx="197510" cy="197510"/>
          </a:xfrm>
          <a:prstGeom prst="rect">
            <a:avLst/>
          </a:prstGeom>
        </p:spPr>
      </p:pic>
      <p:sp>
        <p:nvSpPr>
          <p:cNvPr id="12" name="goal"/>
          <p:cNvSpPr txBox="1"/>
          <p:nvPr/>
        </p:nvSpPr>
        <p:spPr>
          <a:xfrm>
            <a:off x="4038600" y="1508760"/>
            <a:ext cx="1615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構築者チェックで、自分の到達点を確かめる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6065520" y="1417320"/>
            <a:ext cx="252984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6248400" y="1600200"/>
            <a:ext cx="411480" cy="41148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385" y="1707185"/>
            <a:ext cx="197510" cy="197510"/>
          </a:xfrm>
          <a:prstGeom prst="rect">
            <a:avLst/>
          </a:prstGeom>
        </p:spPr>
      </p:pic>
      <p:sp>
        <p:nvSpPr>
          <p:cNvPr id="16" name="goal"/>
          <p:cNvSpPr txBox="1"/>
          <p:nvPr/>
        </p:nvSpPr>
        <p:spPr>
          <a:xfrm>
            <a:off x="6797040" y="1508760"/>
            <a:ext cx="1615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これから半年の改善計画がある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今日の流れ（90分）</a:t>
            </a:r>
            <a:endParaRPr lang="en-US" sz="1300" dirty="0"/>
          </a:p>
        </p:txBody>
      </p:sp>
      <p:sp>
        <p:nvSpPr>
          <p:cNvPr id="18" name="time-block"/>
          <p:cNvSpPr/>
          <p:nvPr/>
        </p:nvSpPr>
        <p:spPr>
          <a:xfrm>
            <a:off x="548640" y="3383280"/>
            <a:ext cx="44704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ime-label"/>
          <p:cNvSpPr txBox="1"/>
          <p:nvPr/>
        </p:nvSpPr>
        <p:spPr>
          <a:xfrm>
            <a:off x="548640" y="3383280"/>
            <a:ext cx="44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D600"/>
                </a:solidFill>
              </a:rPr>
              <a:t>進め方</a:t>
            </a:r>
            <a:endParaRPr lang="en-US" sz="8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5分</a:t>
            </a:r>
            <a:endParaRPr lang="en-US" sz="850" dirty="0"/>
          </a:p>
        </p:txBody>
      </p:sp>
      <p:sp>
        <p:nvSpPr>
          <p:cNvPr id="20" name="time-block"/>
          <p:cNvSpPr/>
          <p:nvPr/>
        </p:nvSpPr>
        <p:spPr>
          <a:xfrm>
            <a:off x="995680" y="3383280"/>
            <a:ext cx="4470400" cy="685800"/>
          </a:xfrm>
          <a:prstGeom prst="rect">
            <a:avLst/>
          </a:prstGeom>
          <a:solidFill>
            <a:srgbClr val="DD64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ime-label"/>
          <p:cNvSpPr txBox="1"/>
          <p:nvPr/>
        </p:nvSpPr>
        <p:spPr>
          <a:xfrm>
            <a:off x="995680" y="3383280"/>
            <a:ext cx="447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発表（1人5分＋質疑3分）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50分</a:t>
            </a:r>
            <a:endParaRPr lang="en-US" sz="1050" dirty="0"/>
          </a:p>
        </p:txBody>
      </p:sp>
      <p:sp>
        <p:nvSpPr>
          <p:cNvPr id="22" name="time-block"/>
          <p:cNvSpPr/>
          <p:nvPr/>
        </p:nvSpPr>
        <p:spPr>
          <a:xfrm>
            <a:off x="5466080" y="3383280"/>
            <a:ext cx="134112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ime-label"/>
          <p:cNvSpPr txBox="1"/>
          <p:nvPr/>
        </p:nvSpPr>
        <p:spPr>
          <a:xfrm>
            <a:off x="5466080" y="3383280"/>
            <a:ext cx="134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600"/>
                </a:solidFill>
              </a:rPr>
              <a:t>講評・チェック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15分</a:t>
            </a:r>
            <a:endParaRPr lang="en-US" sz="1050" dirty="0"/>
          </a:p>
        </p:txBody>
      </p:sp>
      <p:sp>
        <p:nvSpPr>
          <p:cNvPr id="24" name="time-block"/>
          <p:cNvSpPr/>
          <p:nvPr/>
        </p:nvSpPr>
        <p:spPr>
          <a:xfrm>
            <a:off x="6807200" y="3383280"/>
            <a:ext cx="1341120" cy="685800"/>
          </a:xfrm>
          <a:prstGeom prst="rect">
            <a:avLst/>
          </a:prstGeom>
          <a:solidFill>
            <a:srgbClr val="DD64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ime-label"/>
          <p:cNvSpPr txBox="1"/>
          <p:nvPr/>
        </p:nvSpPr>
        <p:spPr>
          <a:xfrm>
            <a:off x="6807200" y="3383280"/>
            <a:ext cx="134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改善計画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15分</a:t>
            </a:r>
            <a:endParaRPr lang="en-US" sz="1050" dirty="0"/>
          </a:p>
        </p:txBody>
      </p:sp>
      <p:sp>
        <p:nvSpPr>
          <p:cNvPr id="26" name="time-block"/>
          <p:cNvSpPr/>
          <p:nvPr/>
        </p:nvSpPr>
        <p:spPr>
          <a:xfrm>
            <a:off x="8148320" y="3383280"/>
            <a:ext cx="44704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ime-label"/>
          <p:cNvSpPr txBox="1"/>
          <p:nvPr/>
        </p:nvSpPr>
        <p:spPr>
          <a:xfrm>
            <a:off x="8148320" y="3383280"/>
            <a:ext cx="44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D600"/>
                </a:solidFill>
              </a:rPr>
              <a:t>修了</a:t>
            </a:r>
            <a:endParaRPr lang="en-US" sz="8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5分</a:t>
            </a:r>
            <a:endParaRPr lang="en-US" sz="850" dirty="0"/>
          </a:p>
        </p:txBody>
      </p:sp>
      <p:sp>
        <p:nvSpPr>
          <p:cNvPr id="28" name="Text 23"/>
          <p:cNvSpPr txBox="1"/>
          <p:nvPr/>
        </p:nvSpPr>
        <p:spPr>
          <a:xfrm>
            <a:off x="548640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■ 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聞く　</a:t>
            </a:r>
            <a:pPr indent="0" marL="0">
              <a:buNone/>
            </a:pPr>
            <a:r>
              <a:rPr lang="en-US" sz="1000" dirty="0">
                <a:solidFill>
                  <a:srgbClr val="DD6420"/>
                </a:solidFill>
              </a:rPr>
              <a:t>■ 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手を動かす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発表の組み立て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06984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069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発表 5分</a:t>
            </a:r>
            <a:endParaRPr lang="en-US" sz="1100" dirty="0"/>
          </a:p>
        </p:txBody>
      </p:sp>
      <p:sp>
        <p:nvSpPr>
          <p:cNvPr id="6" name="card"/>
          <p:cNvSpPr/>
          <p:nvPr/>
        </p:nvSpPr>
        <p:spPr>
          <a:xfrm>
            <a:off x="548640" y="1828800"/>
            <a:ext cx="1302106" cy="1463040"/>
          </a:xfrm>
          <a:prstGeom prst="roundRect">
            <a:avLst>
              <a:gd name="adj" fmla="val 8427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548640" y="1993392"/>
            <a:ext cx="1302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STEP 1</a:t>
            </a:r>
            <a:endParaRPr lang="en-US" sz="1000" dirty="0"/>
          </a:p>
        </p:txBody>
      </p:sp>
      <p:sp>
        <p:nvSpPr>
          <p:cNvPr id="8" name="flow-node"/>
          <p:cNvSpPr txBox="1"/>
          <p:nvPr/>
        </p:nvSpPr>
        <p:spPr>
          <a:xfrm>
            <a:off x="640080" y="2286000"/>
            <a:ext cx="111922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困りごと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30秒</a:t>
            </a:r>
            <a:endParaRPr lang="en-US" sz="1250" dirty="0"/>
          </a:p>
        </p:txBody>
      </p:sp>
      <p:pic>
        <p:nvPicPr>
          <p:cNvPr id="9" name="flow-arrow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3898" y="2441448"/>
            <a:ext cx="237744" cy="237744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234794" y="1828800"/>
            <a:ext cx="1302106" cy="1463040"/>
          </a:xfrm>
          <a:prstGeom prst="roundRect">
            <a:avLst>
              <a:gd name="adj" fmla="val 8427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2234794" y="1993392"/>
            <a:ext cx="1302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STEP 2</a:t>
            </a:r>
            <a:endParaRPr lang="en-US" sz="1000" dirty="0"/>
          </a:p>
        </p:txBody>
      </p:sp>
      <p:sp>
        <p:nvSpPr>
          <p:cNvPr id="12" name="flow-node"/>
          <p:cNvSpPr txBox="1"/>
          <p:nvPr/>
        </p:nvSpPr>
        <p:spPr>
          <a:xfrm>
            <a:off x="2326234" y="2286000"/>
            <a:ext cx="111922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デモ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2分</a:t>
            </a:r>
            <a:endParaRPr lang="en-US" sz="1250" dirty="0"/>
          </a:p>
        </p:txBody>
      </p:sp>
      <p:pic>
        <p:nvPicPr>
          <p:cNvPr id="13" name="flow-arrow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0051" y="2441448"/>
            <a:ext cx="237744" cy="237744"/>
          </a:xfrm>
          <a:prstGeom prst="rect">
            <a:avLst/>
          </a:prstGeom>
        </p:spPr>
      </p:pic>
      <p:sp>
        <p:nvSpPr>
          <p:cNvPr id="14" name="card"/>
          <p:cNvSpPr/>
          <p:nvPr/>
        </p:nvSpPr>
        <p:spPr>
          <a:xfrm>
            <a:off x="3920947" y="1828800"/>
            <a:ext cx="1302106" cy="1463040"/>
          </a:xfrm>
          <a:prstGeom prst="roundRect">
            <a:avLst>
              <a:gd name="adj" fmla="val 8427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3920947" y="1993392"/>
            <a:ext cx="1302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STEP 3</a:t>
            </a:r>
            <a:endParaRPr lang="en-US" sz="1000" dirty="0"/>
          </a:p>
        </p:txBody>
      </p:sp>
      <p:sp>
        <p:nvSpPr>
          <p:cNvPr id="16" name="flow-node"/>
          <p:cNvSpPr txBox="1"/>
          <p:nvPr/>
        </p:nvSpPr>
        <p:spPr>
          <a:xfrm>
            <a:off x="4012387" y="2286000"/>
            <a:ext cx="111922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Lark／AIで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作った所 1分</a:t>
            </a:r>
            <a:endParaRPr lang="en-US" sz="1250" dirty="0"/>
          </a:p>
        </p:txBody>
      </p:sp>
      <p:pic>
        <p:nvPicPr>
          <p:cNvPr id="17" name="flow-arrow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6205" y="2441448"/>
            <a:ext cx="237744" cy="237744"/>
          </a:xfrm>
          <a:prstGeom prst="rect">
            <a:avLst/>
          </a:prstGeom>
        </p:spPr>
      </p:pic>
      <p:sp>
        <p:nvSpPr>
          <p:cNvPr id="18" name="card"/>
          <p:cNvSpPr/>
          <p:nvPr/>
        </p:nvSpPr>
        <p:spPr>
          <a:xfrm>
            <a:off x="5607101" y="1828800"/>
            <a:ext cx="1302106" cy="1463040"/>
          </a:xfrm>
          <a:prstGeom prst="roundRect">
            <a:avLst>
              <a:gd name="adj" fmla="val 8427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9" name="Text 13"/>
          <p:cNvSpPr txBox="1"/>
          <p:nvPr/>
        </p:nvSpPr>
        <p:spPr>
          <a:xfrm>
            <a:off x="5607101" y="1993392"/>
            <a:ext cx="1302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STEP 4</a:t>
            </a:r>
            <a:endParaRPr lang="en-US" sz="1000" dirty="0"/>
          </a:p>
        </p:txBody>
      </p:sp>
      <p:sp>
        <p:nvSpPr>
          <p:cNvPr id="20" name="flow-node"/>
          <p:cNvSpPr txBox="1"/>
          <p:nvPr/>
        </p:nvSpPr>
        <p:spPr>
          <a:xfrm>
            <a:off x="5698541" y="2286000"/>
            <a:ext cx="111922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結果・反応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1分</a:t>
            </a:r>
            <a:endParaRPr lang="en-US" sz="1250" dirty="0"/>
          </a:p>
        </p:txBody>
      </p:sp>
      <p:pic>
        <p:nvPicPr>
          <p:cNvPr id="21" name="flow-arrow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2358" y="2441448"/>
            <a:ext cx="237744" cy="237744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293254" y="1828800"/>
            <a:ext cx="1302106" cy="1463040"/>
          </a:xfrm>
          <a:prstGeom prst="roundRect">
            <a:avLst>
              <a:gd name="adj" fmla="val 8427"/>
            </a:avLst>
          </a:prstGeom>
          <a:solidFill>
            <a:schemeClr val="accent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23" name="Text 16"/>
          <p:cNvSpPr txBox="1"/>
          <p:nvPr/>
        </p:nvSpPr>
        <p:spPr>
          <a:xfrm>
            <a:off x="7293254" y="1993392"/>
            <a:ext cx="1302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STEP 5</a:t>
            </a:r>
            <a:endParaRPr lang="en-US" sz="1000" dirty="0"/>
          </a:p>
        </p:txBody>
      </p:sp>
      <p:sp>
        <p:nvSpPr>
          <p:cNvPr id="24" name="flow-node"/>
          <p:cNvSpPr txBox="1"/>
          <p:nvPr/>
        </p:nvSpPr>
        <p:spPr>
          <a:xfrm>
            <a:off x="7384694" y="2286000"/>
            <a:ext cx="111922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次に足す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30秒</a:t>
            </a:r>
            <a:endParaRPr lang="en-US" sz="1250" dirty="0"/>
          </a:p>
        </p:txBody>
      </p:sp>
      <p:sp>
        <p:nvSpPr>
          <p:cNvPr id="25" name="foot-box"/>
          <p:cNvSpPr/>
          <p:nvPr/>
        </p:nvSpPr>
        <p:spPr>
          <a:xfrm>
            <a:off x="548640" y="3794760"/>
            <a:ext cx="804672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6" name="foot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922776"/>
            <a:ext cx="246888" cy="246888"/>
          </a:xfrm>
          <a:prstGeom prst="rect">
            <a:avLst/>
          </a:prstGeom>
        </p:spPr>
      </p:pic>
      <p:sp>
        <p:nvSpPr>
          <p:cNvPr id="27" name="foot-text"/>
          <p:cNvSpPr txBox="1"/>
          <p:nvPr/>
        </p:nvSpPr>
        <p:spPr>
          <a:xfrm>
            <a:off x="1051560" y="379476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デモは「入力 → BASE → 通知 → 集計」を通しで見せる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構築者の8つの力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34416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344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構築者チェック</a:t>
            </a:r>
            <a:endParaRPr lang="en-US" sz="1100" dirty="0"/>
          </a:p>
        </p:txBody>
      </p:sp>
      <p:graphicFrame>
        <p:nvGraphicFramePr>
          <p:cNvPr id="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8046720" cy="914400"/>
        </p:xfrm>
        <a:graphic>
          <a:graphicData uri="http://schemas.openxmlformats.org/drawingml/2006/table">
            <a:tbl>
              <a:tblPr/>
              <a:tblGrid>
                <a:gridCol w="2145792"/>
                <a:gridCol w="5900928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D600"/>
                          </a:solidFill>
                        </a:rPr>
                        <a:t>力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D600"/>
                          </a:solidFill>
                        </a:rPr>
                        <a:t>確かめること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聞き取る・決める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困りごとを聞き、作るものと成功の目安を決めた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Larkで組む・回す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テーブル・フォーム・ビュー・自動化が本番で動いている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AIで作る・つなぐ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アプリを公開し、BASE・LINEとつながっている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守る・育てる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秘密情報を守り、改善を1回まわした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伝える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社内の人に使い方を説明した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foot-box"/>
          <p:cNvSpPr/>
          <p:nvPr/>
        </p:nvSpPr>
        <p:spPr>
          <a:xfrm>
            <a:off x="548640" y="4114800"/>
            <a:ext cx="804672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foo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242816"/>
            <a:ext cx="246888" cy="246888"/>
          </a:xfrm>
          <a:prstGeom prst="rect">
            <a:avLst/>
          </a:prstGeom>
        </p:spPr>
      </p:pic>
      <p:sp>
        <p:nvSpPr>
          <p:cNvPr id="9" name="foot-text"/>
          <p:cNvSpPr txBox="1"/>
          <p:nvPr/>
        </p:nvSpPr>
        <p:spPr>
          <a:xfrm>
            <a:off x="1051560" y="411480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判定：◎ 1人でできた／○ 見ながらできた／△ 助けが必要。修了の目安は全項目△以上かつ◎が4つ以上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これから6ヶ月の改善計画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48132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改善計画 15分</a:t>
            </a:r>
            <a:endParaRPr lang="en-US" sz="1100" dirty="0"/>
          </a:p>
        </p:txBody>
      </p:sp>
      <p:graphicFrame>
        <p:nvGraphicFramePr>
          <p:cNvPr id="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8046720" cy="914400"/>
        </p:xfrm>
        <a:graphic>
          <a:graphicData uri="http://schemas.openxmlformats.org/drawingml/2006/table">
            <a:tbl>
              <a:tblPr/>
              <a:tblGrid>
                <a:gridCol w="1251712"/>
                <a:gridCol w="2861056"/>
                <a:gridCol w="1966976"/>
                <a:gridCol w="1966976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D600"/>
                          </a:solidFill>
                        </a:rPr>
                        <a:t>月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D600"/>
                          </a:solidFill>
                        </a:rPr>
                        <a:t>やること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D600"/>
                          </a:solidFill>
                        </a:rPr>
                        <a:t>使う道具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D600"/>
                          </a:solidFill>
                        </a:rPr>
                        <a:t>完了の目安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4〜6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6" name="foot-box"/>
          <p:cNvSpPr/>
          <p:nvPr/>
        </p:nvSpPr>
        <p:spPr>
          <a:xfrm>
            <a:off x="548640" y="4114800"/>
            <a:ext cx="804672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7" name="foo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242816"/>
            <a:ext cx="246888" cy="246888"/>
          </a:xfrm>
          <a:prstGeom prst="rect">
            <a:avLst/>
          </a:prstGeom>
        </p:spPr>
      </p:pic>
      <p:sp>
        <p:nvSpPr>
          <p:cNvPr id="8" name="foot-text"/>
          <p:cNvSpPr txBox="1"/>
          <p:nvPr/>
        </p:nvSpPr>
        <p:spPr>
          <a:xfrm>
            <a:off x="1051560" y="411480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1ヶ月後に定着チェックで、使われ続けているかを確かめます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これからも「作る人」でいるために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79552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795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修了後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548640" y="1463040"/>
            <a:ext cx="2529840" cy="2286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6" name="icon-circle"/>
          <p:cNvSpPr/>
          <p:nvPr/>
        </p:nvSpPr>
        <p:spPr>
          <a:xfrm>
            <a:off x="731520" y="1645920"/>
            <a:ext cx="502920" cy="50292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279" y="1776679"/>
            <a:ext cx="241402" cy="241402"/>
          </a:xfrm>
          <a:prstGeom prst="rect">
            <a:avLst/>
          </a:prstGeom>
        </p:spPr>
      </p:pic>
      <p:sp>
        <p:nvSpPr>
          <p:cNvPr id="8" name="card-head"/>
          <p:cNvSpPr txBox="1"/>
          <p:nvPr/>
        </p:nvSpPr>
        <p:spPr>
          <a:xfrm>
            <a:off x="731520" y="228600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1ヶ月後</a:t>
            </a:r>
            <a:endParaRPr lang="en-US" sz="1500" dirty="0"/>
          </a:p>
        </p:txBody>
      </p:sp>
      <p:sp>
        <p:nvSpPr>
          <p:cNvPr id="9" name="card-body"/>
          <p:cNvSpPr txBox="1"/>
          <p:nvPr/>
        </p:nvSpPr>
        <p:spPr>
          <a:xfrm>
            <a:off x="731520" y="269748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定着チェック表で、使われ続けているかを確認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3307080" y="1463040"/>
            <a:ext cx="2529840" cy="2286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3489960" y="1645920"/>
            <a:ext cx="502920" cy="50292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0719" y="1776679"/>
            <a:ext cx="241402" cy="241402"/>
          </a:xfrm>
          <a:prstGeom prst="rect">
            <a:avLst/>
          </a:prstGeom>
        </p:spPr>
      </p:pic>
      <p:sp>
        <p:nvSpPr>
          <p:cNvPr id="13" name="card-head"/>
          <p:cNvSpPr txBox="1"/>
          <p:nvPr/>
        </p:nvSpPr>
        <p:spPr>
          <a:xfrm>
            <a:off x="3489960" y="228600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改善を続ける</a:t>
            </a:r>
            <a:endParaRPr lang="en-US" sz="1500" dirty="0"/>
          </a:p>
        </p:txBody>
      </p:sp>
      <p:sp>
        <p:nvSpPr>
          <p:cNvPr id="14" name="card-body"/>
          <p:cNvSpPr txBox="1"/>
          <p:nvPr/>
        </p:nvSpPr>
        <p:spPr>
          <a:xfrm>
            <a:off x="3489960" y="269748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要望はBASEに集め、月1回直す</a:t>
            </a:r>
            <a:endParaRPr lang="en-US" sz="1300" dirty="0"/>
          </a:p>
        </p:txBody>
      </p:sp>
      <p:sp>
        <p:nvSpPr>
          <p:cNvPr id="15" name="card"/>
          <p:cNvSpPr/>
          <p:nvPr/>
        </p:nvSpPr>
        <p:spPr>
          <a:xfrm>
            <a:off x="6065520" y="1463040"/>
            <a:ext cx="2529840" cy="2286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6" name="icon-circle"/>
          <p:cNvSpPr/>
          <p:nvPr/>
        </p:nvSpPr>
        <p:spPr>
          <a:xfrm>
            <a:off x="6248400" y="1645920"/>
            <a:ext cx="502920" cy="50292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7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9159" y="1776679"/>
            <a:ext cx="241402" cy="241402"/>
          </a:xfrm>
          <a:prstGeom prst="rect">
            <a:avLst/>
          </a:prstGeom>
        </p:spPr>
      </p:pic>
      <p:sp>
        <p:nvSpPr>
          <p:cNvPr id="18" name="card-head"/>
          <p:cNvSpPr txBox="1"/>
          <p:nvPr/>
        </p:nvSpPr>
        <p:spPr>
          <a:xfrm>
            <a:off x="6248400" y="228600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マカセル</a:t>
            </a:r>
            <a:endParaRPr lang="en-US" sz="1500" dirty="0"/>
          </a:p>
        </p:txBody>
      </p:sp>
      <p:sp>
        <p:nvSpPr>
          <p:cNvPr id="19" name="card-body"/>
          <p:cNvSpPr txBox="1"/>
          <p:nvPr/>
        </p:nvSpPr>
        <p:spPr>
          <a:xfrm>
            <a:off x="6248400" y="269748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作ったしくみをマンツーマンで育てる伴走もご案内しています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宿題と、今日のチェック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79552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795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まとめ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548640" y="1463040"/>
            <a:ext cx="388620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6" name="icon-circle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219456" cy="21945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1645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宿題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4747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1ヶ月後に定着チェック表をつける</a:t>
            </a:r>
            <a:endParaRPr lang="en-US" sz="1350" dirty="0"/>
          </a:p>
        </p:txBody>
      </p:sp>
      <p:sp>
        <p:nvSpPr>
          <p:cNvPr id="10" name="card"/>
          <p:cNvSpPr/>
          <p:nvPr/>
        </p:nvSpPr>
        <p:spPr>
          <a:xfrm>
            <a:off x="4709160" y="1463040"/>
            <a:ext cx="3886200" cy="30175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937760" y="1645920"/>
            <a:ext cx="457200" cy="45720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32" y="176479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532120" y="1645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できたらチェック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937760" y="2286000"/>
            <a:ext cx="34747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公開されたしくみがある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改善計画がWikiに置いてある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修了おめでとうございます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あなたはもう、自社のしくみを作れる「構築者」です。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作ったしくみを、使われながら育てていきましょう。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aberu">
  <a:themeElements>
    <a:clrScheme name="Manaberu">
      <a:dk1>
        <a:srgbClr val="1A1A1A"/>
      </a:dk1>
      <a:lt1>
        <a:srgbClr val="FFFFFF"/>
      </a:lt1>
      <a:dk2>
        <a:srgbClr val="5A6872"/>
      </a:dk2>
      <a:lt2>
        <a:srgbClr val="FFF6CC"/>
      </a:lt2>
      <a:accent1>
        <a:srgbClr val="FFD600"/>
      </a:accent1>
      <a:accent2>
        <a:srgbClr val="DD6420"/>
      </a:accent2>
      <a:accent3>
        <a:srgbClr val="3370FF"/>
      </a:accent3>
      <a:accent4>
        <a:srgbClr val="06C755"/>
      </a:accent4>
      <a:accent5>
        <a:srgbClr val="E53935"/>
      </a:accent5>
      <a:accent6>
        <a:srgbClr val="F5A623"/>
      </a:accent6>
      <a:hlink>
        <a:srgbClr val="3370FF"/>
      </a:hlink>
      <a:folHlink>
        <a:srgbClr val="6B4FBB"/>
      </a:folHlink>
    </a:clrScheme>
    <a:fontScheme name="Manaberu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ささエール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マナベル 第12回 成果発表・構築者チェック</dc:title>
  <dc:subject>PptxGenJS Presentation</dc:subject>
  <dc:creator>ささエール（Office Plata）</dc:creator>
  <cp:lastModifiedBy>ささエール（Office Plata）</cp:lastModifiedBy>
  <cp:revision>1</cp:revision>
  <dcterms:created xsi:type="dcterms:W3CDTF">2026-10-02T10:43:48Z</dcterms:created>
  <dcterms:modified xsi:type="dcterms:W3CDTF">2026-10-02T10:43:48Z</dcterms:modified>
</cp:coreProperties>
</file>