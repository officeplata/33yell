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143cf87e-fe5d-278b-fe80-57569276faa0}">
          <p14:sldIdLst>
            <p14:sldId id="256"/>
            <p14:sldId id="257"/>
          </p14:sldIdLst>
        </p14:section>
        <p14:section name="本編" id="{66a1b648-fb47-97c4-d26f-cbc23a0bed84}">
          <p14:sldIdLst>
            <p14:sldId id="258"/>
            <p14:sldId id="259"/>
            <p14:sldId id="260"/>
            <p14:sldId id="261"/>
          </p14:sldIdLst>
        </p14:section>
        <p14:section name="まとめ" id="{f11c2003-8691-8d27-f394-b0cf9f78fc14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第12回「成果発表・構築者チェック」。前回の宿題の提出状況を確認してから始める。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ゴールを読み上げ、今日は「聞く」と「手を動かす」を交互に進めることを伝える。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発表原稿はAIに下書きさせてよい。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ワークシートは8項目。スライドでは5つにまとめて見せる。自己評価と講師評価をすり合わせる。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宿題の目安時間を伝える。質問は講座グループへ（24時間以内に返信・土日祝を除く）。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次回までの宿題をもう一度確認して終了。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MANA_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MANA_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4754880"/>
            <a:ext cx="2423160" cy="274320"/>
          </a:xfrm>
          <a:prstGeom prst="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6510528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ささエール｜OFFICE PLATA</a:t>
            </a:r>
            <a:endParaRPr lang="ja-JP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4754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850" dirty="0">
                <a:solidFill>
                  <a:srgbClr val="1A1A1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マナベル　第12回　成果発表・構築者チェック</a:t>
            </a:r>
            <a:endParaRPr lang="ja-JP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rtrait" descr="講師 笹原彰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3588" y="1211580"/>
            <a:ext cx="2866092" cy="3931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 rot="-240000">
            <a:off x="457200" y="411480"/>
            <a:ext cx="1600200" cy="60350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200" dirty="0">
                <a:solidFill>
                  <a:srgbClr val="FFD600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第12回</a:t>
            </a:r>
            <a:endParaRPr lang="ja-JP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ja-JP" altLang="en-US" sz="3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成果発表・構築者チェック</a:t>
            </a:r>
            <a:endParaRPr lang="ja-JP" sz="3600" dirty="0"/>
          </a:p>
        </p:txBody>
      </p:sp>
      <p:sp>
        <p:nvSpPr>
          <p:cNvPr id="5" name="Text 2"/>
          <p:cNvSpPr txBox="1"/>
          <p:nvPr/>
        </p:nvSpPr>
        <p:spPr>
          <a:xfrm rot="-120000">
            <a:off x="457200" y="2971800"/>
            <a:ext cx="49377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フェーズ4 サービスにする｜第8週</a:t>
            </a:r>
            <a:endParaRPr lang="ja-JP" sz="1600" dirty="0"/>
          </a:p>
        </p:txBody>
      </p:sp>
      <p:sp>
        <p:nvSpPr>
          <p:cNvPr id="6" name="card"/>
          <p:cNvSpPr/>
          <p:nvPr/>
        </p:nvSpPr>
        <p:spPr>
          <a:xfrm>
            <a:off x="457200" y="3730752"/>
            <a:ext cx="49377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" y="37673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alt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マナベル｜AI×Lark 構築者育成講座</a:t>
            </a:r>
            <a:endParaRPr lang="ja-JP" sz="15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DD642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ささエール ／ OFFICE PLATA　笹原 彰朗</a:t>
            </a:r>
            <a:endParaRPr lang="ja-JP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040587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はじめに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今日のゴールと流れ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371600"/>
            <a:ext cx="254203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685800" y="1572768"/>
            <a:ext cx="438912" cy="438912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82496"/>
            <a:ext cx="219456" cy="219456"/>
          </a:xfrm>
          <a:prstGeom prst="rect">
            <a:avLst/>
          </a:prstGeom>
        </p:spPr>
      </p:pic>
      <p:sp>
        <p:nvSpPr>
          <p:cNvPr id="7" name="goal"/>
          <p:cNvSpPr txBox="1"/>
          <p:nvPr/>
        </p:nvSpPr>
        <p:spPr>
          <a:xfrm>
            <a:off x="1252728" y="146304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作ったしくみを、5分で人に説明できる</a:t>
            </a:r>
            <a:endParaRPr lang="ja-JP" sz="1400" dirty="0"/>
          </a:p>
        </p:txBody>
      </p:sp>
      <p:sp>
        <p:nvSpPr>
          <p:cNvPr id="8" name="card"/>
          <p:cNvSpPr/>
          <p:nvPr/>
        </p:nvSpPr>
        <p:spPr>
          <a:xfrm>
            <a:off x="3300984" y="1371600"/>
            <a:ext cx="254203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3483864" y="1572768"/>
            <a:ext cx="438912" cy="438912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682496"/>
            <a:ext cx="219456" cy="219456"/>
          </a:xfrm>
          <a:prstGeom prst="rect">
            <a:avLst/>
          </a:prstGeom>
        </p:spPr>
      </p:pic>
      <p:sp>
        <p:nvSpPr>
          <p:cNvPr id="11" name="goal"/>
          <p:cNvSpPr txBox="1"/>
          <p:nvPr/>
        </p:nvSpPr>
        <p:spPr>
          <a:xfrm>
            <a:off x="4050792" y="146304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構築者チェックで、自分の到達点を確かめる</a:t>
            </a:r>
            <a:endParaRPr lang="ja-JP" sz="1400" dirty="0"/>
          </a:p>
        </p:txBody>
      </p:sp>
      <p:sp>
        <p:nvSpPr>
          <p:cNvPr id="12" name="card"/>
          <p:cNvSpPr/>
          <p:nvPr/>
        </p:nvSpPr>
        <p:spPr>
          <a:xfrm>
            <a:off x="6099048" y="1371600"/>
            <a:ext cx="254203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3" name="icon-circle"/>
          <p:cNvSpPr/>
          <p:nvPr/>
        </p:nvSpPr>
        <p:spPr>
          <a:xfrm>
            <a:off x="6281928" y="1572768"/>
            <a:ext cx="438912" cy="438912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682496"/>
            <a:ext cx="219456" cy="219456"/>
          </a:xfrm>
          <a:prstGeom prst="rect">
            <a:avLst/>
          </a:prstGeom>
        </p:spPr>
      </p:pic>
      <p:sp>
        <p:nvSpPr>
          <p:cNvPr id="15" name="goal"/>
          <p:cNvSpPr txBox="1"/>
          <p:nvPr/>
        </p:nvSpPr>
        <p:spPr>
          <a:xfrm>
            <a:off x="6848856" y="146304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これから半年の改善計画がある</a:t>
            </a:r>
            <a:endParaRPr lang="ja-JP" sz="1400" dirty="0"/>
          </a:p>
        </p:txBody>
      </p:sp>
      <p:sp>
        <p:nvSpPr>
          <p:cNvPr id="16" name="Text 11"/>
          <p:cNvSpPr txBox="1"/>
          <p:nvPr/>
        </p:nvSpPr>
        <p:spPr>
          <a:xfrm rot="-120000">
            <a:off x="457200" y="2907792"/>
            <a:ext cx="191566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今日の流れ（90分）</a:t>
            </a:r>
            <a:endParaRPr lang="ja-JP" sz="1100" dirty="0"/>
          </a:p>
        </p:txBody>
      </p:sp>
      <p:sp>
        <p:nvSpPr>
          <p:cNvPr id="17" name="Shape 12"/>
          <p:cNvSpPr/>
          <p:nvPr/>
        </p:nvSpPr>
        <p:spPr>
          <a:xfrm>
            <a:off x="502920" y="3364992"/>
            <a:ext cx="813816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8" name="time-block"/>
          <p:cNvSpPr/>
          <p:nvPr/>
        </p:nvSpPr>
        <p:spPr>
          <a:xfrm>
            <a:off x="502920" y="3364992"/>
            <a:ext cx="45212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ime-label"/>
          <p:cNvSpPr txBox="1"/>
          <p:nvPr/>
        </p:nvSpPr>
        <p:spPr>
          <a:xfrm>
            <a:off x="502920" y="3364992"/>
            <a:ext cx="45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8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進め方</a:t>
            </a:r>
            <a:endParaRPr lang="ja-JP" sz="8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5分</a:t>
            </a:r>
            <a:endParaRPr lang="ja-JP" sz="850" dirty="0"/>
          </a:p>
        </p:txBody>
      </p:sp>
      <p:sp>
        <p:nvSpPr>
          <p:cNvPr id="20" name="time-block"/>
          <p:cNvSpPr/>
          <p:nvPr/>
        </p:nvSpPr>
        <p:spPr>
          <a:xfrm>
            <a:off x="955040" y="3364992"/>
            <a:ext cx="452120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ime-label"/>
          <p:cNvSpPr txBox="1"/>
          <p:nvPr/>
        </p:nvSpPr>
        <p:spPr>
          <a:xfrm>
            <a:off x="955040" y="3364992"/>
            <a:ext cx="452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発表（1人5分＋質疑3分）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50分</a:t>
            </a:r>
            <a:endParaRPr lang="ja-JP" sz="1050" dirty="0"/>
          </a:p>
        </p:txBody>
      </p:sp>
      <p:sp>
        <p:nvSpPr>
          <p:cNvPr id="22" name="time-block"/>
          <p:cNvSpPr/>
          <p:nvPr/>
        </p:nvSpPr>
        <p:spPr>
          <a:xfrm>
            <a:off x="5476240" y="3364992"/>
            <a:ext cx="135636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ime-label"/>
          <p:cNvSpPr txBox="1"/>
          <p:nvPr/>
        </p:nvSpPr>
        <p:spPr>
          <a:xfrm>
            <a:off x="5476240" y="3364992"/>
            <a:ext cx="135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講評・チェック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15分</a:t>
            </a:r>
            <a:endParaRPr lang="ja-JP" sz="1050" dirty="0"/>
          </a:p>
        </p:txBody>
      </p:sp>
      <p:sp>
        <p:nvSpPr>
          <p:cNvPr id="24" name="time-block"/>
          <p:cNvSpPr/>
          <p:nvPr/>
        </p:nvSpPr>
        <p:spPr>
          <a:xfrm>
            <a:off x="6832600" y="3364992"/>
            <a:ext cx="135636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ime-label"/>
          <p:cNvSpPr txBox="1"/>
          <p:nvPr/>
        </p:nvSpPr>
        <p:spPr>
          <a:xfrm>
            <a:off x="6832600" y="3364992"/>
            <a:ext cx="135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改善計画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15分</a:t>
            </a:r>
            <a:endParaRPr lang="ja-JP" sz="1050" dirty="0"/>
          </a:p>
        </p:txBody>
      </p:sp>
      <p:sp>
        <p:nvSpPr>
          <p:cNvPr id="26" name="time-block"/>
          <p:cNvSpPr/>
          <p:nvPr/>
        </p:nvSpPr>
        <p:spPr>
          <a:xfrm>
            <a:off x="8188960" y="3364992"/>
            <a:ext cx="45212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ime-label"/>
          <p:cNvSpPr txBox="1"/>
          <p:nvPr/>
        </p:nvSpPr>
        <p:spPr>
          <a:xfrm>
            <a:off x="8188960" y="3364992"/>
            <a:ext cx="45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8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修了</a:t>
            </a:r>
            <a:endParaRPr lang="ja-JP" sz="8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5分</a:t>
            </a:r>
            <a:endParaRPr lang="ja-JP" sz="850" dirty="0"/>
          </a:p>
        </p:txBody>
      </p:sp>
      <p:sp>
        <p:nvSpPr>
          <p:cNvPr id="28" name="Text 23"/>
          <p:cNvSpPr txBox="1"/>
          <p:nvPr/>
        </p:nvSpPr>
        <p:spPr>
          <a:xfrm>
            <a:off x="50292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聞く　</a:t>
            </a:r>
            <a:pPr indent="0" marL="0">
              <a:buNone/>
            </a:pPr>
            <a:r>
              <a:rPr lang="ja-JP" altLang="en-US" sz="1050" b="1" dirty="0">
                <a:solidFill>
                  <a:srgbClr val="DD642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手を動かす</a:t>
            </a:r>
            <a:endParaRPr lang="ja-JP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186434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発表 5分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発表の組み立て</a:t>
            </a:r>
            <a:endParaRPr lang="ja-JP" sz="2600" dirty="0"/>
          </a:p>
        </p:txBody>
      </p:sp>
      <p:sp>
        <p:nvSpPr>
          <p:cNvPr id="5" name="card"/>
          <p:cNvSpPr/>
          <p:nvPr/>
        </p:nvSpPr>
        <p:spPr>
          <a:xfrm>
            <a:off x="502920" y="1691640"/>
            <a:ext cx="1320394" cy="1600200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 rot="-180000">
            <a:off x="705917" y="1545336"/>
            <a:ext cx="91440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STEP 1</a:t>
            </a:r>
            <a:endParaRPr lang="ja-JP" sz="1000" dirty="0"/>
          </a:p>
        </p:txBody>
      </p:sp>
      <p:sp>
        <p:nvSpPr>
          <p:cNvPr id="7" name="flow-node"/>
          <p:cNvSpPr txBox="1"/>
          <p:nvPr/>
        </p:nvSpPr>
        <p:spPr>
          <a:xfrm>
            <a:off x="612648" y="1965960"/>
            <a:ext cx="11009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困りごと</a:t>
            </a:r>
            <a:endParaRPr lang="ja-JP" sz="1250" dirty="0"/>
          </a:p>
          <a:p>
            <a:pPr algn="ctr" indent="0" marL="0"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30秒</a:t>
            </a:r>
            <a:endParaRPr lang="ja-JP" sz="1250" dirty="0"/>
          </a:p>
        </p:txBody>
      </p:sp>
      <p:pic>
        <p:nvPicPr>
          <p:cNvPr id="8" name="flow-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7322" y="2363724"/>
            <a:ext cx="256032" cy="256032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2207362" y="1691640"/>
            <a:ext cx="1320394" cy="1600200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 rot="-180000">
            <a:off x="2410358" y="1545336"/>
            <a:ext cx="91440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STEP 2</a:t>
            </a:r>
            <a:endParaRPr lang="ja-JP" sz="1000" dirty="0"/>
          </a:p>
        </p:txBody>
      </p:sp>
      <p:sp>
        <p:nvSpPr>
          <p:cNvPr id="11" name="flow-node"/>
          <p:cNvSpPr txBox="1"/>
          <p:nvPr/>
        </p:nvSpPr>
        <p:spPr>
          <a:xfrm>
            <a:off x="2317090" y="1965960"/>
            <a:ext cx="11009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デモ</a:t>
            </a:r>
            <a:endParaRPr lang="ja-JP" sz="1250" dirty="0"/>
          </a:p>
          <a:p>
            <a:pPr algn="ctr" indent="0" marL="0"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2分</a:t>
            </a:r>
            <a:endParaRPr lang="ja-JP" sz="1250" dirty="0"/>
          </a:p>
        </p:txBody>
      </p:sp>
      <p:pic>
        <p:nvPicPr>
          <p:cNvPr id="12" name="flow-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763" y="2363724"/>
            <a:ext cx="256032" cy="256032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3911803" y="1691640"/>
            <a:ext cx="1320394" cy="1600200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 rot="-180000">
            <a:off x="4114800" y="1545336"/>
            <a:ext cx="91440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STEP 3</a:t>
            </a:r>
            <a:endParaRPr lang="ja-JP" sz="1000" dirty="0"/>
          </a:p>
        </p:txBody>
      </p:sp>
      <p:sp>
        <p:nvSpPr>
          <p:cNvPr id="15" name="flow-node"/>
          <p:cNvSpPr txBox="1"/>
          <p:nvPr/>
        </p:nvSpPr>
        <p:spPr>
          <a:xfrm>
            <a:off x="4021531" y="1965960"/>
            <a:ext cx="11009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Lark／AIで</a:t>
            </a:r>
            <a:endParaRPr lang="ja-JP" sz="1250" dirty="0"/>
          </a:p>
          <a:p>
            <a:pPr algn="ctr" indent="0" marL="0"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作った所 1分</a:t>
            </a:r>
            <a:endParaRPr lang="ja-JP" sz="1250" dirty="0"/>
          </a:p>
        </p:txBody>
      </p:sp>
      <p:pic>
        <p:nvPicPr>
          <p:cNvPr id="16" name="flow-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205" y="2363724"/>
            <a:ext cx="256032" cy="256032"/>
          </a:xfrm>
          <a:prstGeom prst="rect">
            <a:avLst/>
          </a:prstGeom>
        </p:spPr>
      </p:pic>
      <p:sp>
        <p:nvSpPr>
          <p:cNvPr id="17" name="card"/>
          <p:cNvSpPr/>
          <p:nvPr/>
        </p:nvSpPr>
        <p:spPr>
          <a:xfrm>
            <a:off x="5616245" y="1691640"/>
            <a:ext cx="1320394" cy="1600200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 rot="-180000">
            <a:off x="5819242" y="1545336"/>
            <a:ext cx="91440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STEP 4</a:t>
            </a:r>
            <a:endParaRPr lang="ja-JP" sz="1000" dirty="0"/>
          </a:p>
        </p:txBody>
      </p:sp>
      <p:sp>
        <p:nvSpPr>
          <p:cNvPr id="19" name="flow-node"/>
          <p:cNvSpPr txBox="1"/>
          <p:nvPr/>
        </p:nvSpPr>
        <p:spPr>
          <a:xfrm>
            <a:off x="5725973" y="1965960"/>
            <a:ext cx="11009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結果・反応</a:t>
            </a:r>
            <a:endParaRPr lang="ja-JP" sz="1250" dirty="0"/>
          </a:p>
          <a:p>
            <a:pPr algn="ctr" indent="0" marL="0"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1分</a:t>
            </a:r>
            <a:endParaRPr lang="ja-JP" sz="1250" dirty="0"/>
          </a:p>
        </p:txBody>
      </p:sp>
      <p:pic>
        <p:nvPicPr>
          <p:cNvPr id="20" name="flow-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646" y="2363724"/>
            <a:ext cx="256032" cy="256032"/>
          </a:xfrm>
          <a:prstGeom prst="rect">
            <a:avLst/>
          </a:prstGeom>
        </p:spPr>
      </p:pic>
      <p:sp>
        <p:nvSpPr>
          <p:cNvPr id="21" name="card"/>
          <p:cNvSpPr/>
          <p:nvPr/>
        </p:nvSpPr>
        <p:spPr>
          <a:xfrm>
            <a:off x="7320686" y="1691640"/>
            <a:ext cx="1320394" cy="1600200"/>
          </a:xfrm>
          <a:prstGeom prst="roundRect">
            <a:avLst>
              <a:gd name="adj" fmla="val 6925"/>
            </a:avLst>
          </a:prstGeom>
          <a:solidFill>
            <a:srgbClr val="F5A623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22" name="Text 15"/>
          <p:cNvSpPr txBox="1"/>
          <p:nvPr/>
        </p:nvSpPr>
        <p:spPr>
          <a:xfrm rot="-180000">
            <a:off x="7523683" y="1545336"/>
            <a:ext cx="914400" cy="292608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STEP 5</a:t>
            </a:r>
            <a:endParaRPr lang="ja-JP" sz="1000" dirty="0"/>
          </a:p>
        </p:txBody>
      </p:sp>
      <p:sp>
        <p:nvSpPr>
          <p:cNvPr id="23" name="flow-node"/>
          <p:cNvSpPr txBox="1"/>
          <p:nvPr/>
        </p:nvSpPr>
        <p:spPr>
          <a:xfrm>
            <a:off x="7430414" y="1965960"/>
            <a:ext cx="11009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次に足す</a:t>
            </a:r>
            <a:endParaRPr lang="ja-JP" sz="1250" dirty="0"/>
          </a:p>
          <a:p>
            <a:pPr algn="ctr" indent="0" marL="0">
              <a:buNone/>
            </a:pPr>
            <a:r>
              <a:rPr lang="ja-JP" altLang="en-US" sz="12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30秒</a:t>
            </a:r>
            <a:endParaRPr lang="ja-JP" sz="1250" dirty="0"/>
          </a:p>
        </p:txBody>
      </p:sp>
      <p:sp>
        <p:nvSpPr>
          <p:cNvPr id="24" name="Text 17"/>
          <p:cNvSpPr txBox="1"/>
          <p:nvPr/>
        </p:nvSpPr>
        <p:spPr>
          <a:xfrm rot="-60000">
            <a:off x="502920" y="3794760"/>
            <a:ext cx="81381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1905" rIns="1905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デモは</a:t>
            </a:r>
            <a:pPr algn="ctr" indent="0" marL="0">
              <a:buNone/>
            </a:pPr>
            <a:r>
              <a:rPr lang="ja-JP" altLang="en-US" sz="13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「入力 → BASE → 通知 → 集計」</a:t>
            </a:r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を通しで見せる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47812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構築者チェック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構築者の8つの力</a:t>
            </a:r>
            <a:endParaRPr lang="ja-JP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81381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2170176"/>
                <a:gridCol w="596798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力</a:t>
                      </a:r>
                      <a:endParaRPr lang="en-US" sz="12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確かめること</a:t>
                      </a:r>
                      <a:endParaRPr lang="en-US" sz="12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聞き取る・決める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困りごとを聞き、作るものと成功の目安を決めた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Larkで組む・回す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テーブル・フォーム・ビュー・自動化が本番で動いている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AIで作る・つなぐ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アプリを公開し、BASE・LINEとつながっている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守る・育てる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秘密情報を守り、改善を1回まわした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伝える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社内の人に使い方を説明した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 rot="-60000">
            <a:off x="502920" y="4114800"/>
            <a:ext cx="81381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1905" rIns="1905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判定：◎ 1人でできた／○ 見ながらできた／△ 助けが必要。修了の目安は全項目△以上かつ◎が4つ以上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623974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改善計画 15分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これから6ヶ月の改善計画</a:t>
            </a:r>
            <a:endParaRPr lang="ja-JP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1265936"/>
                <a:gridCol w="2893568"/>
                <a:gridCol w="1989328"/>
                <a:gridCol w="198932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</a:t>
                      </a:r>
                      <a:endParaRPr lang="en-US" sz="12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やること</a:t>
                      </a:r>
                      <a:endParaRPr lang="en-US" sz="12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使う道具</a:t>
                      </a:r>
                      <a:endParaRPr lang="en-US" sz="12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完了の目安</a:t>
                      </a:r>
                      <a:endParaRPr lang="en-US" sz="12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4〜6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 rot="-60000">
            <a:off x="502920" y="4114800"/>
            <a:ext cx="81381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1905" rIns="1905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1ヶ月後に定着チェックで、使われ続けているかを確かめます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894740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修了後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これからも</a:t>
            </a:r>
            <a:pPr indent="0" marL="0">
              <a:buNone/>
            </a:pPr>
            <a:r>
              <a:rPr lang="ja-JP" altLang="en-US" sz="2600" dirty="0">
                <a:solidFill>
                  <a:srgbClr val="DD6420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「作る人」</a:t>
            </a:r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でいるために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4173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04088" y="1618488"/>
            <a:ext cx="548640" cy="54864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556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18488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7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1ヶ月後</a:t>
            </a:r>
            <a:endParaRPr lang="ja-JP" sz="1700" dirty="0"/>
          </a:p>
        </p:txBody>
      </p:sp>
      <p:sp>
        <p:nvSpPr>
          <p:cNvPr id="8" name="card-body"/>
          <p:cNvSpPr txBox="1"/>
          <p:nvPr/>
        </p:nvSpPr>
        <p:spPr>
          <a:xfrm>
            <a:off x="704088" y="2313432"/>
            <a:ext cx="21396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定着チェック表で、使われ続けているかを確認</a:t>
            </a:r>
            <a:endParaRPr lang="ja-JP" sz="1350" dirty="0"/>
          </a:p>
        </p:txBody>
      </p:sp>
      <p:sp>
        <p:nvSpPr>
          <p:cNvPr id="9" name="card"/>
          <p:cNvSpPr/>
          <p:nvPr/>
        </p:nvSpPr>
        <p:spPr>
          <a:xfrm>
            <a:off x="3300984" y="14173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3502152" y="1618488"/>
            <a:ext cx="548640" cy="54864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7556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69664" y="1618488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5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改善を続ける</a:t>
            </a:r>
            <a:endParaRPr lang="ja-JP" sz="1500" dirty="0"/>
          </a:p>
        </p:txBody>
      </p:sp>
      <p:sp>
        <p:nvSpPr>
          <p:cNvPr id="13" name="card-body"/>
          <p:cNvSpPr txBox="1"/>
          <p:nvPr/>
        </p:nvSpPr>
        <p:spPr>
          <a:xfrm>
            <a:off x="3502152" y="2313432"/>
            <a:ext cx="21396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要望はBASEに集め、月1回直す</a:t>
            </a:r>
            <a:endParaRPr lang="ja-JP" sz="1350" dirty="0"/>
          </a:p>
        </p:txBody>
      </p:sp>
      <p:sp>
        <p:nvSpPr>
          <p:cNvPr id="14" name="card"/>
          <p:cNvSpPr/>
          <p:nvPr/>
        </p:nvSpPr>
        <p:spPr>
          <a:xfrm>
            <a:off x="6099048" y="14173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6300216" y="1618488"/>
            <a:ext cx="548640" cy="54864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75564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67728" y="1618488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7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マカセル</a:t>
            </a:r>
            <a:endParaRPr lang="ja-JP" sz="1700" dirty="0"/>
          </a:p>
        </p:txBody>
      </p:sp>
      <p:sp>
        <p:nvSpPr>
          <p:cNvPr id="18" name="card-body"/>
          <p:cNvSpPr txBox="1"/>
          <p:nvPr/>
        </p:nvSpPr>
        <p:spPr>
          <a:xfrm>
            <a:off x="6300216" y="2313432"/>
            <a:ext cx="21396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作ったしくみをマンツーマンで育てる伴走もご案内しています</a:t>
            </a:r>
            <a:endParaRPr lang="ja-JP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894740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まとめ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宿題と、今日のチェック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4173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04088" y="1600200"/>
            <a:ext cx="457200" cy="45720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7145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宿題</a:t>
            </a:r>
            <a:endParaRPr lang="ja-JP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1ヶ月後に定着チェック表をつける</a:t>
            </a:r>
            <a:endParaRPr lang="ja-JP" sz="1350" dirty="0"/>
          </a:p>
        </p:txBody>
      </p:sp>
      <p:sp>
        <p:nvSpPr>
          <p:cNvPr id="9" name="card"/>
          <p:cNvSpPr/>
          <p:nvPr/>
        </p:nvSpPr>
        <p:spPr>
          <a:xfrm>
            <a:off x="4709160" y="14173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910328" y="1600200"/>
            <a:ext cx="457200" cy="45720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628" y="17145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できたらチェック</a:t>
            </a:r>
            <a:endParaRPr lang="ja-JP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24028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☐ 公開されたしくみがある</a:t>
            </a:r>
            <a:endParaRPr lang="ja-JP" sz="135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☐ 改善計画がWikiに置いてある</a:t>
            </a:r>
            <a:endParaRPr lang="ja-JP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rtrait" descr="講師 笹原彰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3588" y="1211580"/>
            <a:ext cx="2866092" cy="3931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 rot="-240000">
            <a:off x="457200" y="548640"/>
            <a:ext cx="1280160" cy="54864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dirty="0">
                <a:solidFill>
                  <a:srgbClr val="FFD600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修了</a:t>
            </a:r>
            <a:endParaRPr lang="ja-JP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3200" dirty="0">
                <a:solidFill>
                  <a:srgbClr val="DD6420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修了、</a:t>
            </a:r>
            <a:endParaRPr lang="ja-JP" sz="3200" dirty="0"/>
          </a:p>
          <a:p>
            <a:pPr indent="0" marL="0">
              <a:buNone/>
            </a:pPr>
            <a:r>
              <a:rPr lang="ja-JP" altLang="en-US" sz="32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おめでとうございます!</a:t>
            </a:r>
            <a:endParaRPr lang="ja-JP" sz="3200" dirty="0"/>
          </a:p>
        </p:txBody>
      </p:sp>
      <p:sp>
        <p:nvSpPr>
          <p:cNvPr id="5" name="card"/>
          <p:cNvSpPr/>
          <p:nvPr/>
        </p:nvSpPr>
        <p:spPr>
          <a:xfrm>
            <a:off x="457200" y="31089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32004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あなたはもう、自社のしくみを作れる</a:t>
            </a:r>
            <a:pPr indent="0" marL="0">
              <a:spcAft>
                <a:spcPts val="400"/>
              </a:spcAft>
              <a:buNone/>
            </a:pPr>
            <a:r>
              <a:rPr lang="ja-JP" altLang="en-US" sz="1400" b="1" dirty="0">
                <a:solidFill>
                  <a:srgbClr val="DD642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「構築者」</a:t>
            </a:r>
            <a:pPr indent="0" marL="0">
              <a:spcAft>
                <a:spcPts val="400"/>
              </a:spcAft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です。</a:t>
            </a:r>
            <a:endParaRPr lang="ja-JP" sz="14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作ったしくみを、使われながら育てていきましょう。</a:t>
            </a:r>
            <a:endParaRPr lang="ja-JP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aYell">
  <a:themeElements>
    <a:clrScheme name="SasaYell">
      <a:dk1>
        <a:srgbClr val="1A1A1A"/>
      </a:dk1>
      <a:lt1>
        <a:srgbClr val="FFFFFF"/>
      </a:lt1>
      <a:dk2>
        <a:srgbClr val="1A1A1A"/>
      </a:dk2>
      <a:lt2>
        <a:srgbClr val="FFD600"/>
      </a:lt2>
      <a:accent1>
        <a:srgbClr val="FFD600"/>
      </a:accent1>
      <a:accent2>
        <a:srgbClr val="DD6420"/>
      </a:accent2>
      <a:accent3>
        <a:srgbClr val="F5A623"/>
      </a:accent3>
      <a:accent4>
        <a:srgbClr val="1A1A1A"/>
      </a:accent4>
      <a:accent5>
        <a:srgbClr val="FFFFFF"/>
      </a:accent5>
      <a:accent6>
        <a:srgbClr val="DD6420"/>
      </a:accent6>
      <a:hlink>
        <a:srgbClr val="DD6420"/>
      </a:hlink>
      <a:folHlink>
        <a:srgbClr val="F5A623"/>
      </a:folHlink>
    </a:clrScheme>
    <a:fontScheme name="SasaYell">
      <a:majorFont>
        <a:latin typeface="Dela Gothic One"/>
        <a:ea typeface="けいふぉんと"/>
        <a:cs typeface=""/>
      </a:majorFont>
      <a:minorFont>
        <a:latin typeface="Noto Sans JP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ささエール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マナベル 第12回 成果発表・構築者チェック</dc:title>
  <dc:subject>PptxGenJS Presentation</dc:subject>
  <dc:creator>ささエール（Office Plata）</dc:creator>
  <cp:lastModifiedBy>ささエール（Office Plata）</cp:lastModifiedBy>
  <cp:revision>1</cp:revision>
  <dcterms:created xsi:type="dcterms:W3CDTF">2026-10-08T07:08:42Z</dcterms:created>
  <dcterms:modified xsi:type="dcterms:W3CDTF">2026-10-08T07:08:42Z</dcterms:modified>
</cp:coreProperties>
</file>