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f5852acf-16bc-b426-951e-92a4c0075c1a}">
          <p14:sldIdLst>
            <p14:sldId id="256"/>
            <p14:sldId id="257"/>
          </p14:sldIdLst>
        </p14:section>
        <p14:section name="本編" id="{d486efaf-40c0-f329-0920-e9a3f1297f09}">
          <p14:sldIdLst>
            <p14:sldId id="258"/>
            <p14:sldId id="259"/>
            <p14:sldId id="260"/>
            <p14:sldId id="261"/>
          </p14:sldIdLst>
        </p14:section>
        <p14:section name="まとめ" id="{bc3c016e-c515-91fe-8f84-a58af74cd579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第11回「安全に運用・改善する」。前回の宿題の提出状況を確認してから始める。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754880"/>
            <a:ext cx="2423160" cy="274320"/>
          </a:xfrm>
          <a:prstGeom prst="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510528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ささエール｜OFFICE PLATA</a:t>
            </a:r>
            <a:endParaRPr lang="ja-JP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754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A1A1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マナベル　第11回　安全に運用・改善する</a:t>
            </a:r>
            <a:endParaRPr lang="ja-JP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411480"/>
            <a:ext cx="1600200" cy="60350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第11回</a:t>
            </a:r>
            <a:endParaRPr lang="ja-JP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40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安全に運用・改善する</a:t>
            </a:r>
            <a:endParaRPr lang="ja-JP" sz="4000" dirty="0"/>
          </a:p>
        </p:txBody>
      </p:sp>
      <p:sp>
        <p:nvSpPr>
          <p:cNvPr id="5" name="Text 2"/>
          <p:cNvSpPr txBox="1"/>
          <p:nvPr/>
        </p:nvSpPr>
        <p:spPr>
          <a:xfrm rot="-120000">
            <a:off x="457200" y="2971800"/>
            <a:ext cx="49377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フェーズ4 サービスにする｜第7週</a:t>
            </a:r>
            <a:endParaRPr lang="ja-JP" sz="1600" dirty="0"/>
          </a:p>
        </p:txBody>
      </p:sp>
      <p:sp>
        <p:nvSpPr>
          <p:cNvPr id="6" name="card"/>
          <p:cNvSpPr/>
          <p:nvPr/>
        </p:nvSpPr>
        <p:spPr>
          <a:xfrm>
            <a:off x="457200" y="3730752"/>
            <a:ext cx="49377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3767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マナベル｜AI×Lark 構築者育成講座</a:t>
            </a:r>
            <a:endParaRPr lang="ja-JP" sz="15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 ／ OFFICE PLATA　笹原 彰朗</a:t>
            </a:r>
            <a:endParaRPr lang="ja-JP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040587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はじめに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今日のゴールと流れ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371600"/>
            <a:ext cx="39410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85800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82496"/>
            <a:ext cx="219456" cy="219456"/>
          </a:xfrm>
          <a:prstGeom prst="rect">
            <a:avLst/>
          </a:prstGeom>
        </p:spPr>
      </p:pic>
      <p:sp>
        <p:nvSpPr>
          <p:cNvPr id="7" name="goal"/>
          <p:cNvSpPr txBox="1"/>
          <p:nvPr/>
        </p:nvSpPr>
        <p:spPr>
          <a:xfrm>
            <a:off x="1252728" y="146304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「止めない・漏らさない・直せる」運用ルールがある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4700016" y="1371600"/>
            <a:ext cx="39410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882896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682496"/>
            <a:ext cx="219456" cy="219456"/>
          </a:xfrm>
          <a:prstGeom prst="rect">
            <a:avLst/>
          </a:prstGeom>
        </p:spPr>
      </p:pic>
      <p:sp>
        <p:nvSpPr>
          <p:cNvPr id="11" name="goal"/>
          <p:cNvSpPr txBox="1"/>
          <p:nvPr/>
        </p:nvSpPr>
        <p:spPr>
          <a:xfrm>
            <a:off x="5449824" y="146304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改善要望を1つ、Claude Codeで直して公開できている</a:t>
            </a:r>
            <a:endParaRPr lang="ja-JP" sz="1400" dirty="0"/>
          </a:p>
        </p:txBody>
      </p:sp>
      <p:sp>
        <p:nvSpPr>
          <p:cNvPr id="12" name="Text 8"/>
          <p:cNvSpPr txBox="1"/>
          <p:nvPr/>
        </p:nvSpPr>
        <p:spPr>
          <a:xfrm rot="-120000">
            <a:off x="457200" y="2907792"/>
            <a:ext cx="191566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今日の流れ（90分）</a:t>
            </a:r>
            <a:endParaRPr lang="ja-JP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364992"/>
            <a:ext cx="81381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4" name="time-block"/>
          <p:cNvSpPr/>
          <p:nvPr/>
        </p:nvSpPr>
        <p:spPr>
          <a:xfrm>
            <a:off x="50292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0292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ふりかえり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16" name="time-block"/>
          <p:cNvSpPr/>
          <p:nvPr/>
        </p:nvSpPr>
        <p:spPr>
          <a:xfrm>
            <a:off x="140716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0716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説明①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18" name="time-block"/>
          <p:cNvSpPr/>
          <p:nvPr/>
        </p:nvSpPr>
        <p:spPr>
          <a:xfrm>
            <a:off x="2311400" y="3364992"/>
            <a:ext cx="180848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11400" y="3364992"/>
            <a:ext cx="180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ハンズオン①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</a:t>
            </a:r>
            <a:endParaRPr lang="ja-JP" sz="1050" dirty="0"/>
          </a:p>
        </p:txBody>
      </p:sp>
      <p:sp>
        <p:nvSpPr>
          <p:cNvPr id="20" name="time-block"/>
          <p:cNvSpPr/>
          <p:nvPr/>
        </p:nvSpPr>
        <p:spPr>
          <a:xfrm>
            <a:off x="411988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1988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説明②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22" name="time-block"/>
          <p:cNvSpPr/>
          <p:nvPr/>
        </p:nvSpPr>
        <p:spPr>
          <a:xfrm>
            <a:off x="5024120" y="3364992"/>
            <a:ext cx="180848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24120" y="3364992"/>
            <a:ext cx="180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ハンズオン②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</a:t>
            </a:r>
            <a:endParaRPr lang="ja-JP" sz="1050" dirty="0"/>
          </a:p>
        </p:txBody>
      </p:sp>
      <p:sp>
        <p:nvSpPr>
          <p:cNvPr id="24" name="time-block"/>
          <p:cNvSpPr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質問・共有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15分</a:t>
            </a:r>
            <a:endParaRPr lang="ja-JP" sz="1050" dirty="0"/>
          </a:p>
        </p:txBody>
      </p:sp>
      <p:sp>
        <p:nvSpPr>
          <p:cNvPr id="26" name="time-block"/>
          <p:cNvSpPr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8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宿題</a:t>
            </a:r>
            <a:endParaRPr lang="ja-JP" sz="8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</a:t>
            </a:r>
            <a:endParaRPr lang="ja-JP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　</a:t>
            </a:r>
            <a:pPr indent="0" marL="0">
              <a:buNone/>
            </a:pPr>
            <a:r>
              <a:rPr lang="ja-JP" altLang="en-US" sz="10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手を動かす</a:t>
            </a:r>
            <a:endParaRPr lang="ja-JP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説明①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運用で気をつける4つ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417320"/>
            <a:ext cx="3941064" cy="1106424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85800" y="1572768"/>
            <a:ext cx="384048" cy="384048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668780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61288" y="1600200"/>
            <a:ext cx="676656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</a:t>
            </a:r>
            <a:endParaRPr lang="ja-JP" sz="1300" dirty="0"/>
          </a:p>
        </p:txBody>
      </p:sp>
      <p:sp>
        <p:nvSpPr>
          <p:cNvPr id="8" name="card-body"/>
          <p:cNvSpPr txBox="1"/>
          <p:nvPr/>
        </p:nvSpPr>
        <p:spPr>
          <a:xfrm>
            <a:off x="704088" y="2075688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誰が見られる／編集できるか。退職・異動のときに外す手順</a:t>
            </a:r>
            <a:endParaRPr lang="ja-JP" sz="1350" dirty="0"/>
          </a:p>
        </p:txBody>
      </p:sp>
      <p:sp>
        <p:nvSpPr>
          <p:cNvPr id="9" name="card"/>
          <p:cNvSpPr/>
          <p:nvPr/>
        </p:nvSpPr>
        <p:spPr>
          <a:xfrm>
            <a:off x="4700016" y="1417320"/>
            <a:ext cx="3941064" cy="1106424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882896" y="1572768"/>
            <a:ext cx="384048" cy="384048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08" y="1668780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58384" y="1600200"/>
            <a:ext cx="1024128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個人情報</a:t>
            </a:r>
            <a:endParaRPr lang="ja-JP" sz="1300" dirty="0"/>
          </a:p>
        </p:txBody>
      </p:sp>
      <p:sp>
        <p:nvSpPr>
          <p:cNvPr id="13" name="card-body"/>
          <p:cNvSpPr txBox="1"/>
          <p:nvPr/>
        </p:nvSpPr>
        <p:spPr>
          <a:xfrm>
            <a:off x="4901184" y="2075688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集める項目は最小限か。公開ページに出していないか</a:t>
            </a:r>
            <a:endParaRPr lang="ja-JP" sz="1350" dirty="0"/>
          </a:p>
        </p:txBody>
      </p:sp>
      <p:sp>
        <p:nvSpPr>
          <p:cNvPr id="14" name="card"/>
          <p:cNvSpPr/>
          <p:nvPr/>
        </p:nvSpPr>
        <p:spPr>
          <a:xfrm>
            <a:off x="502920" y="2779776"/>
            <a:ext cx="3941064" cy="1106424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685800" y="2935224"/>
            <a:ext cx="384048" cy="384048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031236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61288" y="2962656"/>
            <a:ext cx="1024128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秘密情報</a:t>
            </a:r>
            <a:endParaRPr lang="ja-JP" sz="1300" dirty="0"/>
          </a:p>
        </p:txBody>
      </p:sp>
      <p:sp>
        <p:nvSpPr>
          <p:cNvPr id="18" name="card-body"/>
          <p:cNvSpPr txBox="1"/>
          <p:nvPr/>
        </p:nvSpPr>
        <p:spPr>
          <a:xfrm>
            <a:off x="704088" y="3438144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SecretがGitHub・チャットに残っていないか。漏れたら作り直す</a:t>
            </a:r>
            <a:endParaRPr lang="ja-JP" sz="1350" dirty="0"/>
          </a:p>
        </p:txBody>
      </p:sp>
      <p:sp>
        <p:nvSpPr>
          <p:cNvPr id="19" name="card"/>
          <p:cNvSpPr/>
          <p:nvPr/>
        </p:nvSpPr>
        <p:spPr>
          <a:xfrm>
            <a:off x="4700016" y="2779776"/>
            <a:ext cx="3941064" cy="1106424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4882896" y="2935224"/>
            <a:ext cx="384048" cy="384048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3031236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58384" y="2962656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止まったとき</a:t>
            </a:r>
            <a:endParaRPr lang="ja-JP" sz="1300" dirty="0"/>
          </a:p>
        </p:txBody>
      </p:sp>
      <p:sp>
        <p:nvSpPr>
          <p:cNvPr id="23" name="card-body"/>
          <p:cNvSpPr txBox="1"/>
          <p:nvPr/>
        </p:nvSpPr>
        <p:spPr>
          <a:xfrm>
            <a:off x="4901184" y="3438144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誰が気づき、誰に連絡するか。その間の代わりの手段</a:t>
            </a:r>
            <a:endParaRPr lang="ja-JP" sz="1350" dirty="0"/>
          </a:p>
        </p:txBody>
      </p:sp>
      <p:sp>
        <p:nvSpPr>
          <p:cNvPr id="24" name="Text 18"/>
          <p:cNvSpPr txBox="1"/>
          <p:nvPr/>
        </p:nvSpPr>
        <p:spPr>
          <a:xfrm rot="-60000">
            <a:off x="502920" y="411480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BASEは定期的にエクスポートで控えを取っておくと安心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915668" cy="352044"/>
          </a:xfrm>
          <a:prstGeom prst="rect">
            <a:avLst/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ハンズオン① 20分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運用ルール表を作る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947672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29968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</a:t>
            </a:r>
            <a:endParaRPr lang="ja-JP" sz="1500" dirty="0"/>
          </a:p>
        </p:txBody>
      </p:sp>
      <p:sp>
        <p:nvSpPr>
          <p:cNvPr id="6" name="step-text"/>
          <p:cNvSpPr txBox="1"/>
          <p:nvPr/>
        </p:nvSpPr>
        <p:spPr>
          <a:xfrm>
            <a:off x="1234440" y="1947672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ワークシート「運用ルール表」を自社用に埋める</a:t>
            </a:r>
            <a:endParaRPr lang="ja-JP" sz="1400" dirty="0"/>
          </a:p>
        </p:txBody>
      </p:sp>
      <p:sp>
        <p:nvSpPr>
          <p:cNvPr id="7" name="card"/>
          <p:cNvSpPr/>
          <p:nvPr/>
        </p:nvSpPr>
        <p:spPr>
          <a:xfrm>
            <a:off x="502920" y="2642616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724912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2</a:t>
            </a:r>
            <a:endParaRPr lang="ja-JP" sz="1500" dirty="0"/>
          </a:p>
        </p:txBody>
      </p:sp>
      <p:sp>
        <p:nvSpPr>
          <p:cNvPr id="9" name="step-text"/>
          <p:cNvSpPr txBox="1"/>
          <p:nvPr/>
        </p:nvSpPr>
        <p:spPr>
          <a:xfrm>
            <a:off x="1234440" y="264261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Wikiの「02 業務ルール」に置く</a:t>
            </a:r>
            <a:endParaRPr lang="ja-JP" sz="1400" dirty="0"/>
          </a:p>
        </p:txBody>
      </p:sp>
      <p:sp>
        <p:nvSpPr>
          <p:cNvPr id="10" name="card"/>
          <p:cNvSpPr/>
          <p:nvPr/>
        </p:nvSpPr>
        <p:spPr>
          <a:xfrm>
            <a:off x="502920" y="3337560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419856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3</a:t>
            </a:r>
            <a:endParaRPr lang="ja-JP" sz="1500" dirty="0"/>
          </a:p>
        </p:txBody>
      </p:sp>
      <p:sp>
        <p:nvSpPr>
          <p:cNvPr id="12" name="step-text"/>
          <p:cNvSpPr txBox="1"/>
          <p:nvPr/>
        </p:nvSpPr>
        <p:spPr>
          <a:xfrm>
            <a:off x="1234440" y="333756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AIに「この表で抜けている観点はありますか」と聞いて見直す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説明②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改善の回し方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691640"/>
            <a:ext cx="174650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 rot="-180000">
            <a:off x="918972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1</a:t>
            </a:r>
            <a:endParaRPr lang="ja-JP" sz="1000" dirty="0"/>
          </a:p>
        </p:txBody>
      </p:sp>
      <p:sp>
        <p:nvSpPr>
          <p:cNvPr id="6" name="flow-node"/>
          <p:cNvSpPr txBox="1"/>
          <p:nvPr/>
        </p:nvSpPr>
        <p:spPr>
          <a:xfrm>
            <a:off x="612648" y="1965960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要望をBASEに</a:t>
            </a:r>
            <a:endParaRPr lang="ja-JP" sz="1400" dirty="0"/>
          </a:p>
        </p:txBody>
      </p:sp>
      <p:pic>
        <p:nvPicPr>
          <p:cNvPr id="7" name="flow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2363724"/>
            <a:ext cx="256032" cy="256032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2633472" y="1691640"/>
            <a:ext cx="174650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 rot="-180000">
            <a:off x="3049524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2</a:t>
            </a:r>
            <a:endParaRPr lang="ja-JP" sz="1000" dirty="0"/>
          </a:p>
        </p:txBody>
      </p:sp>
      <p:sp>
        <p:nvSpPr>
          <p:cNvPr id="10" name="flow-node"/>
          <p:cNvSpPr txBox="1"/>
          <p:nvPr/>
        </p:nvSpPr>
        <p:spPr>
          <a:xfrm>
            <a:off x="2743200" y="1965960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月1回選ぶ</a:t>
            </a:r>
            <a:endParaRPr lang="ja-JP" sz="1400" dirty="0"/>
          </a:p>
        </p:txBody>
      </p:sp>
      <p:pic>
        <p:nvPicPr>
          <p:cNvPr id="11" name="flow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363724"/>
            <a:ext cx="256032" cy="256032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4764024" y="1691640"/>
            <a:ext cx="174650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 rot="-180000">
            <a:off x="5180076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3</a:t>
            </a:r>
            <a:endParaRPr lang="ja-JP" sz="1000" dirty="0"/>
          </a:p>
        </p:txBody>
      </p:sp>
      <p:sp>
        <p:nvSpPr>
          <p:cNvPr id="14" name="flow-node"/>
          <p:cNvSpPr txBox="1"/>
          <p:nvPr/>
        </p:nvSpPr>
        <p:spPr>
          <a:xfrm>
            <a:off x="4873752" y="1965960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記録→直す→確認</a:t>
            </a:r>
            <a:endParaRPr lang="ja-JP" sz="1400" dirty="0"/>
          </a:p>
        </p:txBody>
      </p:sp>
      <p:pic>
        <p:nvPicPr>
          <p:cNvPr id="15" name="flow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363724"/>
            <a:ext cx="256032" cy="256032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6894576" y="1691640"/>
            <a:ext cx="1746504" cy="1600200"/>
          </a:xfrm>
          <a:prstGeom prst="roundRect">
            <a:avLst>
              <a:gd name="adj" fmla="val 5714"/>
            </a:avLst>
          </a:prstGeom>
          <a:solidFill>
            <a:srgbClr val="F5A623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 rot="-180000">
            <a:off x="7310628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4</a:t>
            </a:r>
            <a:endParaRPr lang="ja-JP" sz="1000" dirty="0"/>
          </a:p>
        </p:txBody>
      </p:sp>
      <p:sp>
        <p:nvSpPr>
          <p:cNvPr id="18" name="flow-node"/>
          <p:cNvSpPr txBox="1"/>
          <p:nvPr/>
        </p:nvSpPr>
        <p:spPr>
          <a:xfrm>
            <a:off x="7004304" y="1965960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公開・記録</a:t>
            </a:r>
            <a:endParaRPr lang="ja-JP" sz="1400" dirty="0"/>
          </a:p>
        </p:txBody>
      </p:sp>
      <p:sp>
        <p:nvSpPr>
          <p:cNvPr id="19" name="Text 14"/>
          <p:cNvSpPr txBox="1"/>
          <p:nvPr/>
        </p:nvSpPr>
        <p:spPr>
          <a:xfrm rot="-60000">
            <a:off x="502920" y="379476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AIに直させるときは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「どこを・どう変えたいか・変えてはいけないところ」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を伝え、直したあとに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「何を変えたか説明して」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と頼む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915668" cy="352044"/>
          </a:xfrm>
          <a:prstGeom prst="rect">
            <a:avLst/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ハンズオン② 20分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1つ直す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417320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72184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</a:t>
            </a:r>
            <a:endParaRPr lang="ja-JP" sz="1500" dirty="0"/>
          </a:p>
        </p:txBody>
      </p:sp>
      <p:sp>
        <p:nvSpPr>
          <p:cNvPr id="6" name="step-text"/>
          <p:cNvSpPr txBox="1"/>
          <p:nvPr/>
        </p:nvSpPr>
        <p:spPr>
          <a:xfrm>
            <a:off x="1234440" y="1417320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第8回で集めた改善要望から、1つ選ぶ</a:t>
            </a:r>
            <a:endParaRPr lang="ja-JP" sz="1400" dirty="0"/>
          </a:p>
        </p:txBody>
      </p:sp>
      <p:sp>
        <p:nvSpPr>
          <p:cNvPr id="7" name="card"/>
          <p:cNvSpPr/>
          <p:nvPr/>
        </p:nvSpPr>
        <p:spPr>
          <a:xfrm>
            <a:off x="502920" y="2055114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109978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2</a:t>
            </a:r>
            <a:endParaRPr lang="ja-JP" sz="1500" dirty="0"/>
          </a:p>
        </p:txBody>
      </p:sp>
      <p:sp>
        <p:nvSpPr>
          <p:cNvPr id="9" name="step-text"/>
          <p:cNvSpPr txBox="1"/>
          <p:nvPr/>
        </p:nvSpPr>
        <p:spPr>
          <a:xfrm>
            <a:off x="1234440" y="2055114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直す前にGitで記録する</a:t>
            </a:r>
            <a:endParaRPr lang="ja-JP" sz="1400" dirty="0"/>
          </a:p>
        </p:txBody>
      </p:sp>
      <p:sp>
        <p:nvSpPr>
          <p:cNvPr id="10" name="card"/>
          <p:cNvSpPr/>
          <p:nvPr/>
        </p:nvSpPr>
        <p:spPr>
          <a:xfrm>
            <a:off x="502920" y="2692908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2747772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3</a:t>
            </a:r>
            <a:endParaRPr lang="ja-JP" sz="1500" dirty="0"/>
          </a:p>
        </p:txBody>
      </p:sp>
      <p:sp>
        <p:nvSpPr>
          <p:cNvPr id="12" name="step-text"/>
          <p:cNvSpPr txBox="1"/>
          <p:nvPr/>
        </p:nvSpPr>
        <p:spPr>
          <a:xfrm>
            <a:off x="1234440" y="2692908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Codeに頼んで直し、手元で確認して公開する</a:t>
            </a:r>
            <a:endParaRPr lang="ja-JP" sz="1400" dirty="0"/>
          </a:p>
        </p:txBody>
      </p:sp>
      <p:sp>
        <p:nvSpPr>
          <p:cNvPr id="13" name="card"/>
          <p:cNvSpPr/>
          <p:nvPr/>
        </p:nvSpPr>
        <p:spPr>
          <a:xfrm>
            <a:off x="502920" y="3330702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385566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4</a:t>
            </a:r>
            <a:endParaRPr lang="ja-JP" sz="1500" dirty="0"/>
          </a:p>
        </p:txBody>
      </p:sp>
      <p:sp>
        <p:nvSpPr>
          <p:cNvPr id="15" name="step-text"/>
          <p:cNvSpPr txBox="1"/>
          <p:nvPr/>
        </p:nvSpPr>
        <p:spPr>
          <a:xfrm>
            <a:off x="1234440" y="3330702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Wikiの「04 改善メモ」に1行残す</a:t>
            </a:r>
            <a:endParaRPr lang="ja-JP" sz="1400" dirty="0"/>
          </a:p>
        </p:txBody>
      </p:sp>
      <p:sp>
        <p:nvSpPr>
          <p:cNvPr id="16" name="Text 14"/>
          <p:cNvSpPr txBox="1"/>
          <p:nvPr/>
        </p:nvSpPr>
        <p:spPr>
          <a:xfrm rot="-60000">
            <a:off x="502920" y="4005072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変更の説明は P-10 で頼む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894740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まとめ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宿題と、今日のチェック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0408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</a:t>
            </a:r>
            <a:endParaRPr lang="ja-JP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成果発表の資料（5分）を作る</a:t>
            </a:r>
            <a:endParaRPr lang="ja-JP" sz="1350" dirty="0"/>
          </a:p>
        </p:txBody>
      </p:sp>
      <p:sp>
        <p:nvSpPr>
          <p:cNvPr id="9" name="card"/>
          <p:cNvSpPr/>
          <p:nvPr/>
        </p:nvSpPr>
        <p:spPr>
          <a:xfrm>
            <a:off x="470916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91032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17145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できたらチェック</a:t>
            </a:r>
            <a:endParaRPr lang="ja-JP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運用ルール表がWikiにある</a:t>
            </a:r>
            <a:endParaRPr lang="ja-JP" sz="135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改善が1回まわった（要望 → 修正 → 公開 → 記録）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548640"/>
            <a:ext cx="1280160" cy="54864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次回</a:t>
            </a:r>
            <a:endParaRPr lang="ja-JP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32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第12回</a:t>
            </a:r>
            <a:endParaRPr lang="ja-JP" sz="3200" dirty="0"/>
          </a:p>
          <a:p>
            <a:pPr indent="0" marL="0">
              <a:buNone/>
            </a:pPr>
            <a:r>
              <a:rPr lang="ja-JP" altLang="en-US" sz="32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成果発表・構築者チェック</a:t>
            </a:r>
            <a:endParaRPr lang="ja-JP" sz="3200" dirty="0"/>
          </a:p>
        </p:txBody>
      </p:sp>
      <p:sp>
        <p:nvSpPr>
          <p:cNvPr id="5" name="card"/>
          <p:cNvSpPr/>
          <p:nvPr/>
        </p:nvSpPr>
        <p:spPr>
          <a:xfrm>
            <a:off x="457200" y="31089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32004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わからないところは、講座グループでいつでも質問してください。</a:t>
            </a:r>
            <a:endParaRPr lang="ja-JP" sz="14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APIキーやパスワードは送らないでください。</a:t>
            </a:r>
            <a:endParaRPr lang="ja-JP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aYell">
  <a:themeElements>
    <a:clrScheme name="SasaYell">
      <a:dk1>
        <a:srgbClr val="1A1A1A"/>
      </a:dk1>
      <a:lt1>
        <a:srgbClr val="FFFFFF"/>
      </a:lt1>
      <a:dk2>
        <a:srgbClr val="1A1A1A"/>
      </a:dk2>
      <a:lt2>
        <a:srgbClr val="FFD600"/>
      </a:lt2>
      <a:accent1>
        <a:srgbClr val="FFD600"/>
      </a:accent1>
      <a:accent2>
        <a:srgbClr val="DD6420"/>
      </a:accent2>
      <a:accent3>
        <a:srgbClr val="F5A623"/>
      </a:accent3>
      <a:accent4>
        <a:srgbClr val="1A1A1A"/>
      </a:accent4>
      <a:accent5>
        <a:srgbClr val="FFFFFF"/>
      </a:accent5>
      <a:accent6>
        <a:srgbClr val="DD6420"/>
      </a:accent6>
      <a:hlink>
        <a:srgbClr val="DD6420"/>
      </a:hlink>
      <a:folHlink>
        <a:srgbClr val="F5A623"/>
      </a:folHlink>
    </a:clrScheme>
    <a:fontScheme name="SasaYell">
      <a:majorFont>
        <a:latin typeface="Dela Gothic One"/>
        <a:ea typeface="けいふぉんと"/>
        <a:cs typeface=""/>
      </a:majorFont>
      <a:minorFont>
        <a:latin typeface="Noto Sans JP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第11回 安全に運用・改善する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2026-10-08T07:08:42Z</dcterms:created>
  <dcterms:modified xsi:type="dcterms:W3CDTF">2026-10-08T07:08:42Z</dcterms:modified>
</cp:coreProperties>
</file>