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4d0c13c6-1b13-4f2f-366c-14561d4df756}">
          <p14:sldIdLst>
            <p14:sldId id="256"/>
            <p14:sldId id="257"/>
          </p14:sldIdLst>
        </p14:section>
        <p14:section name="本編" id="{d7caba07-dd3f-5bb7-ee10-620cef3f366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まとめ" id="{1df2fda3-8d03-787a-11a5-4b53ace3819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第7回「Claude Code入門」。前回の宿題の提出状況を確認してから始める。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実際にClaude Codeがファイルを作る様子を1分デモする。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全員がブラウザでページを開けるまで待つ。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や・も・ざ・か に3つ足す、と第2回とつなげる。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MANA_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754880"/>
            <a:ext cx="2423160" cy="274320"/>
          </a:xfrm>
          <a:prstGeom prst="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510528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ささエール｜OFFICE PLATA</a:t>
            </a:r>
            <a:endParaRPr lang="ja-JP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754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850" dirty="0">
                <a:solidFill>
                  <a:srgbClr val="1A1A1A"/>
                </a:solidFill>
                <a:latin typeface="Noto Sans JP Medium" pitchFamily="34" charset="0"/>
                <a:ea typeface="Noto Sans JP Medium" pitchFamily="34" charset="-122"/>
                <a:cs typeface="Noto Sans JP Medium" pitchFamily="34" charset="-120"/>
              </a:rPr>
              <a:t>マナベル　第7回　Claude Code入門</a:t>
            </a:r>
            <a:endParaRPr lang="ja-JP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411480"/>
            <a:ext cx="1600200" cy="60350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2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第7回</a:t>
            </a:r>
            <a:endParaRPr lang="ja-JP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ja-JP" altLang="en-US" sz="40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Claude Code入門</a:t>
            </a:r>
            <a:endParaRPr lang="ja-JP" sz="4000" dirty="0"/>
          </a:p>
        </p:txBody>
      </p:sp>
      <p:sp>
        <p:nvSpPr>
          <p:cNvPr id="5" name="Text 2"/>
          <p:cNvSpPr txBox="1"/>
          <p:nvPr/>
        </p:nvSpPr>
        <p:spPr>
          <a:xfrm rot="-120000">
            <a:off x="457200" y="2971800"/>
            <a:ext cx="49377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フェーズ3 AIで作る｜第4週</a:t>
            </a:r>
            <a:endParaRPr lang="ja-JP" sz="1600" dirty="0"/>
          </a:p>
        </p:txBody>
      </p:sp>
      <p:sp>
        <p:nvSpPr>
          <p:cNvPr id="6" name="card"/>
          <p:cNvSpPr/>
          <p:nvPr/>
        </p:nvSpPr>
        <p:spPr>
          <a:xfrm>
            <a:off x="457200" y="3730752"/>
            <a:ext cx="49377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" y="37673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ja-JP" altLang="en-US" sz="15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マナベル｜AI×Lark 構築者育成講座</a:t>
            </a:r>
            <a:endParaRPr lang="ja-JP" sz="1500" dirty="0"/>
          </a:p>
          <a:p>
            <a:pPr indent="0" marL="0">
              <a:spcAft>
                <a:spcPts val="200"/>
              </a:spcAft>
              <a:buNone/>
            </a:pPr>
            <a:r>
              <a:rPr lang="ja-JP" altLang="en-US" sz="11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ささエール ／ OFFICE PLATA　笹原 彰朗</a:t>
            </a:r>
            <a:endParaRPr lang="ja-JP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はじめに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今日のゴールと流れ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82496"/>
            <a:ext cx="219456" cy="219456"/>
          </a:xfrm>
          <a:prstGeom prst="rect">
            <a:avLst/>
          </a:prstGeom>
        </p:spPr>
      </p:pic>
      <p:sp>
        <p:nvSpPr>
          <p:cNvPr id="7" name="goal"/>
          <p:cNvSpPr txBox="1"/>
          <p:nvPr/>
        </p:nvSpPr>
        <p:spPr>
          <a:xfrm>
            <a:off x="1252728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自分のPCでClaude Codeを動かし、Webページを1枚作らせられる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4700016" y="1371600"/>
            <a:ext cx="394106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82896" y="1572768"/>
            <a:ext cx="438912" cy="438912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682496"/>
            <a:ext cx="219456" cy="219456"/>
          </a:xfrm>
          <a:prstGeom prst="rect">
            <a:avLst/>
          </a:prstGeom>
        </p:spPr>
      </p:pic>
      <p:sp>
        <p:nvSpPr>
          <p:cNvPr id="11" name="goal"/>
          <p:cNvSpPr txBox="1"/>
          <p:nvPr/>
        </p:nvSpPr>
        <p:spPr>
          <a:xfrm>
            <a:off x="5449824" y="1463040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修正を頼み、Gitで記録してGitHubに保存できる</a:t>
            </a:r>
            <a:endParaRPr lang="ja-JP" sz="1400" dirty="0"/>
          </a:p>
        </p:txBody>
      </p:sp>
      <p:sp>
        <p:nvSpPr>
          <p:cNvPr id="12" name="Text 8"/>
          <p:cNvSpPr txBox="1"/>
          <p:nvPr/>
        </p:nvSpPr>
        <p:spPr>
          <a:xfrm rot="-120000">
            <a:off x="457200" y="2907792"/>
            <a:ext cx="191566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今日の流れ（90分）</a:t>
            </a:r>
            <a:endParaRPr lang="ja-JP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3364992"/>
            <a:ext cx="813816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4" name="time-block"/>
          <p:cNvSpPr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0292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ふりかえり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6" name="time-block"/>
          <p:cNvSpPr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0716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18" name="time-block"/>
          <p:cNvSpPr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1140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ハンズオン①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0" name="time-block"/>
          <p:cNvSpPr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19880" y="3364992"/>
            <a:ext cx="90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</a:t>
            </a:r>
            <a:endParaRPr lang="ja-JP" sz="1050" dirty="0"/>
          </a:p>
        </p:txBody>
      </p:sp>
      <p:sp>
        <p:nvSpPr>
          <p:cNvPr id="22" name="time-block"/>
          <p:cNvSpPr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24120" y="3364992"/>
            <a:ext cx="180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ハンズオン②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20分</a:t>
            </a:r>
            <a:endParaRPr lang="ja-JP" sz="1050" dirty="0"/>
          </a:p>
        </p:txBody>
      </p:sp>
      <p:sp>
        <p:nvSpPr>
          <p:cNvPr id="24" name="time-block"/>
          <p:cNvSpPr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32600" y="3364992"/>
            <a:ext cx="135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質問・共有</a:t>
            </a:r>
            <a:endParaRPr lang="ja-JP" sz="10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</a:t>
            </a:r>
            <a:endParaRPr lang="ja-JP" sz="1050" dirty="0"/>
          </a:p>
        </p:txBody>
      </p:sp>
      <p:sp>
        <p:nvSpPr>
          <p:cNvPr id="26" name="time-block"/>
          <p:cNvSpPr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88960" y="3364992"/>
            <a:ext cx="45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85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宿題</a:t>
            </a:r>
            <a:endParaRPr lang="ja-JP" sz="850" dirty="0"/>
          </a:p>
          <a:p>
            <a:pPr algn="ctr" indent="0" marL="0">
              <a:buNone/>
            </a:pPr>
            <a:r>
              <a:rPr lang="ja-JP" altLang="en-US" sz="9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5分</a:t>
            </a:r>
            <a:endParaRPr lang="ja-JP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　</a:t>
            </a:r>
            <a:pPr indent="0" marL="0">
              <a:buNone/>
            </a:pPr>
            <a:r>
              <a:rPr lang="ja-JP" altLang="en-US" sz="1050" b="1" dirty="0">
                <a:solidFill>
                  <a:srgbClr val="DD642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■ </a:t>
            </a:r>
            <a:pPr indent="0" marL="0">
              <a:buNone/>
            </a:pPr>
            <a:r>
              <a:rPr lang="ja-JP" alt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手を動かす</a:t>
            </a:r>
            <a:endParaRPr lang="ja-JP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説明①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チャットAIとClaude Codeの違い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04088" y="1618488"/>
            <a:ext cx="2414016" cy="329184"/>
          </a:xfrm>
          <a:prstGeom prst="roundRect">
            <a:avLst>
              <a:gd name="adj" fmla="val 16667"/>
            </a:avLst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チャットAI（相談相手）</a:t>
            </a:r>
            <a:endParaRPr lang="ja-JP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30552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ブラウザ・アプリで使う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答えを文章で返す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ファイルは自分でコピーする</a:t>
            </a:r>
            <a:endParaRPr lang="ja-JP" sz="1350" dirty="0"/>
          </a:p>
        </p:txBody>
      </p:sp>
      <p:sp>
        <p:nvSpPr>
          <p:cNvPr id="8" name="card"/>
          <p:cNvSpPr/>
          <p:nvPr/>
        </p:nvSpPr>
        <p:spPr>
          <a:xfrm>
            <a:off x="5029200" y="14173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230368" y="1618488"/>
            <a:ext cx="3209544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Code（隣に座る開発者）</a:t>
            </a:r>
            <a:endParaRPr lang="ja-JP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2130552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PCのターミナルで使う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フォルダの中のファイルを直接作る・直す</a:t>
            </a:r>
            <a:endParaRPr lang="ja-JP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動かして確かめることもできる</a:t>
            </a:r>
            <a:endParaRPr lang="ja-JP" sz="1350" dirty="0"/>
          </a:p>
        </p:txBody>
      </p:sp>
      <p:sp>
        <p:nvSpPr>
          <p:cNvPr id="11" name="icon-circle"/>
          <p:cNvSpPr/>
          <p:nvPr/>
        </p:nvSpPr>
        <p:spPr>
          <a:xfrm>
            <a:off x="4325112" y="2702052"/>
            <a:ext cx="493776" cy="49377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8556" y="2825496"/>
            <a:ext cx="246888" cy="2468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説明①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最低限おぼえる言葉</a:t>
            </a:r>
            <a:endParaRPr lang="ja-JP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351024"/>
                <a:gridCol w="578713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言葉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意味</a:t>
                      </a:r>
                      <a:endParaRPr lang="en-US" sz="12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フォルダ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作るもの1つ分の箱。1つのアプリ＝1つのフォルダ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ターミナル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文字で命令する画面。Claude Codeはここで動く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HTML / CSS / JS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Webページの「中身／見た目／動き」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Git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変更の記録（ゲームのセーブポイント）。いつでも前に戻れる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D642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GitHub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Noto Sans JP Medium" pitchFamily="34" charset="0"/>
                          <a:ea typeface="Noto Sans JP Medium" pitchFamily="34" charset="-122"/>
                          <a:cs typeface="Noto Sans JP Medium" pitchFamily="34" charset="-120"/>
                        </a:rPr>
                        <a:t>Gitの記録をネット上に保管する場所</a:t>
                      </a:r>
                      <a:endParaRPr lang="en-US" sz="1200" dirty="0">
                        <a:latin typeface="Noto Sans JP Medium" charset="0"/>
                        <a:ea typeface="Noto Sans JP Medium" charset="0"/>
                        <a:cs typeface="Noto Sans JP Medium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ハンズオン①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最初の1ページを作る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472184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7" name="step-text"/>
          <p:cNvSpPr txBox="1"/>
          <p:nvPr/>
        </p:nvSpPr>
        <p:spPr>
          <a:xfrm>
            <a:off x="1234440" y="1417320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作業用フォルダを作り、その中で claude と入力して起動</a:t>
            </a:r>
            <a:endParaRPr lang="ja-JP" sz="1400" dirty="0"/>
          </a:p>
        </p:txBody>
      </p:sp>
      <p:sp>
        <p:nvSpPr>
          <p:cNvPr id="8" name="card"/>
          <p:cNvSpPr/>
          <p:nvPr/>
        </p:nvSpPr>
        <p:spPr>
          <a:xfrm>
            <a:off x="502920" y="2055114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2109978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10" name="step-text"/>
          <p:cNvSpPr txBox="1"/>
          <p:nvPr/>
        </p:nvSpPr>
        <p:spPr>
          <a:xfrm>
            <a:off x="1234440" y="2055114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「まなべ食堂の紹介ページを index.html 1枚で」と頼む</a:t>
            </a:r>
            <a:endParaRPr lang="ja-JP" sz="1400" dirty="0"/>
          </a:p>
        </p:txBody>
      </p:sp>
      <p:sp>
        <p:nvSpPr>
          <p:cNvPr id="11" name="card"/>
          <p:cNvSpPr/>
          <p:nvPr/>
        </p:nvSpPr>
        <p:spPr>
          <a:xfrm>
            <a:off x="502920" y="2692908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2747772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3" name="step-text"/>
          <p:cNvSpPr txBox="1"/>
          <p:nvPr/>
        </p:nvSpPr>
        <p:spPr>
          <a:xfrm>
            <a:off x="1234440" y="2692908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できた index.html をブラウザで開いて確かめる</a:t>
            </a:r>
            <a:endParaRPr lang="ja-JP" sz="1400" dirty="0"/>
          </a:p>
        </p:txBody>
      </p:sp>
      <p:sp>
        <p:nvSpPr>
          <p:cNvPr id="14" name="card"/>
          <p:cNvSpPr/>
          <p:nvPr/>
        </p:nvSpPr>
        <p:spPr>
          <a:xfrm>
            <a:off x="502920" y="3330702"/>
            <a:ext cx="8138160" cy="509778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3385566"/>
            <a:ext cx="400050" cy="40005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4</a:t>
            </a:r>
            <a:endParaRPr lang="ja-JP" sz="1500" dirty="0"/>
          </a:p>
        </p:txBody>
      </p:sp>
      <p:sp>
        <p:nvSpPr>
          <p:cNvPr id="16" name="step-text"/>
          <p:cNvSpPr txBox="1"/>
          <p:nvPr/>
        </p:nvSpPr>
        <p:spPr>
          <a:xfrm>
            <a:off x="1234440" y="3330702"/>
            <a:ext cx="7269480" cy="50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「ボタンを緑に」「メニューを5品に」など、2回修正を頼む</a:t>
            </a:r>
            <a:endParaRPr lang="ja-JP" sz="1400" dirty="0"/>
          </a:p>
        </p:txBody>
      </p:sp>
      <p:sp>
        <p:nvSpPr>
          <p:cNvPr id="17" name="Text 14"/>
          <p:cNvSpPr txBox="1"/>
          <p:nvPr/>
        </p:nvSpPr>
        <p:spPr>
          <a:xfrm rot="-60000">
            <a:off x="502920" y="4005072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インストールは準備会で済ませています。止まった人はブレイクアウトで個別に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478128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説明② 10分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Claude Codeへの頼み方：3つ足す</a:t>
            </a:r>
            <a:endParaRPr lang="ja-JP" sz="2600" dirty="0"/>
          </a:p>
        </p:txBody>
      </p:sp>
      <p:sp>
        <p:nvSpPr>
          <p:cNvPr id="5" name="card"/>
          <p:cNvSpPr/>
          <p:nvPr/>
        </p:nvSpPr>
        <p:spPr>
          <a:xfrm>
            <a:off x="502920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600200"/>
            <a:ext cx="1197864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小さく頼む</a:t>
            </a:r>
            <a:endParaRPr lang="ja-JP" sz="1300" dirty="0"/>
          </a:p>
        </p:txBody>
      </p:sp>
      <p:sp>
        <p:nvSpPr>
          <p:cNvPr id="7" name="card-body"/>
          <p:cNvSpPr txBox="1"/>
          <p:nvPr/>
        </p:nvSpPr>
        <p:spPr>
          <a:xfrm>
            <a:off x="704088" y="2075688"/>
            <a:ext cx="21396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「全部作って」ではなく、1回1機能</a:t>
            </a:r>
            <a:endParaRPr lang="ja-JP" sz="1350" dirty="0"/>
          </a:p>
        </p:txBody>
      </p:sp>
      <p:sp>
        <p:nvSpPr>
          <p:cNvPr id="8" name="card"/>
          <p:cNvSpPr/>
          <p:nvPr/>
        </p:nvSpPr>
        <p:spPr>
          <a:xfrm>
            <a:off x="3300984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83864" y="1600200"/>
            <a:ext cx="1545336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確かめ方を聞く</a:t>
            </a:r>
            <a:endParaRPr lang="ja-JP" sz="1300" dirty="0"/>
          </a:p>
        </p:txBody>
      </p:sp>
      <p:sp>
        <p:nvSpPr>
          <p:cNvPr id="10" name="card-body"/>
          <p:cNvSpPr txBox="1"/>
          <p:nvPr/>
        </p:nvSpPr>
        <p:spPr>
          <a:xfrm>
            <a:off x="3502152" y="2075688"/>
            <a:ext cx="21396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「できたら、どこを開けば確認できるか教えて」</a:t>
            </a:r>
            <a:endParaRPr lang="ja-JP" sz="1350" dirty="0"/>
          </a:p>
        </p:txBody>
      </p:sp>
      <p:sp>
        <p:nvSpPr>
          <p:cNvPr id="11" name="card"/>
          <p:cNvSpPr/>
          <p:nvPr/>
        </p:nvSpPr>
        <p:spPr>
          <a:xfrm>
            <a:off x="6099048" y="1417320"/>
            <a:ext cx="254203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81928" y="1600200"/>
            <a:ext cx="1545336" cy="329184"/>
          </a:xfrm>
          <a:prstGeom prst="roundRect">
            <a:avLst>
              <a:gd name="adj" fmla="val 16667"/>
            </a:avLst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先に質問させる</a:t>
            </a:r>
            <a:endParaRPr lang="ja-JP" sz="1300" dirty="0"/>
          </a:p>
        </p:txBody>
      </p:sp>
      <p:sp>
        <p:nvSpPr>
          <p:cNvPr id="13" name="card-body"/>
          <p:cNvSpPr txBox="1"/>
          <p:nvPr/>
        </p:nvSpPr>
        <p:spPr>
          <a:xfrm>
            <a:off x="6300216" y="2075688"/>
            <a:ext cx="21396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「作る前に、不明点を質問してください」</a:t>
            </a:r>
            <a:endParaRPr lang="ja-JP" sz="1350" dirty="0"/>
          </a:p>
        </p:txBody>
      </p:sp>
      <p:sp>
        <p:nvSpPr>
          <p:cNvPr id="14" name="Text 11"/>
          <p:cNvSpPr txBox="1"/>
          <p:nvPr/>
        </p:nvSpPr>
        <p:spPr>
          <a:xfrm rot="-60000">
            <a:off x="502920" y="4114800"/>
            <a:ext cx="8138160" cy="502920"/>
          </a:xfrm>
          <a:prstGeom prst="rect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1905" rIns="1905" bIns="0" rtlCol="0" anchor="ctr">
            <a:normAutofit/>
          </a:bodyPr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動いた！と思ったら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「今の状態をGitで記録して」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。壊れたら</a:t>
            </a:r>
            <a:pPr algn="ctr" indent="0" marL="0">
              <a:buNone/>
            </a:pPr>
            <a:r>
              <a:rPr lang="ja-JP" altLang="en-US" sz="1300" b="1" dirty="0">
                <a:solidFill>
                  <a:srgbClr val="FFD6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「1つ前の記録に戻して」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915668" cy="352044"/>
          </a:xfrm>
          <a:prstGeom prst="rect">
            <a:avLst/>
          </a:prstGeom>
          <a:solidFill>
            <a:srgbClr val="DD6420"/>
          </a:solidFill>
          <a:ln>
            <a:solidFill>
              <a:srgbClr val="DD642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ハンズオン② 20分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GitHubに保存する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947672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029968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1</a:t>
            </a:r>
            <a:endParaRPr lang="ja-JP" sz="1500" dirty="0"/>
          </a:p>
        </p:txBody>
      </p:sp>
      <p:sp>
        <p:nvSpPr>
          <p:cNvPr id="6" name="step-text"/>
          <p:cNvSpPr txBox="1"/>
          <p:nvPr/>
        </p:nvSpPr>
        <p:spPr>
          <a:xfrm>
            <a:off x="1234440" y="194767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GitHubで新しいリポジトリを作る（公開範囲は Private）</a:t>
            </a:r>
            <a:endParaRPr lang="ja-JP" sz="1400" dirty="0"/>
          </a:p>
        </p:txBody>
      </p:sp>
      <p:sp>
        <p:nvSpPr>
          <p:cNvPr id="7" name="card"/>
          <p:cNvSpPr/>
          <p:nvPr/>
        </p:nvSpPr>
        <p:spPr>
          <a:xfrm>
            <a:off x="502920" y="2642616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724912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2</a:t>
            </a:r>
            <a:endParaRPr lang="ja-JP" sz="1500" dirty="0"/>
          </a:p>
        </p:txBody>
      </p:sp>
      <p:sp>
        <p:nvSpPr>
          <p:cNvPr id="9" name="step-text"/>
          <p:cNvSpPr txBox="1"/>
          <p:nvPr/>
        </p:nvSpPr>
        <p:spPr>
          <a:xfrm>
            <a:off x="1234440" y="264261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Codeに「このフォルダをGitHubにアップロードしたい。手順を教えて」と頼む</a:t>
            </a:r>
            <a:endParaRPr lang="ja-JP" sz="1400" dirty="0"/>
          </a:p>
        </p:txBody>
      </p:sp>
      <p:sp>
        <p:nvSpPr>
          <p:cNvPr id="10" name="card"/>
          <p:cNvSpPr/>
          <p:nvPr/>
        </p:nvSpPr>
        <p:spPr>
          <a:xfrm>
            <a:off x="502920" y="333756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419856"/>
            <a:ext cx="402336" cy="402336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3</a:t>
            </a:r>
            <a:endParaRPr lang="ja-JP" sz="1500" dirty="0"/>
          </a:p>
        </p:txBody>
      </p:sp>
      <p:sp>
        <p:nvSpPr>
          <p:cNvPr id="12" name="step-text"/>
          <p:cNvSpPr txBox="1"/>
          <p:nvPr/>
        </p:nvSpPr>
        <p:spPr>
          <a:xfrm>
            <a:off x="1234440" y="333756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GitHubの画面で、ファイルが見えることを確かめる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1040587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必ず守る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安全に使うための約束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410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1848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25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許可は読んでから</a:t>
            </a:r>
            <a:endParaRPr lang="ja-JP" sz="1250" dirty="0"/>
          </a:p>
        </p:txBody>
      </p:sp>
      <p:sp>
        <p:nvSpPr>
          <p:cNvPr id="8" name="card-body"/>
          <p:cNvSpPr txBox="1"/>
          <p:nvPr/>
        </p:nvSpPr>
        <p:spPr>
          <a:xfrm>
            <a:off x="704088" y="2313432"/>
            <a:ext cx="35387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コマンドの実行許可を求められたら、何をするのか読む。わからなければ「このコマンドは何をしますか？」と聞く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0016" y="1417320"/>
            <a:ext cx="3941064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901184" y="1618488"/>
            <a:ext cx="548640" cy="54864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17556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68696" y="161848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15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秘密を書かない</a:t>
            </a:r>
            <a:endParaRPr lang="ja-JP" sz="1500" dirty="0"/>
          </a:p>
        </p:txBody>
      </p:sp>
      <p:sp>
        <p:nvSpPr>
          <p:cNvPr id="13" name="card-body"/>
          <p:cNvSpPr txBox="1"/>
          <p:nvPr/>
        </p:nvSpPr>
        <p:spPr>
          <a:xfrm>
            <a:off x="4901184" y="2313432"/>
            <a:ext cx="35387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パスワードやAPIキーを、チャット欄やファイルに直接書かない（第9回で正しい置き場所を学ぶ）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 rot="-180000">
            <a:off x="411480" y="201168"/>
            <a:ext cx="894740" cy="352044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100" dirty="0">
                <a:solidFill>
                  <a:srgbClr val="FFFFFF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まとめ</a:t>
            </a:r>
            <a:endParaRPr lang="ja-JP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26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宿題と、今日のチェック</a:t>
            </a:r>
            <a:endParaRPr lang="ja-JP" sz="2600" dirty="0"/>
          </a:p>
        </p:txBody>
      </p:sp>
      <p:sp>
        <p:nvSpPr>
          <p:cNvPr id="4" name="card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0408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宿題</a:t>
            </a:r>
            <a:endParaRPr lang="ja-JP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紹介ページに自社の紹介文を入れ、3回以上「修正 → 記録 → GitHubに保存」をくり返す</a:t>
            </a:r>
            <a:endParaRPr lang="ja-JP" sz="1350" dirty="0"/>
          </a:p>
        </p:txBody>
      </p:sp>
      <p:sp>
        <p:nvSpPr>
          <p:cNvPr id="9" name="card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910328" y="1600200"/>
            <a:ext cx="457200" cy="457200"/>
          </a:xfrm>
          <a:prstGeom prst="ellipse">
            <a:avLst/>
          </a:prstGeom>
          <a:solidFill>
            <a:srgbClr val="DD6420"/>
          </a:solidFill>
          <a:ln w="19050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できたらチェック</a:t>
            </a:r>
            <a:endParaRPr lang="ja-JP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24028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Claude Codeでページを作り、修正できた</a:t>
            </a:r>
            <a:endParaRPr lang="ja-JP" sz="1350" dirty="0"/>
          </a:p>
          <a:p>
            <a:pPr indent="0" marL="0">
              <a:spcAft>
                <a:spcPts val="800"/>
              </a:spcAft>
              <a:buNone/>
            </a:pPr>
            <a:r>
              <a:rPr lang="ja-JP" altLang="en-US" sz="13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☐ Gitで記録し、GitHubに保存できた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8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rtrait" descr="講師 笹原彰朗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588" y="1211580"/>
            <a:ext cx="2866092" cy="3931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 rot="-240000">
            <a:off x="457200" y="548640"/>
            <a:ext cx="1280160" cy="548640"/>
          </a:xfrm>
          <a:prstGeom prst="rect">
            <a:avLst/>
          </a:prstGeom>
          <a:solidFill>
            <a:srgbClr val="1A1A1A"/>
          </a:solidFill>
          <a:ln>
            <a:solidFill>
              <a:srgbClr val="1A1A1A"/>
            </a:solidFill>
          </a:ln>
          <a:effectLst>
            <a:outerShdw sx="100000" sy="100000" kx="0" ky="0" algn="bl" rotWithShape="0" blurRad="101600" dist="38100" dir="2700000">
              <a:srgbClr val="1A1A1A">
                <a:alpha val="10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2000" dirty="0">
                <a:solidFill>
                  <a:srgbClr val="FFD600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次回</a:t>
            </a:r>
            <a:endParaRPr lang="ja-JP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第8回</a:t>
            </a:r>
            <a:endParaRPr lang="ja-JP" sz="3200" dirty="0"/>
          </a:p>
          <a:p>
            <a:pPr indent="0" marL="0">
              <a:buNone/>
            </a:pPr>
            <a:r>
              <a:rPr lang="ja-JP" altLang="en-US" sz="3200" dirty="0">
                <a:solidFill>
                  <a:srgbClr val="1A1A1A"/>
                </a:solidFill>
                <a:latin typeface="Dela Gothic One" pitchFamily="34" charset="0"/>
                <a:ea typeface="けいふぉんと" pitchFamily="34" charset="-122"/>
                <a:cs typeface="Dela Gothic One" pitchFamily="34" charset="-120"/>
              </a:rPr>
              <a:t>Webに公開する</a:t>
            </a:r>
            <a:endParaRPr lang="ja-JP" sz="3200" dirty="0"/>
          </a:p>
        </p:txBody>
      </p:sp>
      <p:sp>
        <p:nvSpPr>
          <p:cNvPr id="5" name="card"/>
          <p:cNvSpPr/>
          <p:nvPr/>
        </p:nvSpPr>
        <p:spPr>
          <a:xfrm>
            <a:off x="457200" y="31089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50800" dir="2700000">
              <a:srgbClr val="1A1A1A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32004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わからないところは、講座グループでいつでも質問してください。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APIキーやパスワードは送らないでください。</a:t>
            </a:r>
            <a:endParaRPr lang="ja-JP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aYell">
  <a:themeElements>
    <a:clrScheme name="SasaYell">
      <a:dk1>
        <a:srgbClr val="1A1A1A"/>
      </a:dk1>
      <a:lt1>
        <a:srgbClr val="FFFFFF"/>
      </a:lt1>
      <a:dk2>
        <a:srgbClr val="1A1A1A"/>
      </a:dk2>
      <a:lt2>
        <a:srgbClr val="FFD600"/>
      </a:lt2>
      <a:accent1>
        <a:srgbClr val="FFD600"/>
      </a:accent1>
      <a:accent2>
        <a:srgbClr val="DD6420"/>
      </a:accent2>
      <a:accent3>
        <a:srgbClr val="F5A623"/>
      </a:accent3>
      <a:accent4>
        <a:srgbClr val="1A1A1A"/>
      </a:accent4>
      <a:accent5>
        <a:srgbClr val="FFFFFF"/>
      </a:accent5>
      <a:accent6>
        <a:srgbClr val="DD6420"/>
      </a:accent6>
      <a:hlink>
        <a:srgbClr val="DD6420"/>
      </a:hlink>
      <a:folHlink>
        <a:srgbClr val="F5A623"/>
      </a:folHlink>
    </a:clrScheme>
    <a:fontScheme name="SasaYell">
      <a:majorFont>
        <a:latin typeface="Dela Gothic One"/>
        <a:ea typeface="けいふぉんと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第7回 Claude Code入門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2026-10-08T07:08:41Z</dcterms:created>
  <dcterms:modified xsi:type="dcterms:W3CDTF">2026-10-08T07:08:41Z</dcterms:modified>
</cp:coreProperties>
</file>