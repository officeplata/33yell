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導入" id="{ed803743-8728-c716-6e34-f9d0bb733034}">
          <p14:sldIdLst>
            <p14:sldId id="256"/>
            <p14:sldId id="257"/>
          </p14:sldIdLst>
        </p14:section>
        <p14:section name="本編" id="{c6c81b10-cff2-33c8-d63a-17331f83a9da}">
          <p14:sldIdLst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まとめ" id="{71886a49-6240-c1e1-4141-d33c810b139e}">
          <p14:sldIdLst>
            <p14:sldId id="264"/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第7回「Claude Code入門」。前回の宿題の提出状況を確認してから始める。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ゴールを読み上げ、今日は「聞く」と「手を動かす」を交互に進めることを伝える。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実際にClaude Codeがファイルを作る様子を1分デモする。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全員がブラウザでページを開けるまで待つ。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や・も・ざ・か に3つ足す、と第2回とつなげる。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宿題の目安時間を伝える。質問は講座グループへ（24時間以内に返信・土日祝を除く）。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次回までの宿題をもう一度確認して終了。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NA_TITLE">
    <p:bg>
      <p:bgPr>
        <a:solidFill>
          <a:srgbClr val="FFD6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691640"/>
            <a:ext cx="585216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246120"/>
            <a:ext cx="585216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  <p:sp>
        <p:nvSpPr>
          <p:cNvPr id="4" name="Text 0"/>
          <p:cNvSpPr/>
          <p:nvPr/>
        </p:nvSpPr>
        <p:spPr>
          <a:xfrm>
            <a:off x="548640" y="45262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マナベル｜AI×Lark 構築者育成講座</a:t>
            </a:r>
            <a:endParaRPr lang="en-US" sz="1000" dirty="0"/>
          </a:p>
        </p:txBody>
      </p:sp>
      <p:sp>
        <p:nvSpPr>
          <p:cNvPr id="5" name="Text 1"/>
          <p:cNvSpPr/>
          <p:nvPr/>
        </p:nvSpPr>
        <p:spPr>
          <a:xfrm>
            <a:off x="6766560" y="45262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ささエール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NA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58368"/>
            <a:ext cx="8046720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3" name="Text 0"/>
          <p:cNvSpPr/>
          <p:nvPr/>
        </p:nvSpPr>
        <p:spPr>
          <a:xfrm>
            <a:off x="548640" y="477316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</a:rPr>
              <a:t>マナベル　第7回　Claude Code入門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87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NA_DARK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63040"/>
            <a:ext cx="804672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06040"/>
            <a:ext cx="80467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500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1500" dirty="0"/>
          </a:p>
        </p:txBody>
      </p:sp>
      <p:sp>
        <p:nvSpPr>
          <p:cNvPr id="4" name="Text 0"/>
          <p:cNvSpPr/>
          <p:nvPr/>
        </p:nvSpPr>
        <p:spPr>
          <a:xfrm>
            <a:off x="548640" y="45262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マナベル｜AI×Lark 構築者育成講座</a:t>
            </a:r>
            <a:endParaRPr lang="en-US" sz="1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87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esson-badge"/>
          <p:cNvSpPr/>
          <p:nvPr/>
        </p:nvSpPr>
        <p:spPr>
          <a:xfrm>
            <a:off x="548640" y="822960"/>
            <a:ext cx="1828800" cy="566928"/>
          </a:xfrm>
          <a:prstGeom prst="roundRect">
            <a:avLst>
              <a:gd name="adj" fmla="val 50000"/>
            </a:avLst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8000"/>
              </a:srgbClr>
            </a:outerShdw>
          </a:effectLst>
        </p:spPr>
      </p:sp>
      <p:sp>
        <p:nvSpPr>
          <p:cNvPr id="3" name="Text 1"/>
          <p:cNvSpPr txBox="1"/>
          <p:nvPr/>
        </p:nvSpPr>
        <p:spPr>
          <a:xfrm>
            <a:off x="548640" y="822960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第7回</a:t>
            </a:r>
            <a:endParaRPr lang="en-US" sz="22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1691640"/>
            <a:ext cx="5852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Claude Code入門</a:t>
            </a:r>
            <a:endParaRPr lang="en-US" sz="32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548640" y="3246120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フェーズ3 AIで作る　｜　第4週</a:t>
            </a:r>
            <a:endParaRPr lang="en-US" sz="1400" dirty="0"/>
          </a:p>
        </p:txBody>
      </p:sp>
      <p:sp>
        <p:nvSpPr>
          <p:cNvPr id="6" name="title-circle"/>
          <p:cNvSpPr/>
          <p:nvPr/>
        </p:nvSpPr>
        <p:spPr>
          <a:xfrm>
            <a:off x="6537960" y="1188720"/>
            <a:ext cx="2103120" cy="2103120"/>
          </a:xfrm>
          <a:prstGeom prst="ellipse">
            <a:avLst/>
          </a:prstGeom>
          <a:solidFill>
            <a:schemeClr val="bg1"/>
          </a:solidFill>
          <a:ln w="2540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8000"/>
              </a:srgbClr>
            </a:outerShdw>
          </a:effectLst>
        </p:spPr>
      </p:sp>
      <p:pic>
        <p:nvPicPr>
          <p:cNvPr id="7" name="title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0" y="1737360"/>
            <a:ext cx="1005840" cy="10058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58368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今日のゴールと流れ</a:t>
            </a:r>
            <a:endParaRPr lang="en-US" sz="2400" dirty="0"/>
          </a:p>
        </p:txBody>
      </p:sp>
      <p:sp>
        <p:nvSpPr>
          <p:cNvPr id="3" name="chip"/>
          <p:cNvSpPr/>
          <p:nvPr/>
        </p:nvSpPr>
        <p:spPr>
          <a:xfrm>
            <a:off x="548640" y="292608"/>
            <a:ext cx="932688" cy="292608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4" name="chip-text"/>
          <p:cNvSpPr txBox="1"/>
          <p:nvPr/>
        </p:nvSpPr>
        <p:spPr>
          <a:xfrm>
            <a:off x="548640" y="292608"/>
            <a:ext cx="9326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はじめに</a:t>
            </a:r>
            <a:endParaRPr lang="en-US" sz="1100" dirty="0"/>
          </a:p>
        </p:txBody>
      </p:sp>
      <p:sp>
        <p:nvSpPr>
          <p:cNvPr id="5" name="card"/>
          <p:cNvSpPr/>
          <p:nvPr/>
        </p:nvSpPr>
        <p:spPr>
          <a:xfrm>
            <a:off x="548640" y="1417320"/>
            <a:ext cx="3909060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 w="1905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8000"/>
              </a:srgbClr>
            </a:outerShdw>
          </a:effectLst>
        </p:spPr>
      </p:sp>
      <p:sp>
        <p:nvSpPr>
          <p:cNvPr id="6" name="icon-circle"/>
          <p:cNvSpPr/>
          <p:nvPr/>
        </p:nvSpPr>
        <p:spPr>
          <a:xfrm>
            <a:off x="731520" y="1600200"/>
            <a:ext cx="411480" cy="411480"/>
          </a:xfrm>
          <a:prstGeom prst="ellipse">
            <a:avLst/>
          </a:prstGeom>
          <a:solidFill>
            <a:schemeClr val="accent1"/>
          </a:solidFill>
          <a:ln w="15875">
            <a:solidFill>
              <a:srgbClr val="1A1A1A"/>
            </a:solidFill>
            <a:prstDash val="solid"/>
          </a:ln>
        </p:spPr>
      </p:sp>
      <p:pic>
        <p:nvPicPr>
          <p:cNvPr id="7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8505" y="1707185"/>
            <a:ext cx="197510" cy="197510"/>
          </a:xfrm>
          <a:prstGeom prst="rect">
            <a:avLst/>
          </a:prstGeom>
        </p:spPr>
      </p:pic>
      <p:sp>
        <p:nvSpPr>
          <p:cNvPr id="8" name="goal"/>
          <p:cNvSpPr txBox="1"/>
          <p:nvPr/>
        </p:nvSpPr>
        <p:spPr>
          <a:xfrm>
            <a:off x="1280160" y="1508760"/>
            <a:ext cx="29946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自分のPCでClaude Codeを動かし、Webページを1枚作らせられる</a:t>
            </a:r>
            <a:endParaRPr lang="en-US" sz="1400" dirty="0"/>
          </a:p>
        </p:txBody>
      </p:sp>
      <p:sp>
        <p:nvSpPr>
          <p:cNvPr id="9" name="card"/>
          <p:cNvSpPr/>
          <p:nvPr/>
        </p:nvSpPr>
        <p:spPr>
          <a:xfrm>
            <a:off x="4686300" y="1417320"/>
            <a:ext cx="3909060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 w="1905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8000"/>
              </a:srgbClr>
            </a:outerShdw>
          </a:effectLst>
        </p:spPr>
      </p:sp>
      <p:sp>
        <p:nvSpPr>
          <p:cNvPr id="10" name="icon-circle"/>
          <p:cNvSpPr/>
          <p:nvPr/>
        </p:nvSpPr>
        <p:spPr>
          <a:xfrm>
            <a:off x="4869180" y="1600200"/>
            <a:ext cx="411480" cy="411480"/>
          </a:xfrm>
          <a:prstGeom prst="ellipse">
            <a:avLst/>
          </a:prstGeom>
          <a:solidFill>
            <a:schemeClr val="accent1"/>
          </a:solidFill>
          <a:ln w="15875">
            <a:solidFill>
              <a:srgbClr val="1A1A1A"/>
            </a:solidFill>
            <a:prstDash val="solid"/>
          </a:ln>
        </p:spPr>
      </p:sp>
      <p:pic>
        <p:nvPicPr>
          <p:cNvPr id="11" name="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165" y="1707185"/>
            <a:ext cx="197510" cy="197510"/>
          </a:xfrm>
          <a:prstGeom prst="rect">
            <a:avLst/>
          </a:prstGeom>
        </p:spPr>
      </p:pic>
      <p:sp>
        <p:nvSpPr>
          <p:cNvPr id="12" name="goal"/>
          <p:cNvSpPr txBox="1"/>
          <p:nvPr/>
        </p:nvSpPr>
        <p:spPr>
          <a:xfrm>
            <a:off x="5417820" y="1508760"/>
            <a:ext cx="29946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修正を頼み、Gitで記録してGitHubに保存できる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548640" y="29718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今日の流れ（90分）</a:t>
            </a:r>
            <a:endParaRPr lang="en-US" sz="1300" dirty="0"/>
          </a:p>
        </p:txBody>
      </p:sp>
      <p:sp>
        <p:nvSpPr>
          <p:cNvPr id="14" name="time-block"/>
          <p:cNvSpPr/>
          <p:nvPr/>
        </p:nvSpPr>
        <p:spPr>
          <a:xfrm>
            <a:off x="548640" y="3383280"/>
            <a:ext cx="894080" cy="685800"/>
          </a:xfrm>
          <a:prstGeom prst="rect">
            <a:avLst/>
          </a:prstGeom>
          <a:solidFill>
            <a:srgbClr val="1A1A1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5" name="time-label"/>
          <p:cNvSpPr txBox="1"/>
          <p:nvPr/>
        </p:nvSpPr>
        <p:spPr>
          <a:xfrm>
            <a:off x="548640" y="3383280"/>
            <a:ext cx="894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D600"/>
                </a:solidFill>
              </a:rPr>
              <a:t>ふりかえり</a:t>
            </a:r>
            <a:endParaRPr lang="en-US" sz="105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D600"/>
                </a:solidFill>
              </a:rPr>
              <a:t>10分</a:t>
            </a:r>
            <a:endParaRPr lang="en-US" sz="1050" dirty="0"/>
          </a:p>
        </p:txBody>
      </p:sp>
      <p:sp>
        <p:nvSpPr>
          <p:cNvPr id="16" name="time-block"/>
          <p:cNvSpPr/>
          <p:nvPr/>
        </p:nvSpPr>
        <p:spPr>
          <a:xfrm>
            <a:off x="1442720" y="3383280"/>
            <a:ext cx="894080" cy="685800"/>
          </a:xfrm>
          <a:prstGeom prst="rect">
            <a:avLst/>
          </a:prstGeom>
          <a:solidFill>
            <a:srgbClr val="1A1A1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7" name="time-label"/>
          <p:cNvSpPr txBox="1"/>
          <p:nvPr/>
        </p:nvSpPr>
        <p:spPr>
          <a:xfrm>
            <a:off x="1442720" y="3383280"/>
            <a:ext cx="894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D600"/>
                </a:solidFill>
              </a:rPr>
              <a:t>説明①</a:t>
            </a:r>
            <a:endParaRPr lang="en-US" sz="105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D600"/>
                </a:solidFill>
              </a:rPr>
              <a:t>10分</a:t>
            </a:r>
            <a:endParaRPr lang="en-US" sz="1050" dirty="0"/>
          </a:p>
        </p:txBody>
      </p:sp>
      <p:sp>
        <p:nvSpPr>
          <p:cNvPr id="18" name="time-block"/>
          <p:cNvSpPr/>
          <p:nvPr/>
        </p:nvSpPr>
        <p:spPr>
          <a:xfrm>
            <a:off x="2336800" y="3383280"/>
            <a:ext cx="1788160" cy="685800"/>
          </a:xfrm>
          <a:prstGeom prst="rect">
            <a:avLst/>
          </a:prstGeom>
          <a:solidFill>
            <a:srgbClr val="DD64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9" name="time-label"/>
          <p:cNvSpPr txBox="1"/>
          <p:nvPr/>
        </p:nvSpPr>
        <p:spPr>
          <a:xfrm>
            <a:off x="2336800" y="3383280"/>
            <a:ext cx="1788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ハンズオン①</a:t>
            </a:r>
            <a:endParaRPr lang="en-US" sz="105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20分</a:t>
            </a:r>
            <a:endParaRPr lang="en-US" sz="1050" dirty="0"/>
          </a:p>
        </p:txBody>
      </p:sp>
      <p:sp>
        <p:nvSpPr>
          <p:cNvPr id="20" name="time-block"/>
          <p:cNvSpPr/>
          <p:nvPr/>
        </p:nvSpPr>
        <p:spPr>
          <a:xfrm>
            <a:off x="4124960" y="3383280"/>
            <a:ext cx="894080" cy="685800"/>
          </a:xfrm>
          <a:prstGeom prst="rect">
            <a:avLst/>
          </a:prstGeom>
          <a:solidFill>
            <a:srgbClr val="1A1A1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1" name="time-label"/>
          <p:cNvSpPr txBox="1"/>
          <p:nvPr/>
        </p:nvSpPr>
        <p:spPr>
          <a:xfrm>
            <a:off x="4124960" y="3383280"/>
            <a:ext cx="894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D600"/>
                </a:solidFill>
              </a:rPr>
              <a:t>説明②</a:t>
            </a:r>
            <a:endParaRPr lang="en-US" sz="105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D600"/>
                </a:solidFill>
              </a:rPr>
              <a:t>10分</a:t>
            </a:r>
            <a:endParaRPr lang="en-US" sz="1050" dirty="0"/>
          </a:p>
        </p:txBody>
      </p:sp>
      <p:sp>
        <p:nvSpPr>
          <p:cNvPr id="22" name="time-block"/>
          <p:cNvSpPr/>
          <p:nvPr/>
        </p:nvSpPr>
        <p:spPr>
          <a:xfrm>
            <a:off x="5019040" y="3383280"/>
            <a:ext cx="1788160" cy="685800"/>
          </a:xfrm>
          <a:prstGeom prst="rect">
            <a:avLst/>
          </a:prstGeom>
          <a:solidFill>
            <a:srgbClr val="DD64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time-label"/>
          <p:cNvSpPr txBox="1"/>
          <p:nvPr/>
        </p:nvSpPr>
        <p:spPr>
          <a:xfrm>
            <a:off x="5019040" y="3383280"/>
            <a:ext cx="1788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ハンズオン②</a:t>
            </a:r>
            <a:endParaRPr lang="en-US" sz="105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20分</a:t>
            </a:r>
            <a:endParaRPr lang="en-US" sz="1050" dirty="0"/>
          </a:p>
        </p:txBody>
      </p:sp>
      <p:sp>
        <p:nvSpPr>
          <p:cNvPr id="24" name="time-block"/>
          <p:cNvSpPr/>
          <p:nvPr/>
        </p:nvSpPr>
        <p:spPr>
          <a:xfrm>
            <a:off x="6807200" y="3383280"/>
            <a:ext cx="1341120" cy="685800"/>
          </a:xfrm>
          <a:prstGeom prst="rect">
            <a:avLst/>
          </a:prstGeom>
          <a:solidFill>
            <a:srgbClr val="1A1A1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time-label"/>
          <p:cNvSpPr txBox="1"/>
          <p:nvPr/>
        </p:nvSpPr>
        <p:spPr>
          <a:xfrm>
            <a:off x="6807200" y="3383280"/>
            <a:ext cx="1341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D600"/>
                </a:solidFill>
              </a:rPr>
              <a:t>質問・共有</a:t>
            </a:r>
            <a:endParaRPr lang="en-US" sz="105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D600"/>
                </a:solidFill>
              </a:rPr>
              <a:t>15分</a:t>
            </a:r>
            <a:endParaRPr lang="en-US" sz="1050" dirty="0"/>
          </a:p>
        </p:txBody>
      </p:sp>
      <p:sp>
        <p:nvSpPr>
          <p:cNvPr id="26" name="time-block"/>
          <p:cNvSpPr/>
          <p:nvPr/>
        </p:nvSpPr>
        <p:spPr>
          <a:xfrm>
            <a:off x="8148320" y="3383280"/>
            <a:ext cx="447040" cy="685800"/>
          </a:xfrm>
          <a:prstGeom prst="rect">
            <a:avLst/>
          </a:prstGeom>
          <a:solidFill>
            <a:srgbClr val="1A1A1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time-label"/>
          <p:cNvSpPr txBox="1"/>
          <p:nvPr/>
        </p:nvSpPr>
        <p:spPr>
          <a:xfrm>
            <a:off x="8148320" y="3383280"/>
            <a:ext cx="44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D600"/>
                </a:solidFill>
              </a:rPr>
              <a:t>宿題</a:t>
            </a:r>
            <a:endParaRPr lang="en-US" sz="85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D600"/>
                </a:solidFill>
              </a:rPr>
              <a:t>5分</a:t>
            </a:r>
            <a:endParaRPr lang="en-US" sz="850" dirty="0"/>
          </a:p>
        </p:txBody>
      </p:sp>
      <p:sp>
        <p:nvSpPr>
          <p:cNvPr id="28" name="Text 24"/>
          <p:cNvSpPr txBox="1"/>
          <p:nvPr/>
        </p:nvSpPr>
        <p:spPr>
          <a:xfrm>
            <a:off x="548640" y="4160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</a:rPr>
              <a:t>■ </a:t>
            </a:r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聞く　</a:t>
            </a:r>
            <a:pPr indent="0" marL="0">
              <a:buNone/>
            </a:pPr>
            <a:r>
              <a:rPr lang="en-US" sz="1000" dirty="0">
                <a:solidFill>
                  <a:srgbClr val="DD6420"/>
                </a:solidFill>
              </a:rPr>
              <a:t>■ </a:t>
            </a:r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手を動かす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87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58368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チャットAIとClaude Codeの違い</a:t>
            </a:r>
            <a:endParaRPr lang="en-US" sz="2400" dirty="0"/>
          </a:p>
        </p:txBody>
      </p:sp>
      <p:sp>
        <p:nvSpPr>
          <p:cNvPr id="3" name="chip"/>
          <p:cNvSpPr/>
          <p:nvPr/>
        </p:nvSpPr>
        <p:spPr>
          <a:xfrm>
            <a:off x="548640" y="292608"/>
            <a:ext cx="1344168" cy="292608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4" name="chip-text"/>
          <p:cNvSpPr txBox="1"/>
          <p:nvPr/>
        </p:nvSpPr>
        <p:spPr>
          <a:xfrm>
            <a:off x="548640" y="292608"/>
            <a:ext cx="1344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説明① 10分</a:t>
            </a:r>
            <a:endParaRPr lang="en-US" sz="1100" dirty="0"/>
          </a:p>
        </p:txBody>
      </p:sp>
      <p:sp>
        <p:nvSpPr>
          <p:cNvPr id="6" name="card"/>
          <p:cNvSpPr/>
          <p:nvPr/>
        </p:nvSpPr>
        <p:spPr>
          <a:xfrm>
            <a:off x="548640" y="1463040"/>
            <a:ext cx="3611880" cy="3017520"/>
          </a:xfrm>
          <a:prstGeom prst="roundRect">
            <a:avLst>
              <a:gd name="adj" fmla="val 3636"/>
            </a:avLst>
          </a:prstGeom>
          <a:solidFill>
            <a:srgbClr val="F4F4F4"/>
          </a:solidFill>
          <a:ln w="1905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8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777240" y="1645920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チャットAI（相談相手）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194560"/>
            <a:ext cx="31546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ブラウザ・アプリで使う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答えを文章で返す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ファイルは自分でコピーする</a:t>
            </a:r>
            <a:endParaRPr lang="en-US" sz="1300" dirty="0"/>
          </a:p>
        </p:txBody>
      </p:sp>
      <p:sp>
        <p:nvSpPr>
          <p:cNvPr id="9" name="card"/>
          <p:cNvSpPr/>
          <p:nvPr/>
        </p:nvSpPr>
        <p:spPr>
          <a:xfrm>
            <a:off x="4983480" y="1463040"/>
            <a:ext cx="3611880" cy="301752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9050">
            <a:solidFill>
              <a:srgbClr val="DD642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8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5212080" y="1645920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Claude Code（隣に座る開発者）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5212080" y="2194560"/>
            <a:ext cx="31546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PCのターミナルで使う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フォルダの中のファイルを直接作る・直す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動かして確かめることもできる</a:t>
            </a:r>
            <a:endParaRPr lang="en-US" sz="1300" dirty="0"/>
          </a:p>
        </p:txBody>
      </p:sp>
      <p:sp>
        <p:nvSpPr>
          <p:cNvPr id="12" name="icon-circle"/>
          <p:cNvSpPr/>
          <p:nvPr/>
        </p:nvSpPr>
        <p:spPr>
          <a:xfrm>
            <a:off x="4325112" y="2724912"/>
            <a:ext cx="493776" cy="493776"/>
          </a:xfrm>
          <a:prstGeom prst="ellipse">
            <a:avLst/>
          </a:prstGeom>
          <a:solidFill>
            <a:schemeClr val="accent2"/>
          </a:solidFill>
          <a:ln w="15875">
            <a:solidFill>
              <a:srgbClr val="1A1A1A"/>
            </a:solidFill>
            <a:prstDash val="solid"/>
          </a:ln>
        </p:spPr>
      </p:sp>
      <p:pic>
        <p:nvPicPr>
          <p:cNvPr id="13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53494" y="2853294"/>
            <a:ext cx="237012" cy="23701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87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58368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最低限おぼえる言葉</a:t>
            </a:r>
            <a:endParaRPr lang="en-US" sz="2400" dirty="0"/>
          </a:p>
        </p:txBody>
      </p:sp>
      <p:sp>
        <p:nvSpPr>
          <p:cNvPr id="3" name="chip"/>
          <p:cNvSpPr/>
          <p:nvPr/>
        </p:nvSpPr>
        <p:spPr>
          <a:xfrm>
            <a:off x="548640" y="292608"/>
            <a:ext cx="1344168" cy="292608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4" name="chip-text"/>
          <p:cNvSpPr txBox="1"/>
          <p:nvPr/>
        </p:nvSpPr>
        <p:spPr>
          <a:xfrm>
            <a:off x="548640" y="292608"/>
            <a:ext cx="1344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説明① 10分</a:t>
            </a:r>
            <a:endParaRPr lang="en-US" sz="1100" dirty="0"/>
          </a:p>
        </p:txBody>
      </p:sp>
      <p:graphicFrame>
        <p:nvGraphicFramePr>
          <p:cNvPr id="5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8046720" cy="914400"/>
        </p:xfrm>
        <a:graphic>
          <a:graphicData uri="http://schemas.openxmlformats.org/drawingml/2006/table">
            <a:tbl>
              <a:tblPr/>
              <a:tblGrid>
                <a:gridCol w="2324608"/>
                <a:gridCol w="5722112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D600"/>
                          </a:solidFill>
                        </a:rPr>
                        <a:t>言葉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D600"/>
                          </a:solidFill>
                        </a:rPr>
                        <a:t>意味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</a:rPr>
                        <a:t>フォルダ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作るもの1つ分の箱。1つのアプリ＝1つのフォルダ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</a:rPr>
                        <a:t>ターミナル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文字で命令する画面。Claude Codeはここで動く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</a:rPr>
                        <a:t>HTML / CSS / JS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Webページの「中身／見た目／動き」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</a:rPr>
                        <a:t>Git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変更の記録（ゲームのセーブポイント）。いつでも前に戻れる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</a:rPr>
                        <a:t>GitHub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Gitの記録をネット上に保管する場所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87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58368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最初の1ページを作る</a:t>
            </a:r>
            <a:endParaRPr lang="en-US" sz="2400" dirty="0"/>
          </a:p>
        </p:txBody>
      </p:sp>
      <p:sp>
        <p:nvSpPr>
          <p:cNvPr id="3" name="chip"/>
          <p:cNvSpPr/>
          <p:nvPr/>
        </p:nvSpPr>
        <p:spPr>
          <a:xfrm>
            <a:off x="548640" y="292608"/>
            <a:ext cx="1755648" cy="29260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" name="chip-text"/>
          <p:cNvSpPr txBox="1"/>
          <p:nvPr/>
        </p:nvSpPr>
        <p:spPr>
          <a:xfrm>
            <a:off x="548640" y="292608"/>
            <a:ext cx="17556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ハンズオン① 20分</a:t>
            </a:r>
            <a:endParaRPr lang="en-US" sz="1100" dirty="0"/>
          </a:p>
        </p:txBody>
      </p:sp>
      <p:sp>
        <p:nvSpPr>
          <p:cNvPr id="6" name="step-num"/>
          <p:cNvSpPr/>
          <p:nvPr/>
        </p:nvSpPr>
        <p:spPr>
          <a:xfrm>
            <a:off x="548640" y="1572768"/>
            <a:ext cx="384048" cy="384048"/>
          </a:xfrm>
          <a:prstGeom prst="ellipse">
            <a:avLst/>
          </a:prstGeom>
          <a:solidFill>
            <a:schemeClr val="accent1"/>
          </a:solidFill>
          <a:ln w="15875">
            <a:solidFill>
              <a:srgbClr val="1A1A1A"/>
            </a:solidFill>
            <a:prstDash val="solid"/>
          </a:ln>
        </p:spPr>
      </p:sp>
      <p:sp>
        <p:nvSpPr>
          <p:cNvPr id="7" name="step-num-text"/>
          <p:cNvSpPr txBox="1"/>
          <p:nvPr/>
        </p:nvSpPr>
        <p:spPr>
          <a:xfrm>
            <a:off x="548640" y="15727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step-text"/>
          <p:cNvSpPr txBox="1"/>
          <p:nvPr/>
        </p:nvSpPr>
        <p:spPr>
          <a:xfrm>
            <a:off x="1097280" y="1463040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作業用フォルダを作り、その中で claude と入力して起動</a:t>
            </a:r>
            <a:endParaRPr lang="en-US" sz="1450" dirty="0"/>
          </a:p>
        </p:txBody>
      </p:sp>
      <p:sp>
        <p:nvSpPr>
          <p:cNvPr id="9" name="step-num"/>
          <p:cNvSpPr/>
          <p:nvPr/>
        </p:nvSpPr>
        <p:spPr>
          <a:xfrm>
            <a:off x="548640" y="2176272"/>
            <a:ext cx="384048" cy="384048"/>
          </a:xfrm>
          <a:prstGeom prst="ellipse">
            <a:avLst/>
          </a:prstGeom>
          <a:solidFill>
            <a:schemeClr val="accent1"/>
          </a:solidFill>
          <a:ln w="15875">
            <a:solidFill>
              <a:srgbClr val="1A1A1A"/>
            </a:solidFill>
            <a:prstDash val="solid"/>
          </a:ln>
        </p:spPr>
      </p:sp>
      <p:sp>
        <p:nvSpPr>
          <p:cNvPr id="10" name="step-num-text"/>
          <p:cNvSpPr txBox="1"/>
          <p:nvPr/>
        </p:nvSpPr>
        <p:spPr>
          <a:xfrm>
            <a:off x="548640" y="21762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step-text"/>
          <p:cNvSpPr txBox="1"/>
          <p:nvPr/>
        </p:nvSpPr>
        <p:spPr>
          <a:xfrm>
            <a:off x="1097280" y="206654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「まなべ食堂の紹介ページを index.html 1枚で」と頼む</a:t>
            </a:r>
            <a:endParaRPr lang="en-US" sz="1450" dirty="0"/>
          </a:p>
        </p:txBody>
      </p:sp>
      <p:sp>
        <p:nvSpPr>
          <p:cNvPr id="12" name="step-num"/>
          <p:cNvSpPr/>
          <p:nvPr/>
        </p:nvSpPr>
        <p:spPr>
          <a:xfrm>
            <a:off x="548640" y="2779776"/>
            <a:ext cx="384048" cy="384048"/>
          </a:xfrm>
          <a:prstGeom prst="ellipse">
            <a:avLst/>
          </a:prstGeom>
          <a:solidFill>
            <a:schemeClr val="accent1"/>
          </a:solidFill>
          <a:ln w="15875">
            <a:solidFill>
              <a:srgbClr val="1A1A1A"/>
            </a:solidFill>
            <a:prstDash val="solid"/>
          </a:ln>
        </p:spPr>
      </p:sp>
      <p:sp>
        <p:nvSpPr>
          <p:cNvPr id="13" name="step-num-text"/>
          <p:cNvSpPr txBox="1"/>
          <p:nvPr/>
        </p:nvSpPr>
        <p:spPr>
          <a:xfrm>
            <a:off x="548640" y="27797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3</a:t>
            </a:r>
            <a:endParaRPr lang="en-US" sz="1400" dirty="0"/>
          </a:p>
        </p:txBody>
      </p:sp>
      <p:sp>
        <p:nvSpPr>
          <p:cNvPr id="14" name="step-text"/>
          <p:cNvSpPr txBox="1"/>
          <p:nvPr/>
        </p:nvSpPr>
        <p:spPr>
          <a:xfrm>
            <a:off x="1097280" y="2670048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できた index.html をブラウザで開いて確かめる</a:t>
            </a:r>
            <a:endParaRPr lang="en-US" sz="1450" dirty="0"/>
          </a:p>
        </p:txBody>
      </p:sp>
      <p:sp>
        <p:nvSpPr>
          <p:cNvPr id="15" name="step-num"/>
          <p:cNvSpPr/>
          <p:nvPr/>
        </p:nvSpPr>
        <p:spPr>
          <a:xfrm>
            <a:off x="548640" y="3383280"/>
            <a:ext cx="384048" cy="384048"/>
          </a:xfrm>
          <a:prstGeom prst="ellipse">
            <a:avLst/>
          </a:prstGeom>
          <a:solidFill>
            <a:schemeClr val="accent1"/>
          </a:solidFill>
          <a:ln w="15875">
            <a:solidFill>
              <a:srgbClr val="1A1A1A"/>
            </a:solidFill>
            <a:prstDash val="solid"/>
          </a:ln>
        </p:spPr>
      </p:sp>
      <p:sp>
        <p:nvSpPr>
          <p:cNvPr id="16" name="step-num-text"/>
          <p:cNvSpPr txBox="1"/>
          <p:nvPr/>
        </p:nvSpPr>
        <p:spPr>
          <a:xfrm>
            <a:off x="548640" y="3383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4</a:t>
            </a:r>
            <a:endParaRPr lang="en-US" sz="1400" dirty="0"/>
          </a:p>
        </p:txBody>
      </p:sp>
      <p:sp>
        <p:nvSpPr>
          <p:cNvPr id="17" name="step-text"/>
          <p:cNvSpPr txBox="1"/>
          <p:nvPr/>
        </p:nvSpPr>
        <p:spPr>
          <a:xfrm>
            <a:off x="1097280" y="3273552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「ボタンを緑に」「メニューを5品に」など、2回修正を頼む</a:t>
            </a:r>
            <a:endParaRPr lang="en-US" sz="1450" dirty="0"/>
          </a:p>
        </p:txBody>
      </p:sp>
      <p:sp>
        <p:nvSpPr>
          <p:cNvPr id="18" name="foot-box"/>
          <p:cNvSpPr/>
          <p:nvPr/>
        </p:nvSpPr>
        <p:spPr>
          <a:xfrm>
            <a:off x="548640" y="3977640"/>
            <a:ext cx="8046720" cy="502920"/>
          </a:xfrm>
          <a:prstGeom prst="roundRect">
            <a:avLst>
              <a:gd name="adj" fmla="val 1818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9" name="foot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105656"/>
            <a:ext cx="246888" cy="246888"/>
          </a:xfrm>
          <a:prstGeom prst="rect">
            <a:avLst/>
          </a:prstGeom>
        </p:spPr>
      </p:pic>
      <p:sp>
        <p:nvSpPr>
          <p:cNvPr id="20" name="foot-text"/>
          <p:cNvSpPr txBox="1"/>
          <p:nvPr/>
        </p:nvSpPr>
        <p:spPr>
          <a:xfrm>
            <a:off x="1051560" y="3977640"/>
            <a:ext cx="7406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インストールは準備会で済ませています。止まった人はブレイクアウトで個別に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87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58368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Claude Codeへの頼み方：3つ足す</a:t>
            </a:r>
            <a:endParaRPr lang="en-US" sz="2400" dirty="0"/>
          </a:p>
        </p:txBody>
      </p:sp>
      <p:sp>
        <p:nvSpPr>
          <p:cNvPr id="3" name="chip"/>
          <p:cNvSpPr/>
          <p:nvPr/>
        </p:nvSpPr>
        <p:spPr>
          <a:xfrm>
            <a:off x="548640" y="292608"/>
            <a:ext cx="1344168" cy="292608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4" name="chip-text"/>
          <p:cNvSpPr txBox="1"/>
          <p:nvPr/>
        </p:nvSpPr>
        <p:spPr>
          <a:xfrm>
            <a:off x="548640" y="292608"/>
            <a:ext cx="1344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説明② 10分</a:t>
            </a:r>
            <a:endParaRPr lang="en-US" sz="1100" dirty="0"/>
          </a:p>
        </p:txBody>
      </p:sp>
      <p:sp>
        <p:nvSpPr>
          <p:cNvPr id="6" name="card"/>
          <p:cNvSpPr/>
          <p:nvPr/>
        </p:nvSpPr>
        <p:spPr>
          <a:xfrm>
            <a:off x="548640" y="1463040"/>
            <a:ext cx="2529840" cy="2286000"/>
          </a:xfrm>
          <a:prstGeom prst="roundRect">
            <a:avLst>
              <a:gd name="adj" fmla="val 4800"/>
            </a:avLst>
          </a:prstGeom>
          <a:solidFill>
            <a:schemeClr val="bg1"/>
          </a:solidFill>
          <a:ln w="1905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8000"/>
              </a:srgbClr>
            </a:outerShdw>
          </a:effectLst>
        </p:spPr>
      </p:sp>
      <p:sp>
        <p:nvSpPr>
          <p:cNvPr id="7" name="card-head"/>
          <p:cNvSpPr txBox="1"/>
          <p:nvPr/>
        </p:nvSpPr>
        <p:spPr>
          <a:xfrm>
            <a:off x="731520" y="1645920"/>
            <a:ext cx="2164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小さく頼む</a:t>
            </a:r>
            <a:endParaRPr lang="en-US" sz="1500" dirty="0"/>
          </a:p>
        </p:txBody>
      </p:sp>
      <p:sp>
        <p:nvSpPr>
          <p:cNvPr id="8" name="card-body"/>
          <p:cNvSpPr txBox="1"/>
          <p:nvPr/>
        </p:nvSpPr>
        <p:spPr>
          <a:xfrm>
            <a:off x="731520" y="2057400"/>
            <a:ext cx="2164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「全部作って」ではなく、1回1機能</a:t>
            </a:r>
            <a:endParaRPr lang="en-US" sz="1300" dirty="0"/>
          </a:p>
        </p:txBody>
      </p:sp>
      <p:sp>
        <p:nvSpPr>
          <p:cNvPr id="9" name="card"/>
          <p:cNvSpPr/>
          <p:nvPr/>
        </p:nvSpPr>
        <p:spPr>
          <a:xfrm>
            <a:off x="3307080" y="1463040"/>
            <a:ext cx="2529840" cy="2286000"/>
          </a:xfrm>
          <a:prstGeom prst="roundRect">
            <a:avLst>
              <a:gd name="adj" fmla="val 4800"/>
            </a:avLst>
          </a:prstGeom>
          <a:solidFill>
            <a:schemeClr val="bg1"/>
          </a:solidFill>
          <a:ln w="1905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8000"/>
              </a:srgbClr>
            </a:outerShdw>
          </a:effectLst>
        </p:spPr>
      </p:sp>
      <p:sp>
        <p:nvSpPr>
          <p:cNvPr id="10" name="card-head"/>
          <p:cNvSpPr txBox="1"/>
          <p:nvPr/>
        </p:nvSpPr>
        <p:spPr>
          <a:xfrm>
            <a:off x="3489960" y="1645920"/>
            <a:ext cx="2164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確かめ方を聞く</a:t>
            </a:r>
            <a:endParaRPr lang="en-US" sz="1500" dirty="0"/>
          </a:p>
        </p:txBody>
      </p:sp>
      <p:sp>
        <p:nvSpPr>
          <p:cNvPr id="11" name="card-body"/>
          <p:cNvSpPr txBox="1"/>
          <p:nvPr/>
        </p:nvSpPr>
        <p:spPr>
          <a:xfrm>
            <a:off x="3489960" y="2057400"/>
            <a:ext cx="2164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「できたら、どこを開けば確認できるか教えて」</a:t>
            </a:r>
            <a:endParaRPr lang="en-US" sz="1300" dirty="0"/>
          </a:p>
        </p:txBody>
      </p:sp>
      <p:sp>
        <p:nvSpPr>
          <p:cNvPr id="12" name="card"/>
          <p:cNvSpPr/>
          <p:nvPr/>
        </p:nvSpPr>
        <p:spPr>
          <a:xfrm>
            <a:off x="6065520" y="1463040"/>
            <a:ext cx="2529840" cy="2286000"/>
          </a:xfrm>
          <a:prstGeom prst="roundRect">
            <a:avLst>
              <a:gd name="adj" fmla="val 4800"/>
            </a:avLst>
          </a:prstGeom>
          <a:solidFill>
            <a:schemeClr val="bg1"/>
          </a:solidFill>
          <a:ln w="1905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8000"/>
              </a:srgbClr>
            </a:outerShdw>
          </a:effectLst>
        </p:spPr>
      </p:sp>
      <p:sp>
        <p:nvSpPr>
          <p:cNvPr id="13" name="card-head"/>
          <p:cNvSpPr txBox="1"/>
          <p:nvPr/>
        </p:nvSpPr>
        <p:spPr>
          <a:xfrm>
            <a:off x="6248400" y="1645920"/>
            <a:ext cx="2164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先に質問させる</a:t>
            </a:r>
            <a:endParaRPr lang="en-US" sz="1500" dirty="0"/>
          </a:p>
        </p:txBody>
      </p:sp>
      <p:sp>
        <p:nvSpPr>
          <p:cNvPr id="14" name="card-body"/>
          <p:cNvSpPr txBox="1"/>
          <p:nvPr/>
        </p:nvSpPr>
        <p:spPr>
          <a:xfrm>
            <a:off x="6248400" y="2057400"/>
            <a:ext cx="2164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「作る前に、不明点を質問してください」</a:t>
            </a:r>
            <a:endParaRPr lang="en-US" sz="1300" dirty="0"/>
          </a:p>
        </p:txBody>
      </p:sp>
      <p:sp>
        <p:nvSpPr>
          <p:cNvPr id="15" name="foot-box"/>
          <p:cNvSpPr/>
          <p:nvPr/>
        </p:nvSpPr>
        <p:spPr>
          <a:xfrm>
            <a:off x="548640" y="4114800"/>
            <a:ext cx="8046720" cy="502920"/>
          </a:xfrm>
          <a:prstGeom prst="roundRect">
            <a:avLst>
              <a:gd name="adj" fmla="val 1818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6" name="foot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242816"/>
            <a:ext cx="246888" cy="246888"/>
          </a:xfrm>
          <a:prstGeom prst="rect">
            <a:avLst/>
          </a:prstGeom>
        </p:spPr>
      </p:pic>
      <p:sp>
        <p:nvSpPr>
          <p:cNvPr id="17" name="foot-text"/>
          <p:cNvSpPr txBox="1"/>
          <p:nvPr/>
        </p:nvSpPr>
        <p:spPr>
          <a:xfrm>
            <a:off x="1051560" y="4114800"/>
            <a:ext cx="7406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動いた！と思ったら「今の状態をGitで記録して」。壊れたら「1つ前の記録に戻して」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87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58368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GitHubに保存する</a:t>
            </a:r>
            <a:endParaRPr lang="en-US" sz="2400" dirty="0"/>
          </a:p>
        </p:txBody>
      </p:sp>
      <p:sp>
        <p:nvSpPr>
          <p:cNvPr id="3" name="chip"/>
          <p:cNvSpPr/>
          <p:nvPr/>
        </p:nvSpPr>
        <p:spPr>
          <a:xfrm>
            <a:off x="548640" y="292608"/>
            <a:ext cx="1755648" cy="29260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" name="chip-text"/>
          <p:cNvSpPr txBox="1"/>
          <p:nvPr/>
        </p:nvSpPr>
        <p:spPr>
          <a:xfrm>
            <a:off x="548640" y="292608"/>
            <a:ext cx="17556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ハンズオン② 20分</a:t>
            </a:r>
            <a:endParaRPr lang="en-US" sz="1100" dirty="0"/>
          </a:p>
        </p:txBody>
      </p:sp>
      <p:sp>
        <p:nvSpPr>
          <p:cNvPr id="5" name="step-num"/>
          <p:cNvSpPr/>
          <p:nvPr/>
        </p:nvSpPr>
        <p:spPr>
          <a:xfrm>
            <a:off x="548640" y="2107692"/>
            <a:ext cx="384048" cy="384048"/>
          </a:xfrm>
          <a:prstGeom prst="ellipse">
            <a:avLst/>
          </a:prstGeom>
          <a:solidFill>
            <a:schemeClr val="accent1"/>
          </a:solidFill>
          <a:ln w="15875">
            <a:solidFill>
              <a:srgbClr val="1A1A1A"/>
            </a:solidFill>
            <a:prstDash val="solid"/>
          </a:ln>
        </p:spPr>
      </p:sp>
      <p:sp>
        <p:nvSpPr>
          <p:cNvPr id="6" name="step-num-text"/>
          <p:cNvSpPr txBox="1"/>
          <p:nvPr/>
        </p:nvSpPr>
        <p:spPr>
          <a:xfrm>
            <a:off x="548640" y="21076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1</a:t>
            </a:r>
            <a:endParaRPr lang="en-US" sz="1400" dirty="0"/>
          </a:p>
        </p:txBody>
      </p:sp>
      <p:sp>
        <p:nvSpPr>
          <p:cNvPr id="7" name="step-text"/>
          <p:cNvSpPr txBox="1"/>
          <p:nvPr/>
        </p:nvSpPr>
        <p:spPr>
          <a:xfrm>
            <a:off x="1097280" y="199796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GitHubで新しいリポジトリを作る（公開範囲は Private）</a:t>
            </a:r>
            <a:endParaRPr lang="en-US" sz="1450" dirty="0"/>
          </a:p>
        </p:txBody>
      </p:sp>
      <p:sp>
        <p:nvSpPr>
          <p:cNvPr id="8" name="step-num"/>
          <p:cNvSpPr/>
          <p:nvPr/>
        </p:nvSpPr>
        <p:spPr>
          <a:xfrm>
            <a:off x="548640" y="2711196"/>
            <a:ext cx="384048" cy="384048"/>
          </a:xfrm>
          <a:prstGeom prst="ellipse">
            <a:avLst/>
          </a:prstGeom>
          <a:solidFill>
            <a:schemeClr val="accent1"/>
          </a:solidFill>
          <a:ln w="15875">
            <a:solidFill>
              <a:srgbClr val="1A1A1A"/>
            </a:solidFill>
            <a:prstDash val="solid"/>
          </a:ln>
        </p:spPr>
      </p:sp>
      <p:sp>
        <p:nvSpPr>
          <p:cNvPr id="9" name="step-num-text"/>
          <p:cNvSpPr txBox="1"/>
          <p:nvPr/>
        </p:nvSpPr>
        <p:spPr>
          <a:xfrm>
            <a:off x="548640" y="27111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2</a:t>
            </a:r>
            <a:endParaRPr lang="en-US" sz="1400" dirty="0"/>
          </a:p>
        </p:txBody>
      </p:sp>
      <p:sp>
        <p:nvSpPr>
          <p:cNvPr id="10" name="step-text"/>
          <p:cNvSpPr txBox="1"/>
          <p:nvPr/>
        </p:nvSpPr>
        <p:spPr>
          <a:xfrm>
            <a:off x="1097280" y="2601468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Claude Codeに「このフォルダをGitHubにアップロードしたい。手順を教えて」と頼む</a:t>
            </a:r>
            <a:endParaRPr lang="en-US" sz="1450" dirty="0"/>
          </a:p>
        </p:txBody>
      </p:sp>
      <p:sp>
        <p:nvSpPr>
          <p:cNvPr id="11" name="step-num"/>
          <p:cNvSpPr/>
          <p:nvPr/>
        </p:nvSpPr>
        <p:spPr>
          <a:xfrm>
            <a:off x="548640" y="3314700"/>
            <a:ext cx="384048" cy="384048"/>
          </a:xfrm>
          <a:prstGeom prst="ellipse">
            <a:avLst/>
          </a:prstGeom>
          <a:solidFill>
            <a:schemeClr val="accent1"/>
          </a:solidFill>
          <a:ln w="15875">
            <a:solidFill>
              <a:srgbClr val="1A1A1A"/>
            </a:solidFill>
            <a:prstDash val="solid"/>
          </a:ln>
        </p:spPr>
      </p:sp>
      <p:sp>
        <p:nvSpPr>
          <p:cNvPr id="12" name="step-num-text"/>
          <p:cNvSpPr txBox="1"/>
          <p:nvPr/>
        </p:nvSpPr>
        <p:spPr>
          <a:xfrm>
            <a:off x="548640" y="33147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3</a:t>
            </a:r>
            <a:endParaRPr lang="en-US" sz="1400" dirty="0"/>
          </a:p>
        </p:txBody>
      </p:sp>
      <p:sp>
        <p:nvSpPr>
          <p:cNvPr id="13" name="step-text"/>
          <p:cNvSpPr txBox="1"/>
          <p:nvPr/>
        </p:nvSpPr>
        <p:spPr>
          <a:xfrm>
            <a:off x="1097280" y="3204972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GitHubの画面で、ファイルが見えることを確かめる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87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58368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安全に使うための約束</a:t>
            </a:r>
            <a:endParaRPr lang="en-US" sz="2400" dirty="0"/>
          </a:p>
        </p:txBody>
      </p:sp>
      <p:sp>
        <p:nvSpPr>
          <p:cNvPr id="3" name="chip"/>
          <p:cNvSpPr/>
          <p:nvPr/>
        </p:nvSpPr>
        <p:spPr>
          <a:xfrm>
            <a:off x="548640" y="292608"/>
            <a:ext cx="932688" cy="29260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4" name="chip-text"/>
          <p:cNvSpPr txBox="1"/>
          <p:nvPr/>
        </p:nvSpPr>
        <p:spPr>
          <a:xfrm>
            <a:off x="548640" y="292608"/>
            <a:ext cx="9326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必ず守る</a:t>
            </a:r>
            <a:endParaRPr lang="en-US" sz="1100" dirty="0"/>
          </a:p>
        </p:txBody>
      </p:sp>
      <p:sp>
        <p:nvSpPr>
          <p:cNvPr id="5" name="card"/>
          <p:cNvSpPr/>
          <p:nvPr/>
        </p:nvSpPr>
        <p:spPr>
          <a:xfrm>
            <a:off x="548640" y="1463040"/>
            <a:ext cx="3909060" cy="2286000"/>
          </a:xfrm>
          <a:prstGeom prst="roundRect">
            <a:avLst>
              <a:gd name="adj" fmla="val 4800"/>
            </a:avLst>
          </a:prstGeom>
          <a:solidFill>
            <a:srgbClr val="FFF1F0"/>
          </a:solidFill>
          <a:ln w="1905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8000"/>
              </a:srgbClr>
            </a:outerShdw>
          </a:effectLst>
        </p:spPr>
      </p:sp>
      <p:sp>
        <p:nvSpPr>
          <p:cNvPr id="6" name="icon-circle"/>
          <p:cNvSpPr/>
          <p:nvPr/>
        </p:nvSpPr>
        <p:spPr>
          <a:xfrm>
            <a:off x="731520" y="1645920"/>
            <a:ext cx="502920" cy="502920"/>
          </a:xfrm>
          <a:prstGeom prst="ellipse">
            <a:avLst/>
          </a:prstGeom>
          <a:solidFill>
            <a:srgbClr val="E53935"/>
          </a:solidFill>
          <a:ln w="15875">
            <a:solidFill>
              <a:srgbClr val="1A1A1A"/>
            </a:solidFill>
            <a:prstDash val="solid"/>
          </a:ln>
        </p:spPr>
      </p:sp>
      <p:pic>
        <p:nvPicPr>
          <p:cNvPr id="7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2279" y="1776679"/>
            <a:ext cx="241402" cy="241402"/>
          </a:xfrm>
          <a:prstGeom prst="rect">
            <a:avLst/>
          </a:prstGeom>
        </p:spPr>
      </p:pic>
      <p:sp>
        <p:nvSpPr>
          <p:cNvPr id="8" name="card-head"/>
          <p:cNvSpPr txBox="1"/>
          <p:nvPr/>
        </p:nvSpPr>
        <p:spPr>
          <a:xfrm>
            <a:off x="731520" y="2286000"/>
            <a:ext cx="35433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許可は読んでから</a:t>
            </a:r>
            <a:endParaRPr lang="en-US" sz="1500" dirty="0"/>
          </a:p>
        </p:txBody>
      </p:sp>
      <p:sp>
        <p:nvSpPr>
          <p:cNvPr id="9" name="card-body"/>
          <p:cNvSpPr txBox="1"/>
          <p:nvPr/>
        </p:nvSpPr>
        <p:spPr>
          <a:xfrm>
            <a:off x="731520" y="2697480"/>
            <a:ext cx="35433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コマンドの実行許可を求められたら、何をするのか読む。わからなければ「このコマンドは何をしますか？」と聞く</a:t>
            </a:r>
            <a:endParaRPr lang="en-US" sz="1300" dirty="0"/>
          </a:p>
        </p:txBody>
      </p:sp>
      <p:sp>
        <p:nvSpPr>
          <p:cNvPr id="10" name="card"/>
          <p:cNvSpPr/>
          <p:nvPr/>
        </p:nvSpPr>
        <p:spPr>
          <a:xfrm>
            <a:off x="4686300" y="1463040"/>
            <a:ext cx="3909060" cy="2286000"/>
          </a:xfrm>
          <a:prstGeom prst="roundRect">
            <a:avLst>
              <a:gd name="adj" fmla="val 4800"/>
            </a:avLst>
          </a:prstGeom>
          <a:solidFill>
            <a:srgbClr val="FFF1F0"/>
          </a:solidFill>
          <a:ln w="1905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8000"/>
              </a:srgbClr>
            </a:outerShdw>
          </a:effectLst>
        </p:spPr>
      </p:sp>
      <p:sp>
        <p:nvSpPr>
          <p:cNvPr id="11" name="icon-circle"/>
          <p:cNvSpPr/>
          <p:nvPr/>
        </p:nvSpPr>
        <p:spPr>
          <a:xfrm>
            <a:off x="4869180" y="1645920"/>
            <a:ext cx="502920" cy="502920"/>
          </a:xfrm>
          <a:prstGeom prst="ellipse">
            <a:avLst/>
          </a:prstGeom>
          <a:solidFill>
            <a:srgbClr val="E53935"/>
          </a:solidFill>
          <a:ln w="15875">
            <a:solidFill>
              <a:srgbClr val="1A1A1A"/>
            </a:solidFill>
            <a:prstDash val="solid"/>
          </a:ln>
        </p:spPr>
      </p:sp>
      <p:pic>
        <p:nvPicPr>
          <p:cNvPr id="12" name="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9939" y="1776679"/>
            <a:ext cx="241402" cy="241402"/>
          </a:xfrm>
          <a:prstGeom prst="rect">
            <a:avLst/>
          </a:prstGeom>
        </p:spPr>
      </p:pic>
      <p:sp>
        <p:nvSpPr>
          <p:cNvPr id="13" name="card-head"/>
          <p:cNvSpPr txBox="1"/>
          <p:nvPr/>
        </p:nvSpPr>
        <p:spPr>
          <a:xfrm>
            <a:off x="4869180" y="2286000"/>
            <a:ext cx="35433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秘密を書かない</a:t>
            </a:r>
            <a:endParaRPr lang="en-US" sz="1500" dirty="0"/>
          </a:p>
        </p:txBody>
      </p:sp>
      <p:sp>
        <p:nvSpPr>
          <p:cNvPr id="14" name="card-body"/>
          <p:cNvSpPr txBox="1"/>
          <p:nvPr/>
        </p:nvSpPr>
        <p:spPr>
          <a:xfrm>
            <a:off x="4869180" y="2697480"/>
            <a:ext cx="35433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パスワードやAPIキーを、チャット欄やファイルに直接書かない（第9回で正しい置き場所を学ぶ）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87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58368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宿題と、今日のチェック</a:t>
            </a:r>
            <a:endParaRPr lang="en-US" sz="2400" dirty="0"/>
          </a:p>
        </p:txBody>
      </p:sp>
      <p:sp>
        <p:nvSpPr>
          <p:cNvPr id="3" name="chip"/>
          <p:cNvSpPr/>
          <p:nvPr/>
        </p:nvSpPr>
        <p:spPr>
          <a:xfrm>
            <a:off x="548640" y="292608"/>
            <a:ext cx="795528" cy="292608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4" name="chip-text"/>
          <p:cNvSpPr txBox="1"/>
          <p:nvPr/>
        </p:nvSpPr>
        <p:spPr>
          <a:xfrm>
            <a:off x="548640" y="292608"/>
            <a:ext cx="7955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まとめ</a:t>
            </a:r>
            <a:endParaRPr lang="en-US" sz="1100" dirty="0"/>
          </a:p>
        </p:txBody>
      </p:sp>
      <p:sp>
        <p:nvSpPr>
          <p:cNvPr id="5" name="card"/>
          <p:cNvSpPr/>
          <p:nvPr/>
        </p:nvSpPr>
        <p:spPr>
          <a:xfrm>
            <a:off x="548640" y="1463040"/>
            <a:ext cx="3886200" cy="301752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905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8000"/>
              </a:srgbClr>
            </a:outerShdw>
          </a:effectLst>
        </p:spPr>
      </p:sp>
      <p:sp>
        <p:nvSpPr>
          <p:cNvPr id="6" name="icon-circle"/>
          <p:cNvSpPr/>
          <p:nvPr/>
        </p:nvSpPr>
        <p:spPr>
          <a:xfrm>
            <a:off x="777240" y="1645920"/>
            <a:ext cx="457200" cy="457200"/>
          </a:xfrm>
          <a:prstGeom prst="ellipse">
            <a:avLst/>
          </a:prstGeom>
          <a:solidFill>
            <a:schemeClr val="accent1"/>
          </a:solidFill>
          <a:ln w="15875">
            <a:solidFill>
              <a:srgbClr val="1A1A1A"/>
            </a:solidFill>
            <a:prstDash val="solid"/>
          </a:ln>
        </p:spPr>
      </p:sp>
      <p:pic>
        <p:nvPicPr>
          <p:cNvPr id="7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1764792"/>
            <a:ext cx="219456" cy="21945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371600" y="16459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宿題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2286000"/>
            <a:ext cx="347472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紹介ページに自社の紹介文を入れ、3回以上「修正 → 記録 → GitHubに保存」をくり返す</a:t>
            </a:r>
            <a:endParaRPr lang="en-US" sz="1350" dirty="0"/>
          </a:p>
        </p:txBody>
      </p:sp>
      <p:sp>
        <p:nvSpPr>
          <p:cNvPr id="10" name="card"/>
          <p:cNvSpPr/>
          <p:nvPr/>
        </p:nvSpPr>
        <p:spPr>
          <a:xfrm>
            <a:off x="4709160" y="1463040"/>
            <a:ext cx="3886200" cy="3017520"/>
          </a:xfrm>
          <a:prstGeom prst="roundRect">
            <a:avLst>
              <a:gd name="adj" fmla="val 3636"/>
            </a:avLst>
          </a:prstGeom>
          <a:solidFill>
            <a:schemeClr val="bg1"/>
          </a:solidFill>
          <a:ln w="1905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8000"/>
              </a:srgbClr>
            </a:outerShdw>
          </a:effectLst>
        </p:spPr>
      </p:sp>
      <p:sp>
        <p:nvSpPr>
          <p:cNvPr id="11" name="icon-circle"/>
          <p:cNvSpPr/>
          <p:nvPr/>
        </p:nvSpPr>
        <p:spPr>
          <a:xfrm>
            <a:off x="4937760" y="1645920"/>
            <a:ext cx="457200" cy="457200"/>
          </a:xfrm>
          <a:prstGeom prst="ellipse">
            <a:avLst/>
          </a:prstGeom>
          <a:solidFill>
            <a:schemeClr val="accent1"/>
          </a:solidFill>
          <a:ln w="15875">
            <a:solidFill>
              <a:srgbClr val="1A1A1A"/>
            </a:solidFill>
            <a:prstDash val="solid"/>
          </a:ln>
        </p:spPr>
      </p:sp>
      <p:pic>
        <p:nvPicPr>
          <p:cNvPr id="12" name="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6632" y="1764792"/>
            <a:ext cx="219456" cy="21945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5532120" y="16459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できたらチェック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4937760" y="2286000"/>
            <a:ext cx="347472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350" dirty="0">
                <a:solidFill>
                  <a:schemeClr val="tx1"/>
                </a:solidFill>
              </a:rPr>
              <a:t>☐ Claude Codeでページを作り、修正できた</a:t>
            </a:r>
            <a:endParaRPr lang="en-US" sz="13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50" dirty="0">
                <a:solidFill>
                  <a:schemeClr val="tx1"/>
                </a:solidFill>
              </a:rPr>
              <a:t>☐ Gitで記録し、GitHubに保存できた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87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63040"/>
            <a:ext cx="8046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次回：第8回 Webに公開する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0604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わからないところは、講座グループでいつでも質問してください。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APIキーやパスワードは送らないでください。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anaberu">
  <a:themeElements>
    <a:clrScheme name="Manaberu">
      <a:dk1>
        <a:srgbClr val="1A1A1A"/>
      </a:dk1>
      <a:lt1>
        <a:srgbClr val="FFFFFF"/>
      </a:lt1>
      <a:dk2>
        <a:srgbClr val="5A6872"/>
      </a:dk2>
      <a:lt2>
        <a:srgbClr val="FFF6CC"/>
      </a:lt2>
      <a:accent1>
        <a:srgbClr val="FFD600"/>
      </a:accent1>
      <a:accent2>
        <a:srgbClr val="DD6420"/>
      </a:accent2>
      <a:accent3>
        <a:srgbClr val="3370FF"/>
      </a:accent3>
      <a:accent4>
        <a:srgbClr val="06C755"/>
      </a:accent4>
      <a:accent5>
        <a:srgbClr val="E53935"/>
      </a:accent5>
      <a:accent6>
        <a:srgbClr val="F5A623"/>
      </a:accent6>
      <a:hlink>
        <a:srgbClr val="3370FF"/>
      </a:hlink>
      <a:folHlink>
        <a:srgbClr val="6B4FBB"/>
      </a:folHlink>
    </a:clrScheme>
    <a:fontScheme name="Manaberu">
      <a:majorFont>
        <a:latin typeface="Yu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Yu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ささエール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マナベル 第7回 Claude Code入門</dc:title>
  <dc:subject>PptxGenJS Presentation</dc:subject>
  <dc:creator>ささエール（Office Plata）</dc:creator>
  <cp:lastModifiedBy>ささエール（Office Plata）</cp:lastModifiedBy>
  <cp:revision>1</cp:revision>
  <dcterms:created xsi:type="dcterms:W3CDTF">2026-10-02T10:43:47Z</dcterms:created>
  <dcterms:modified xsi:type="dcterms:W3CDTF">2026-10-02T10:43:47Z</dcterms:modified>
</cp:coreProperties>
</file>