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e62d32f7-3f8a-8745-7d7f-ae0e7be204d6}">
          <p14:sldIdLst>
            <p14:sldId id="256"/>
            <p14:sldId id="257"/>
          </p14:sldIdLst>
        </p14:section>
        <p14:section name="本編" id="{aa691503-7cd3-f50d-d3d5-fef688721b0c}">
          <p14:sldIdLst>
            <p14:sldId id="258"/>
            <p14:sldId id="259"/>
            <p14:sldId id="260"/>
            <p14:sldId id="261"/>
            <p14:sldId id="262"/>
          </p14:sldIdLst>
        </p14:section>
        <p14:section name="まとめ" id="{4f6ad613-fe37-a069-b601-4666ae57e26b}">
          <p14:sldIdLst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第6回「自動化・通知・承認」。前回の宿題の提出状況を確認してから始める。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ゴールを読み上げ、今日は「聞く」と「手を動かす」を交互に進めることを伝える。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受講者の題材で「何をきっかけに、何をしたいか」を1つ言ってもらう。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届かない人は、自動化がオンになっているかを最初に見る。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Larkの承認機能を使う方法と、ステータス＋自動化で作る方法の両方があることを伝える。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ノーコードでできなかったことをメモしておくよう伝え、フェーズ3への橋渡しをする。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宿題の目安時間を伝える。質問は講座グループへ（24時間以内に返信・土日祝を除く）。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次回までの宿題をもう一度確認して終了。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MANA_CONTEN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NA_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754880"/>
            <a:ext cx="2423160" cy="274320"/>
          </a:xfrm>
          <a:prstGeom prst="rect">
            <a:avLst>
              <a:gd name="adj" fmla="val 50000"/>
            </a:avLst>
          </a:prstGeom>
          <a:solidFill>
            <a:srgbClr val="1A1A1A"/>
          </a:solidFill>
          <a:ln/>
        </p:spPr>
      </p:sp>
      <p:sp>
        <p:nvSpPr>
          <p:cNvPr id="3" name="Text 1"/>
          <p:cNvSpPr/>
          <p:nvPr/>
        </p:nvSpPr>
        <p:spPr>
          <a:xfrm>
            <a:off x="6510528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ささエール｜OFFICE PLATA</a:t>
            </a:r>
            <a:endParaRPr lang="ja-JP" sz="850" dirty="0"/>
          </a:p>
        </p:txBody>
      </p:sp>
      <p:sp>
        <p:nvSpPr>
          <p:cNvPr id="4" name="Text 2"/>
          <p:cNvSpPr/>
          <p:nvPr/>
        </p:nvSpPr>
        <p:spPr>
          <a:xfrm>
            <a:off x="365760" y="47548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850" dirty="0">
                <a:solidFill>
                  <a:srgbClr val="1A1A1A"/>
                </a:solidFill>
                <a:latin typeface="Noto Sans JP Medium" pitchFamily="34" charset="0"/>
                <a:ea typeface="Noto Sans JP Medium" pitchFamily="34" charset="-122"/>
                <a:cs typeface="Noto Sans JP Medium" pitchFamily="34" charset="-120"/>
              </a:rPr>
              <a:t>マナベル　第6回　自動化・通知・承認</a:t>
            </a:r>
            <a:endParaRPr lang="ja-JP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411480"/>
            <a:ext cx="1600200" cy="60350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2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第6回</a:t>
            </a:r>
            <a:endParaRPr lang="ja-JP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6035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ja-JP" altLang="en-US" sz="40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自動化・通知・承認</a:t>
            </a:r>
            <a:endParaRPr lang="ja-JP" sz="4000" dirty="0"/>
          </a:p>
        </p:txBody>
      </p:sp>
      <p:sp>
        <p:nvSpPr>
          <p:cNvPr id="5" name="Text 2"/>
          <p:cNvSpPr txBox="1"/>
          <p:nvPr/>
        </p:nvSpPr>
        <p:spPr>
          <a:xfrm rot="-120000">
            <a:off x="457200" y="2971800"/>
            <a:ext cx="49377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フェーズ2 Larkで組む｜第3週</a:t>
            </a:r>
            <a:endParaRPr lang="ja-JP" sz="1600" dirty="0"/>
          </a:p>
        </p:txBody>
      </p:sp>
      <p:sp>
        <p:nvSpPr>
          <p:cNvPr id="6" name="card"/>
          <p:cNvSpPr/>
          <p:nvPr/>
        </p:nvSpPr>
        <p:spPr>
          <a:xfrm>
            <a:off x="457200" y="3730752"/>
            <a:ext cx="4937760" cy="896112"/>
          </a:xfrm>
          <a:prstGeom prst="roundRect">
            <a:avLst>
              <a:gd name="adj" fmla="val 1020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58368" y="376732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ja-JP" altLang="en-US" sz="15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マナベル｜AI×Lark 構築者育成講座</a:t>
            </a:r>
            <a:endParaRPr lang="ja-JP" sz="1500" dirty="0"/>
          </a:p>
          <a:p>
            <a:pPr indent="0" marL="0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ささエール ／ OFFICE PLATA　笹原 彰朗</a:t>
            </a:r>
            <a:endParaRPr lang="ja-JP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040587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はじめに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今日のゴールと流れ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685800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682496"/>
            <a:ext cx="219456" cy="219456"/>
          </a:xfrm>
          <a:prstGeom prst="rect">
            <a:avLst/>
          </a:prstGeom>
        </p:spPr>
      </p:pic>
      <p:sp>
        <p:nvSpPr>
          <p:cNvPr id="7" name="goal"/>
          <p:cNvSpPr txBox="1"/>
          <p:nvPr/>
        </p:nvSpPr>
        <p:spPr>
          <a:xfrm>
            <a:off x="1252728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「〜したら〜する」の自動化を自分で設計・設定できる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4700016" y="1371600"/>
            <a:ext cx="3941064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9" name="icon-circle"/>
          <p:cNvSpPr/>
          <p:nvPr/>
        </p:nvSpPr>
        <p:spPr>
          <a:xfrm>
            <a:off x="4882896" y="1572768"/>
            <a:ext cx="438912" cy="438912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682496"/>
            <a:ext cx="219456" cy="219456"/>
          </a:xfrm>
          <a:prstGeom prst="rect">
            <a:avLst/>
          </a:prstGeom>
        </p:spPr>
      </p:pic>
      <p:sp>
        <p:nvSpPr>
          <p:cNvPr id="11" name="goal"/>
          <p:cNvSpPr txBox="1"/>
          <p:nvPr/>
        </p:nvSpPr>
        <p:spPr>
          <a:xfrm>
            <a:off x="5449824" y="1463040"/>
            <a:ext cx="3026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新規受付の通知が、Larkのグループに自動で届く</a:t>
            </a:r>
            <a:endParaRPr lang="ja-JP" sz="1400" dirty="0"/>
          </a:p>
        </p:txBody>
      </p:sp>
      <p:sp>
        <p:nvSpPr>
          <p:cNvPr id="12" name="Text 8"/>
          <p:cNvSpPr txBox="1"/>
          <p:nvPr/>
        </p:nvSpPr>
        <p:spPr>
          <a:xfrm rot="-120000">
            <a:off x="457200" y="2907792"/>
            <a:ext cx="191566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今日の流れ（90分）</a:t>
            </a:r>
            <a:endParaRPr lang="ja-JP" sz="1100" dirty="0"/>
          </a:p>
        </p:txBody>
      </p:sp>
      <p:sp>
        <p:nvSpPr>
          <p:cNvPr id="13" name="Shape 9"/>
          <p:cNvSpPr/>
          <p:nvPr/>
        </p:nvSpPr>
        <p:spPr>
          <a:xfrm>
            <a:off x="502920" y="3364992"/>
            <a:ext cx="813816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ime-block"/>
          <p:cNvSpPr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ime-label"/>
          <p:cNvSpPr txBox="1"/>
          <p:nvPr/>
        </p:nvSpPr>
        <p:spPr>
          <a:xfrm>
            <a:off x="50292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ふりかえり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6" name="time-block"/>
          <p:cNvSpPr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ime-label"/>
          <p:cNvSpPr txBox="1"/>
          <p:nvPr/>
        </p:nvSpPr>
        <p:spPr>
          <a:xfrm>
            <a:off x="140716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18" name="time-block"/>
          <p:cNvSpPr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ime-label"/>
          <p:cNvSpPr txBox="1"/>
          <p:nvPr/>
        </p:nvSpPr>
        <p:spPr>
          <a:xfrm>
            <a:off x="231140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ハンズオン①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0" name="time-block"/>
          <p:cNvSpPr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ime-label"/>
          <p:cNvSpPr txBox="1"/>
          <p:nvPr/>
        </p:nvSpPr>
        <p:spPr>
          <a:xfrm>
            <a:off x="4119880" y="3364992"/>
            <a:ext cx="90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説明②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10分</a:t>
            </a:r>
            <a:endParaRPr lang="ja-JP" sz="1050" dirty="0"/>
          </a:p>
        </p:txBody>
      </p:sp>
      <p:sp>
        <p:nvSpPr>
          <p:cNvPr id="22" name="time-block"/>
          <p:cNvSpPr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solidFill>
            <a:srgbClr val="DD64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ime-label"/>
          <p:cNvSpPr txBox="1"/>
          <p:nvPr/>
        </p:nvSpPr>
        <p:spPr>
          <a:xfrm>
            <a:off x="5024120" y="3364992"/>
            <a:ext cx="180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ハンズオン②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20分</a:t>
            </a:r>
            <a:endParaRPr lang="ja-JP" sz="1050" dirty="0"/>
          </a:p>
        </p:txBody>
      </p:sp>
      <p:sp>
        <p:nvSpPr>
          <p:cNvPr id="24" name="time-block"/>
          <p:cNvSpPr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ime-label"/>
          <p:cNvSpPr txBox="1"/>
          <p:nvPr/>
        </p:nvSpPr>
        <p:spPr>
          <a:xfrm>
            <a:off x="6832600" y="3364992"/>
            <a:ext cx="1356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質問・共有</a:t>
            </a:r>
            <a:endParaRPr lang="ja-JP" sz="10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15分</a:t>
            </a:r>
            <a:endParaRPr lang="ja-JP" sz="1050" dirty="0"/>
          </a:p>
        </p:txBody>
      </p:sp>
      <p:sp>
        <p:nvSpPr>
          <p:cNvPr id="26" name="time-block"/>
          <p:cNvSpPr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solidFill>
            <a:srgbClr val="1A1A1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ime-label"/>
          <p:cNvSpPr txBox="1"/>
          <p:nvPr/>
        </p:nvSpPr>
        <p:spPr>
          <a:xfrm>
            <a:off x="8188960" y="3364992"/>
            <a:ext cx="45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85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宿題</a:t>
            </a:r>
            <a:endParaRPr lang="ja-JP" sz="850" dirty="0"/>
          </a:p>
          <a:p>
            <a:pPr algn="ctr" indent="0" marL="0">
              <a:buNone/>
            </a:pPr>
            <a:r>
              <a:rPr lang="ja-JP" altLang="en-US" sz="9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5分</a:t>
            </a:r>
            <a:endParaRPr lang="ja-JP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聞く　</a:t>
            </a:r>
            <a:pPr indent="0" marL="0">
              <a:buNone/>
            </a:pPr>
            <a:r>
              <a:rPr lang="ja-JP" altLang="en-US" sz="1050" b="1" dirty="0">
                <a:solidFill>
                  <a:srgbClr val="DD642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■ </a:t>
            </a:r>
            <a:pPr indent="0" marL="0">
              <a:buNone/>
            </a:pPr>
            <a:r>
              <a:rPr lang="ja-JP" altLang="en-US" sz="10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手を動かす</a:t>
            </a:r>
            <a:endParaRPr lang="ja-JP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説明①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自動化は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「きっかけ」</a:t>
            </a:r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と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「やること」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813816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2531872"/>
                <a:gridCol w="2351024"/>
                <a:gridCol w="325526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きっかけ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やること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例</a:t>
                      </a:r>
                      <a:endParaRPr lang="en-US" sz="125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レコードが追加された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メッセージを送る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新しい予約をグループに通知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フィールドが変わった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通知・更新する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「確定」になったら担当者に通知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決まった日時になった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条件に合う件を送る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毎朝9時に本日の予約を送る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6420"/>
                          </a:solidFill>
                          <a:latin typeface="Noto Sans JP" pitchFamily="34" charset="0"/>
                          <a:ea typeface="Noto Sans JP" pitchFamily="34" charset="-122"/>
                          <a:cs typeface="Noto Sans JP" pitchFamily="34" charset="-120"/>
                        </a:rPr>
                        <a:t>日付が近づいた</a:t>
                      </a:r>
                      <a:endParaRPr lang="en-US" sz="1200" dirty="0">
                        <a:latin typeface="Noto Sans JP" charset="0"/>
                        <a:ea typeface="Noto Sans JP" charset="0"/>
                        <a:cs typeface="Noto Sans JP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リマインドする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Noto Sans JP Medium" pitchFamily="34" charset="0"/>
                          <a:ea typeface="Noto Sans JP Medium" pitchFamily="34" charset="-122"/>
                          <a:cs typeface="Noto Sans JP Medium" pitchFamily="34" charset="-120"/>
                        </a:rPr>
                        <a:t>受取日の前日に担当者へ</a:t>
                      </a:r>
                      <a:endParaRPr lang="en-US" sz="1200" dirty="0">
                        <a:latin typeface="Noto Sans JP Medium" charset="0"/>
                        <a:ea typeface="Noto Sans JP Medium" charset="0"/>
                        <a:cs typeface="Noto Sans JP Medium" charset="0"/>
                      </a:endParaRPr>
                    </a:p>
                  </a:txBody>
                  <a:tcPr marL="91440" marR="91440" marT="0" marB="0" anchor="ctr">
                    <a:lnL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 rot="-60000">
            <a:off x="502920" y="411480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使える自動化の回数・種類はLarkのプランで上限がある。管理者とプランを確認しておく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ハンズオン①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新規レコードでBot通知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40080" y="147584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7" name="step-text"/>
          <p:cNvSpPr txBox="1"/>
          <p:nvPr/>
        </p:nvSpPr>
        <p:spPr>
          <a:xfrm>
            <a:off x="1234440" y="1417320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BASEの自動化を開き、新しい自動化を作る</a:t>
            </a:r>
            <a:endParaRPr lang="ja-JP" sz="1400" dirty="0"/>
          </a:p>
        </p:txBody>
      </p:sp>
      <p:sp>
        <p:nvSpPr>
          <p:cNvPr id="8" name="card"/>
          <p:cNvSpPr/>
          <p:nvPr/>
        </p:nvSpPr>
        <p:spPr>
          <a:xfrm>
            <a:off x="502920" y="2064715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40080" y="2123237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10" name="step-text"/>
          <p:cNvSpPr txBox="1"/>
          <p:nvPr/>
        </p:nvSpPr>
        <p:spPr>
          <a:xfrm>
            <a:off x="1234440" y="2064715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きっかけ：「レコードが追加されたとき」（予約テーブル）</a:t>
            </a:r>
            <a:endParaRPr lang="ja-JP" sz="1400" dirty="0"/>
          </a:p>
        </p:txBody>
      </p:sp>
      <p:sp>
        <p:nvSpPr>
          <p:cNvPr id="11" name="card"/>
          <p:cNvSpPr/>
          <p:nvPr/>
        </p:nvSpPr>
        <p:spPr>
          <a:xfrm>
            <a:off x="502920" y="2712110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77063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3" name="step-text"/>
          <p:cNvSpPr txBox="1"/>
          <p:nvPr/>
        </p:nvSpPr>
        <p:spPr>
          <a:xfrm>
            <a:off x="1234440" y="2712110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やること：「メッセージを送る」→ 送り先は講座グループ</a:t>
            </a:r>
            <a:endParaRPr lang="ja-JP" sz="1400" dirty="0"/>
          </a:p>
        </p:txBody>
      </p:sp>
      <p:sp>
        <p:nvSpPr>
          <p:cNvPr id="14" name="card"/>
          <p:cNvSpPr/>
          <p:nvPr/>
        </p:nvSpPr>
        <p:spPr>
          <a:xfrm>
            <a:off x="502920" y="3359506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3418027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4</a:t>
            </a:r>
            <a:endParaRPr lang="ja-JP" sz="1500" dirty="0"/>
          </a:p>
        </p:txBody>
      </p:sp>
      <p:sp>
        <p:nvSpPr>
          <p:cNvPr id="16" name="step-text"/>
          <p:cNvSpPr txBox="1"/>
          <p:nvPr/>
        </p:nvSpPr>
        <p:spPr>
          <a:xfrm>
            <a:off x="1234440" y="3359506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本文に値を差し込む（例：新しい予約：{顧客} {来店日時} {人数}名）</a:t>
            </a:r>
            <a:endParaRPr lang="ja-JP" sz="1400" dirty="0"/>
          </a:p>
        </p:txBody>
      </p:sp>
      <p:sp>
        <p:nvSpPr>
          <p:cNvPr id="17" name="card"/>
          <p:cNvSpPr/>
          <p:nvPr/>
        </p:nvSpPr>
        <p:spPr>
          <a:xfrm>
            <a:off x="502920" y="4006901"/>
            <a:ext cx="8138160" cy="519379"/>
          </a:xfrm>
          <a:prstGeom prst="roundRect">
            <a:avLst>
              <a:gd name="adj" fmla="val 17606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" y="406542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5</a:t>
            </a:r>
            <a:endParaRPr lang="ja-JP" sz="1500" dirty="0"/>
          </a:p>
        </p:txBody>
      </p:sp>
      <p:sp>
        <p:nvSpPr>
          <p:cNvPr id="19" name="step-text"/>
          <p:cNvSpPr txBox="1"/>
          <p:nvPr/>
        </p:nvSpPr>
        <p:spPr>
          <a:xfrm>
            <a:off x="1234440" y="4006901"/>
            <a:ext cx="7269480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フォームから1件入力し、通知が届くか確かめる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478128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説明② 10分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小さく始める承認の流れ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 rot="-180000">
            <a:off x="918972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1</a:t>
            </a:r>
            <a:endParaRPr lang="ja-JP" sz="1000" dirty="0"/>
          </a:p>
        </p:txBody>
      </p:sp>
      <p:sp>
        <p:nvSpPr>
          <p:cNvPr id="7" name="flow-node"/>
          <p:cNvSpPr txBox="1"/>
          <p:nvPr/>
        </p:nvSpPr>
        <p:spPr>
          <a:xfrm>
            <a:off x="612648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承認待ち</a:t>
            </a:r>
            <a:endParaRPr lang="ja-JP" sz="1400" dirty="0"/>
          </a:p>
        </p:txBody>
      </p:sp>
      <p:pic>
        <p:nvPicPr>
          <p:cNvPr id="8" name="flow-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363724"/>
            <a:ext cx="256032" cy="256032"/>
          </a:xfrm>
          <a:prstGeom prst="rect">
            <a:avLst/>
          </a:prstGeom>
        </p:spPr>
      </p:pic>
      <p:sp>
        <p:nvSpPr>
          <p:cNvPr id="9" name="card"/>
          <p:cNvSpPr/>
          <p:nvPr/>
        </p:nvSpPr>
        <p:spPr>
          <a:xfrm>
            <a:off x="2633472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 rot="-180000">
            <a:off x="3049524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2</a:t>
            </a:r>
            <a:endParaRPr lang="ja-JP" sz="1000" dirty="0"/>
          </a:p>
        </p:txBody>
      </p:sp>
      <p:sp>
        <p:nvSpPr>
          <p:cNvPr id="11" name="flow-node"/>
          <p:cNvSpPr txBox="1"/>
          <p:nvPr/>
        </p:nvSpPr>
        <p:spPr>
          <a:xfrm>
            <a:off x="2743200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承認者に通知</a:t>
            </a:r>
            <a:endParaRPr lang="ja-JP" sz="1400" dirty="0"/>
          </a:p>
        </p:txBody>
      </p:sp>
      <p:pic>
        <p:nvPicPr>
          <p:cNvPr id="12" name="flow-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2363724"/>
            <a:ext cx="256032" cy="256032"/>
          </a:xfrm>
          <a:prstGeom prst="rect">
            <a:avLst/>
          </a:prstGeom>
        </p:spPr>
      </p:pic>
      <p:sp>
        <p:nvSpPr>
          <p:cNvPr id="13" name="card"/>
          <p:cNvSpPr/>
          <p:nvPr/>
        </p:nvSpPr>
        <p:spPr>
          <a:xfrm>
            <a:off x="4764024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180000">
            <a:off x="5180076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3</a:t>
            </a:r>
            <a:endParaRPr lang="ja-JP" sz="1000" dirty="0"/>
          </a:p>
        </p:txBody>
      </p:sp>
      <p:sp>
        <p:nvSpPr>
          <p:cNvPr id="15" name="flow-node"/>
          <p:cNvSpPr txBox="1"/>
          <p:nvPr/>
        </p:nvSpPr>
        <p:spPr>
          <a:xfrm>
            <a:off x="4873752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承認済に変更</a:t>
            </a:r>
            <a:endParaRPr lang="ja-JP" sz="1400" dirty="0"/>
          </a:p>
        </p:txBody>
      </p:sp>
      <p:pic>
        <p:nvPicPr>
          <p:cNvPr id="16" name="flow-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536" y="2363724"/>
            <a:ext cx="256032" cy="256032"/>
          </a:xfrm>
          <a:prstGeom prst="rect">
            <a:avLst/>
          </a:prstGeom>
        </p:spPr>
      </p:pic>
      <p:sp>
        <p:nvSpPr>
          <p:cNvPr id="17" name="card"/>
          <p:cNvSpPr/>
          <p:nvPr/>
        </p:nvSpPr>
        <p:spPr>
          <a:xfrm>
            <a:off x="6894576" y="1691640"/>
            <a:ext cx="1746504" cy="1600200"/>
          </a:xfrm>
          <a:prstGeom prst="roundRect">
            <a:avLst>
              <a:gd name="adj" fmla="val 5714"/>
            </a:avLst>
          </a:prstGeom>
          <a:solidFill>
            <a:srgbClr val="F5A623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8" name="Text 12"/>
          <p:cNvSpPr txBox="1"/>
          <p:nvPr/>
        </p:nvSpPr>
        <p:spPr>
          <a:xfrm rot="-180000">
            <a:off x="7310628" y="1545336"/>
            <a:ext cx="914400" cy="292608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0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STEP 4</a:t>
            </a:r>
            <a:endParaRPr lang="ja-JP" sz="1000" dirty="0"/>
          </a:p>
        </p:txBody>
      </p:sp>
      <p:sp>
        <p:nvSpPr>
          <p:cNvPr id="19" name="flow-node"/>
          <p:cNvSpPr txBox="1"/>
          <p:nvPr/>
        </p:nvSpPr>
        <p:spPr>
          <a:xfrm>
            <a:off x="7004304" y="1965960"/>
            <a:ext cx="15270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申請者に通知</a:t>
            </a:r>
            <a:endParaRPr lang="ja-JP" sz="1400" dirty="0"/>
          </a:p>
        </p:txBody>
      </p:sp>
      <p:sp>
        <p:nvSpPr>
          <p:cNvPr id="20" name="Text 14"/>
          <p:cNvSpPr txBox="1"/>
          <p:nvPr/>
        </p:nvSpPr>
        <p:spPr>
          <a:xfrm rot="-60000">
            <a:off x="502920" y="3794760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リマインドは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D6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「忘れても困らない」</a:t>
            </a:r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しかけ。通知が多すぎると読まれなくなるので、本当に必要なものだけに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915668" cy="352044"/>
          </a:xfrm>
          <a:prstGeom prst="rect">
            <a:avLst/>
          </a:prstGeom>
          <a:solidFill>
            <a:srgbClr val="DD6420"/>
          </a:solidFill>
          <a:ln>
            <a:solidFill>
              <a:srgbClr val="DD64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ハンズオン② 20分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状態変化の通知とリマインド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604772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687068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1</a:t>
            </a:r>
            <a:endParaRPr lang="ja-JP" sz="1500" dirty="0"/>
          </a:p>
        </p:txBody>
      </p:sp>
      <p:sp>
        <p:nvSpPr>
          <p:cNvPr id="6" name="step-text"/>
          <p:cNvSpPr txBox="1"/>
          <p:nvPr/>
        </p:nvSpPr>
        <p:spPr>
          <a:xfrm>
            <a:off x="1234440" y="1604772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「ステータスが確定に変わったら、担当者に通知」を作る</a:t>
            </a:r>
            <a:endParaRPr lang="ja-JP" sz="1400" dirty="0"/>
          </a:p>
        </p:txBody>
      </p:sp>
      <p:sp>
        <p:nvSpPr>
          <p:cNvPr id="7" name="card"/>
          <p:cNvSpPr/>
          <p:nvPr/>
        </p:nvSpPr>
        <p:spPr>
          <a:xfrm>
            <a:off x="502920" y="2299716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382012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2</a:t>
            </a:r>
            <a:endParaRPr lang="ja-JP" sz="1500" dirty="0"/>
          </a:p>
        </p:txBody>
      </p:sp>
      <p:sp>
        <p:nvSpPr>
          <p:cNvPr id="9" name="step-text"/>
          <p:cNvSpPr txBox="1"/>
          <p:nvPr/>
        </p:nvSpPr>
        <p:spPr>
          <a:xfrm>
            <a:off x="1234440" y="2299716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「毎朝、本日の予約一覧を送る」か「期限の前日にリマインド」を作る</a:t>
            </a:r>
            <a:endParaRPr lang="ja-JP" sz="1400" dirty="0"/>
          </a:p>
        </p:txBody>
      </p:sp>
      <p:sp>
        <p:nvSpPr>
          <p:cNvPr id="10" name="card"/>
          <p:cNvSpPr/>
          <p:nvPr/>
        </p:nvSpPr>
        <p:spPr>
          <a:xfrm>
            <a:off x="502920" y="2994660"/>
            <a:ext cx="813816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0080" y="3076956"/>
            <a:ext cx="402336" cy="402336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3</a:t>
            </a:r>
            <a:endParaRPr lang="ja-JP" sz="1500" dirty="0"/>
          </a:p>
        </p:txBody>
      </p:sp>
      <p:sp>
        <p:nvSpPr>
          <p:cNvPr id="12" name="step-text"/>
          <p:cNvSpPr txBox="1"/>
          <p:nvPr/>
        </p:nvSpPr>
        <p:spPr>
          <a:xfrm>
            <a:off x="1234440" y="2994660"/>
            <a:ext cx="7269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作った自動化を、Wiki「02 業務ルール」に一覧表で残す</a:t>
            </a:r>
            <a:endParaRPr lang="ja-JP" sz="1400" dirty="0"/>
          </a:p>
        </p:txBody>
      </p:sp>
      <p:sp>
        <p:nvSpPr>
          <p:cNvPr id="13" name="Text 11"/>
          <p:cNvSpPr txBox="1"/>
          <p:nvPr/>
        </p:nvSpPr>
        <p:spPr>
          <a:xfrm rot="-60000">
            <a:off x="502920" y="4005072"/>
            <a:ext cx="8138160" cy="502920"/>
          </a:xfrm>
          <a:prstGeom prst="rect">
            <a:avLst/>
          </a:prstGeom>
          <a:solidFill>
            <a:srgbClr val="DD6420"/>
          </a:solidFill>
          <a:ln w="19050"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1905" rIns="1905" bIns="0" rtlCol="0" anchor="ctr">
            <a:normAutofit/>
          </a:bodyPr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一覧表：自動化名／きっかけ／やること／作った人／作成日</a:t>
            </a:r>
            <a:endParaRPr lang="ja-JP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1186434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ふりかえり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ここから先は</a:t>
            </a:r>
            <a:pPr indent="0" marL="0">
              <a:buNone/>
            </a:pPr>
            <a:r>
              <a:rPr lang="ja-JP" altLang="en-US" sz="2600" dirty="0">
                <a:solidFill>
                  <a:srgbClr val="DD642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「AIで作る」</a:t>
            </a:r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の出番</a:t>
            </a:r>
            <a:endParaRPr lang="ja-JP" sz="2600" dirty="0"/>
          </a:p>
        </p:txBody>
      </p:sp>
      <p:sp>
        <p:nvSpPr>
          <p:cNvPr id="5" name="card"/>
          <p:cNvSpPr/>
          <p:nvPr/>
        </p:nvSpPr>
        <p:spPr>
          <a:xfrm>
            <a:off x="502920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icon-circle"/>
          <p:cNvSpPr/>
          <p:nvPr/>
        </p:nvSpPr>
        <p:spPr>
          <a:xfrm>
            <a:off x="704088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5564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25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自社のデザインで</a:t>
            </a:r>
            <a:endParaRPr lang="ja-JP" sz="1250" dirty="0"/>
          </a:p>
        </p:txBody>
      </p:sp>
      <p:sp>
        <p:nvSpPr>
          <p:cNvPr id="9" name="card-body"/>
          <p:cNvSpPr txBox="1"/>
          <p:nvPr/>
        </p:nvSpPr>
        <p:spPr>
          <a:xfrm>
            <a:off x="704088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お客様向けの受付ページを作りたい</a:t>
            </a:r>
            <a:endParaRPr lang="ja-JP" sz="1350" dirty="0"/>
          </a:p>
        </p:txBody>
      </p:sp>
      <p:sp>
        <p:nvSpPr>
          <p:cNvPr id="10" name="card"/>
          <p:cNvSpPr/>
          <p:nvPr/>
        </p:nvSpPr>
        <p:spPr>
          <a:xfrm>
            <a:off x="3300984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3502152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9312" y="175564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169664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画面を変えたい</a:t>
            </a:r>
            <a:endParaRPr lang="ja-JP" sz="1500" dirty="0"/>
          </a:p>
        </p:txBody>
      </p:sp>
      <p:sp>
        <p:nvSpPr>
          <p:cNvPr id="14" name="card-body"/>
          <p:cNvSpPr txBox="1"/>
          <p:nvPr/>
        </p:nvSpPr>
        <p:spPr>
          <a:xfrm>
            <a:off x="3502152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入力内容で画面を変える、空き状況を表示する</a:t>
            </a:r>
            <a:endParaRPr lang="ja-JP" sz="1350" dirty="0"/>
          </a:p>
        </p:txBody>
      </p:sp>
      <p:sp>
        <p:nvSpPr>
          <p:cNvPr id="15" name="card"/>
          <p:cNvSpPr/>
          <p:nvPr/>
        </p:nvSpPr>
        <p:spPr>
          <a:xfrm>
            <a:off x="6099048" y="1417320"/>
            <a:ext cx="254203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6" name="icon-circle"/>
          <p:cNvSpPr/>
          <p:nvPr/>
        </p:nvSpPr>
        <p:spPr>
          <a:xfrm>
            <a:off x="6300216" y="1618488"/>
            <a:ext cx="548640" cy="54864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7556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67728" y="1618488"/>
            <a:ext cx="1490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15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外とつなぎたい</a:t>
            </a:r>
            <a:endParaRPr lang="ja-JP" sz="1500" dirty="0"/>
          </a:p>
        </p:txBody>
      </p:sp>
      <p:sp>
        <p:nvSpPr>
          <p:cNvPr id="19" name="card-body"/>
          <p:cNvSpPr txBox="1"/>
          <p:nvPr/>
        </p:nvSpPr>
        <p:spPr>
          <a:xfrm>
            <a:off x="6300216" y="2313432"/>
            <a:ext cx="213969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LINEなど、Lark以外のサービスとつなぐ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 rot="-180000">
            <a:off x="411480" y="201168"/>
            <a:ext cx="894740" cy="352044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00" dirty="0">
                <a:solidFill>
                  <a:srgbClr val="FFFFFF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まとめ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0292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26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宿題と、今日のチェック</a:t>
            </a:r>
            <a:endParaRPr lang="ja-JP" sz="2600" dirty="0"/>
          </a:p>
        </p:txBody>
      </p:sp>
      <p:sp>
        <p:nvSpPr>
          <p:cNvPr id="4" name="card"/>
          <p:cNvSpPr/>
          <p:nvPr/>
        </p:nvSpPr>
        <p:spPr>
          <a:xfrm>
            <a:off x="50292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0408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宿題</a:t>
            </a:r>
            <a:endParaRPr lang="ja-JP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「Larkでできたこと／できなかったこと」をメモする（第7回以降の題材にします）</a:t>
            </a:r>
            <a:endParaRPr lang="ja-JP" sz="1350" dirty="0"/>
          </a:p>
        </p:txBody>
      </p:sp>
      <p:sp>
        <p:nvSpPr>
          <p:cNvPr id="9" name="card"/>
          <p:cNvSpPr/>
          <p:nvPr/>
        </p:nvSpPr>
        <p:spPr>
          <a:xfrm>
            <a:off x="4709160" y="141732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910328" y="1600200"/>
            <a:ext cx="457200" cy="457200"/>
          </a:xfrm>
          <a:prstGeom prst="ellipse">
            <a:avLst/>
          </a:prstGeom>
          <a:solidFill>
            <a:srgbClr val="DD6420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628" y="171450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できたらチェック</a:t>
            </a:r>
            <a:endParaRPr lang="ja-JP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240280"/>
            <a:ext cx="34747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新規レコードの通知が届いた</a:t>
            </a:r>
            <a:endParaRPr lang="ja-JP" sz="1350" dirty="0"/>
          </a:p>
          <a:p>
            <a:pPr indent="0" marL="0">
              <a:spcAft>
                <a:spcPts val="800"/>
              </a:spcAft>
              <a:buNone/>
            </a:pPr>
            <a:r>
              <a:rPr lang="ja-JP" altLang="en-US" sz="135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☐ 自動化の一覧表がWikiにある</a:t>
            </a:r>
            <a:endParaRPr lang="ja-JP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85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ortrait" descr="講師 笹原彰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3588" y="1211580"/>
            <a:ext cx="2866092" cy="3931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 rot="-240000">
            <a:off x="457200" y="548640"/>
            <a:ext cx="1280160" cy="548640"/>
          </a:xfrm>
          <a:prstGeom prst="rect">
            <a:avLst/>
          </a:prstGeom>
          <a:solidFill>
            <a:srgbClr val="1A1A1A"/>
          </a:solidFill>
          <a:ln>
            <a:solidFill>
              <a:srgbClr val="1A1A1A"/>
            </a:solidFill>
          </a:ln>
          <a:effectLst>
            <a:outerShdw sx="100000" sy="100000" kx="0" ky="0" algn="bl" rotWithShape="0" blurRad="101600" dist="38100" dir="2700000">
              <a:srgbClr val="1A1A1A">
                <a:alpha val="10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000" dirty="0">
                <a:solidFill>
                  <a:srgbClr val="FFD600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次回</a:t>
            </a:r>
            <a:endParaRPr lang="ja-JP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2801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第7回</a:t>
            </a:r>
            <a:endParaRPr lang="ja-JP" sz="3200" dirty="0"/>
          </a:p>
          <a:p>
            <a:pPr indent="0" marL="0">
              <a:buNone/>
            </a:pPr>
            <a:r>
              <a:rPr lang="ja-JP" altLang="en-US" sz="3200" dirty="0">
                <a:solidFill>
                  <a:srgbClr val="1A1A1A"/>
                </a:solidFill>
                <a:latin typeface="Dela Gothic One" pitchFamily="34" charset="0"/>
                <a:ea typeface="けいふぉんと" pitchFamily="34" charset="-122"/>
                <a:cs typeface="Dela Gothic One" pitchFamily="34" charset="-120"/>
              </a:rPr>
              <a:t>Claude Code入門</a:t>
            </a:r>
            <a:endParaRPr lang="ja-JP" sz="3200" dirty="0"/>
          </a:p>
        </p:txBody>
      </p:sp>
      <p:sp>
        <p:nvSpPr>
          <p:cNvPr id="5" name="card"/>
          <p:cNvSpPr/>
          <p:nvPr/>
        </p:nvSpPr>
        <p:spPr>
          <a:xfrm>
            <a:off x="457200" y="3108960"/>
            <a:ext cx="539496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  <a:effectLst>
            <a:outerShdw sx="100000" sy="100000" kx="0" ky="0" algn="bl" rotWithShape="0" blurRad="101600" dist="50800" dir="2700000">
              <a:srgbClr val="1A1A1A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320040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わからないところは、講座グループでいつでも質問してください。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rgbClr val="1A1A1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APIキーやパスワードは送らないでください。</a:t>
            </a:r>
            <a:endParaRPr lang="ja-JP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saYell">
  <a:themeElements>
    <a:clrScheme name="SasaYell">
      <a:dk1>
        <a:srgbClr val="1A1A1A"/>
      </a:dk1>
      <a:lt1>
        <a:srgbClr val="FFFFFF"/>
      </a:lt1>
      <a:dk2>
        <a:srgbClr val="1A1A1A"/>
      </a:dk2>
      <a:lt2>
        <a:srgbClr val="FFD600"/>
      </a:lt2>
      <a:accent1>
        <a:srgbClr val="FFD600"/>
      </a:accent1>
      <a:accent2>
        <a:srgbClr val="DD6420"/>
      </a:accent2>
      <a:accent3>
        <a:srgbClr val="F5A623"/>
      </a:accent3>
      <a:accent4>
        <a:srgbClr val="1A1A1A"/>
      </a:accent4>
      <a:accent5>
        <a:srgbClr val="FFFFFF"/>
      </a:accent5>
      <a:accent6>
        <a:srgbClr val="DD6420"/>
      </a:accent6>
      <a:hlink>
        <a:srgbClr val="DD6420"/>
      </a:hlink>
      <a:folHlink>
        <a:srgbClr val="F5A623"/>
      </a:folHlink>
    </a:clrScheme>
    <a:fontScheme name="SasaYell">
      <a:majorFont>
        <a:latin typeface="Dela Gothic One"/>
        <a:ea typeface="けいふぉんと"/>
        <a:cs typeface=""/>
      </a:majorFont>
      <a:minorFont>
        <a:latin typeface="Noto Sans JP"/>
        <a:ea typeface="Noto Sans JP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ささエール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マナベル 第6回 自動化・通知・承認</dc:title>
  <dc:subject>PptxGenJS Presentation</dc:subject>
  <dc:creator>ささエール（Office Plata）</dc:creator>
  <cp:lastModifiedBy>ささエール（Office Plata）</cp:lastModifiedBy>
  <cp:revision>1</cp:revision>
  <dcterms:created xsi:type="dcterms:W3CDTF">2026-10-08T07:08:41Z</dcterms:created>
  <dcterms:modified xsi:type="dcterms:W3CDTF">2026-10-08T07:08:41Z</dcterms:modified>
</cp:coreProperties>
</file>