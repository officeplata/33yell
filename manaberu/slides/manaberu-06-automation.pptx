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a2b90636-8e0e-283b-ff5e-a95e2de3870e}">
          <p14:sldIdLst>
            <p14:sldId id="256"/>
            <p14:sldId id="257"/>
          </p14:sldIdLst>
        </p14:section>
        <p14:section name="本編" id="{e5f8b039-1256-e2a8-86ce-53b7a2a8db33}">
          <p14:sldIdLst>
            <p14:sldId id="258"/>
            <p14:sldId id="259"/>
            <p14:sldId id="260"/>
            <p14:sldId id="261"/>
            <p14:sldId id="262"/>
          </p14:sldIdLst>
        </p14:section>
        <p14:section name="まとめ" id="{51322b07-d81e-5261-ea82-8d2431b2c957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第6回「自動化・通知・承認」。前回の宿題の提出状況を確認してから始める。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受講者の題材で「何をきっかけに、何をしたいか」を1つ言ってもらう。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届かない人は、自動化がオンになっているかを最初に見る。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Larkの承認機能を使う方法と、ステータス＋自動化で作る方法の両方があることを伝える。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ノーコードでできなかったことをメモしておくよう伝え、フェーズ3への橋渡しをする。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第6回　自動化・通知・承認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第6回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自動化・通知・承認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フェーズ2 Larkで組む　｜　第3週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「〜したら〜する」の自動化を自分で設計・設定できる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8630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6918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07185"/>
            <a:ext cx="197510" cy="197510"/>
          </a:xfrm>
          <a:prstGeom prst="rect">
            <a:avLst/>
          </a:prstGeom>
        </p:spPr>
      </p:pic>
      <p:sp>
        <p:nvSpPr>
          <p:cNvPr id="12" name="goal"/>
          <p:cNvSpPr txBox="1"/>
          <p:nvPr/>
        </p:nvSpPr>
        <p:spPr>
          <a:xfrm>
            <a:off x="541782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新規受付の通知が、Larkのグループに自動で届く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4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ふりかえり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4" name="time-block"/>
          <p:cNvSpPr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質問・共有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15分</a:t>
            </a:r>
            <a:endParaRPr lang="en-US" sz="1050" dirty="0"/>
          </a:p>
        </p:txBody>
      </p:sp>
      <p:sp>
        <p:nvSpPr>
          <p:cNvPr id="26" name="time-block"/>
          <p:cNvSpPr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宿題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5分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自動化は「きっかけ」と「やること」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503424"/>
                <a:gridCol w="2324608"/>
                <a:gridCol w="321868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きっかけ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やること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レコードが追加された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メッセージを送る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新しい予約をグループに通知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フィールドが変わった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通知・更新する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「確定」になったら担当者に通知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決まった日時になった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条件に合う件を送る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毎朝9時に本日の予約を送る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日付が近づいた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リマインドする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受取日の前日に担当者へ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9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使える自動化の回数・種類はLarkのプランで上限がある。管理者とプランを確認しておく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新規レコードでBot通知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46304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BASEの自動化を開き、新しい自動化を作る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0665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きっかけ：「レコードが追加されたとき」（予約テーブル）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277977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67004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やること：「メッセージを送る」→ 送り先は講座グループ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32735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本文に値を差し込む（例：新しい予約：{顧客} {来店日時} {人数}名）</a:t>
            </a:r>
            <a:endParaRPr lang="en-US" sz="1450" dirty="0"/>
          </a:p>
        </p:txBody>
      </p:sp>
      <p:sp>
        <p:nvSpPr>
          <p:cNvPr id="18" name="step-num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tep-num-text"/>
          <p:cNvSpPr txBox="1"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step-text"/>
          <p:cNvSpPr txBox="1"/>
          <p:nvPr/>
        </p:nvSpPr>
        <p:spPr>
          <a:xfrm>
            <a:off x="1097280" y="387705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フォームから1件入力し、通知が届くか確かめる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小さく始める承認の流れ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flow-node"/>
          <p:cNvSpPr txBox="1"/>
          <p:nvPr/>
        </p:nvSpPr>
        <p:spPr>
          <a:xfrm>
            <a:off x="640080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承認待ち</a:t>
            </a:r>
            <a:endParaRPr lang="en-US" sz="1400" dirty="0"/>
          </a:p>
        </p:txBody>
      </p:sp>
      <p:pic>
        <p:nvPicPr>
          <p:cNvPr id="9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2441448"/>
            <a:ext cx="237744" cy="23774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656332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656332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2" name="flow-node"/>
          <p:cNvSpPr txBox="1"/>
          <p:nvPr/>
        </p:nvSpPr>
        <p:spPr>
          <a:xfrm>
            <a:off x="2747772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承認者に通知</a:t>
            </a:r>
            <a:endParaRPr lang="en-US" sz="1400" dirty="0"/>
          </a:p>
        </p:txBody>
      </p:sp>
      <p:pic>
        <p:nvPicPr>
          <p:cNvPr id="13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441448"/>
            <a:ext cx="237744" cy="237744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4764024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764024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flow-node"/>
          <p:cNvSpPr txBox="1"/>
          <p:nvPr/>
        </p:nvSpPr>
        <p:spPr>
          <a:xfrm>
            <a:off x="4855464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承認済に変更</a:t>
            </a:r>
            <a:endParaRPr lang="en-US" sz="1400" dirty="0"/>
          </a:p>
        </p:txBody>
      </p:sp>
      <p:pic>
        <p:nvPicPr>
          <p:cNvPr id="17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441448"/>
            <a:ext cx="237744" cy="237744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6871716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871716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0" name="flow-node"/>
          <p:cNvSpPr txBox="1"/>
          <p:nvPr/>
        </p:nvSpPr>
        <p:spPr>
          <a:xfrm>
            <a:off x="6963156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申請者に通知</a:t>
            </a:r>
            <a:endParaRPr lang="en-US" sz="1400" dirty="0"/>
          </a:p>
        </p:txBody>
      </p:sp>
      <p:sp>
        <p:nvSpPr>
          <p:cNvPr id="21" name="foot-box"/>
          <p:cNvSpPr/>
          <p:nvPr/>
        </p:nvSpPr>
        <p:spPr>
          <a:xfrm>
            <a:off x="548640" y="379476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2277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37947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リマインドは「忘れても困らない」しかけ。通知が多すぎると読まれなくなるので、本当に必要なものだけに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状態変化の通知とリマインド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5" name="step-num"/>
          <p:cNvSpPr/>
          <p:nvPr/>
        </p:nvSpPr>
        <p:spPr>
          <a:xfrm>
            <a:off x="548640" y="17876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step-num-text"/>
          <p:cNvSpPr txBox="1"/>
          <p:nvPr/>
        </p:nvSpPr>
        <p:spPr>
          <a:xfrm>
            <a:off x="548640" y="1787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ext"/>
          <p:cNvSpPr txBox="1"/>
          <p:nvPr/>
        </p:nvSpPr>
        <p:spPr>
          <a:xfrm>
            <a:off x="1097280" y="16779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「ステータスが確定に変わったら、担当者に通知」を作る</a:t>
            </a:r>
            <a:endParaRPr lang="en-US" sz="1450" dirty="0"/>
          </a:p>
        </p:txBody>
      </p:sp>
      <p:sp>
        <p:nvSpPr>
          <p:cNvPr id="8" name="step-num"/>
          <p:cNvSpPr/>
          <p:nvPr/>
        </p:nvSpPr>
        <p:spPr>
          <a:xfrm>
            <a:off x="548640" y="239115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tep-num-text"/>
          <p:cNvSpPr txBox="1"/>
          <p:nvPr/>
        </p:nvSpPr>
        <p:spPr>
          <a:xfrm>
            <a:off x="548640" y="239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-text"/>
          <p:cNvSpPr txBox="1"/>
          <p:nvPr/>
        </p:nvSpPr>
        <p:spPr>
          <a:xfrm>
            <a:off x="1097280" y="228142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「毎朝、本日の予約一覧を送る」か「期限の前日にリマインド」を作る</a:t>
            </a:r>
            <a:endParaRPr lang="en-US" sz="1450" dirty="0"/>
          </a:p>
        </p:txBody>
      </p:sp>
      <p:sp>
        <p:nvSpPr>
          <p:cNvPr id="11" name="step-num"/>
          <p:cNvSpPr/>
          <p:nvPr/>
        </p:nvSpPr>
        <p:spPr>
          <a:xfrm>
            <a:off x="548640" y="299466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step-num-text"/>
          <p:cNvSpPr txBox="1"/>
          <p:nvPr/>
        </p:nvSpPr>
        <p:spPr>
          <a:xfrm>
            <a:off x="548640" y="2994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-text"/>
          <p:cNvSpPr txBox="1"/>
          <p:nvPr/>
        </p:nvSpPr>
        <p:spPr>
          <a:xfrm>
            <a:off x="1097280" y="288493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作った自動化を、Wiki「02 業務ルール」に一覧表で残す</a:t>
            </a:r>
            <a:endParaRPr lang="en-US" sz="1450" dirty="0"/>
          </a:p>
        </p:txBody>
      </p:sp>
      <p:sp>
        <p:nvSpPr>
          <p:cNvPr id="14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16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一覧表：自動化名／きっかけ／やること／作った人／作成日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ここから先は「AIで作る」の出番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06984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ふりかえり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icon-circ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76679"/>
            <a:ext cx="241402" cy="241402"/>
          </a:xfrm>
          <a:prstGeom prst="rect">
            <a:avLst/>
          </a:prstGeom>
        </p:spPr>
      </p:pic>
      <p:sp>
        <p:nvSpPr>
          <p:cNvPr id="9" name="card-head"/>
          <p:cNvSpPr txBox="1"/>
          <p:nvPr/>
        </p:nvSpPr>
        <p:spPr>
          <a:xfrm>
            <a:off x="73152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自社のデザインで</a:t>
            </a:r>
            <a:endParaRPr lang="en-US" sz="1500" dirty="0"/>
          </a:p>
        </p:txBody>
      </p:sp>
      <p:sp>
        <p:nvSpPr>
          <p:cNvPr id="10" name="card-body"/>
          <p:cNvSpPr txBox="1"/>
          <p:nvPr/>
        </p:nvSpPr>
        <p:spPr>
          <a:xfrm>
            <a:off x="73152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お客様向けの受付ページを作りたい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330708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icon-circle"/>
          <p:cNvSpPr/>
          <p:nvPr/>
        </p:nvSpPr>
        <p:spPr>
          <a:xfrm>
            <a:off x="348996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19" y="1776679"/>
            <a:ext cx="241402" cy="241402"/>
          </a:xfrm>
          <a:prstGeom prst="rect">
            <a:avLst/>
          </a:prstGeom>
        </p:spPr>
      </p:pic>
      <p:sp>
        <p:nvSpPr>
          <p:cNvPr id="14" name="card-head"/>
          <p:cNvSpPr txBox="1"/>
          <p:nvPr/>
        </p:nvSpPr>
        <p:spPr>
          <a:xfrm>
            <a:off x="348996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画面を変えたい</a:t>
            </a:r>
            <a:endParaRPr lang="en-US" sz="1500" dirty="0"/>
          </a:p>
        </p:txBody>
      </p:sp>
      <p:sp>
        <p:nvSpPr>
          <p:cNvPr id="15" name="card-body"/>
          <p:cNvSpPr txBox="1"/>
          <p:nvPr/>
        </p:nvSpPr>
        <p:spPr>
          <a:xfrm>
            <a:off x="348996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入力内容で画面を変える、空き状況を表示する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06552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624840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159" y="1776679"/>
            <a:ext cx="241402" cy="241402"/>
          </a:xfrm>
          <a:prstGeom prst="rect">
            <a:avLst/>
          </a:prstGeom>
        </p:spPr>
      </p:pic>
      <p:sp>
        <p:nvSpPr>
          <p:cNvPr id="19" name="card-head"/>
          <p:cNvSpPr txBox="1"/>
          <p:nvPr/>
        </p:nvSpPr>
        <p:spPr>
          <a:xfrm>
            <a:off x="624840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外とつなぎたい</a:t>
            </a:r>
            <a:endParaRPr lang="en-US" sz="1500" dirty="0"/>
          </a:p>
        </p:txBody>
      </p:sp>
      <p:sp>
        <p:nvSpPr>
          <p:cNvPr id="20" name="card-body"/>
          <p:cNvSpPr txBox="1"/>
          <p:nvPr/>
        </p:nvSpPr>
        <p:spPr>
          <a:xfrm>
            <a:off x="624840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LINEなど、Lark以外のサービスとつなぐ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「Larkでできたこと／できなかったこと」をメモする（第7回以降の題材にします）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新規レコードの通知が届いた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自動化の一覧表がWikiにある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次回：第7回 Claude Code入門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第6回 自動化・通知・承認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2026-10-02T10:43:47Z</dcterms:created>
  <dcterms:modified xsi:type="dcterms:W3CDTF">2026-10-02T10:43:47Z</dcterms:modified>
</cp:coreProperties>
</file>