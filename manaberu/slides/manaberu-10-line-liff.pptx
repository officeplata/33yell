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導入" id="{8175a5c8-2871-d900-34ef-3cb323e3c314}">
          <p14:sldIdLst>
            <p14:sldId id="256"/>
            <p14:sldId id="257"/>
          </p14:sldIdLst>
        </p14:section>
        <p14:section name="本編" id="{d309983e-d9d4-4289-7234-972e412db974}">
          <p14:sldIdLst>
            <p14:sldId id="258"/>
            <p14:sldId id="259"/>
            <p14:sldId id="260"/>
            <p14:sldId id="261"/>
          </p14:sldIdLst>
        </p14:section>
        <p14:section name="まとめ" id="{cf2dda3d-5c30-5d41-cfec-fa92941eba4c}">
          <p14:sldIdLst>
            <p14:sldId id="262"/>
            <p14:sldId id="26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第10回「LINEとつなぐ（LIFF）」。前回の宿題の提出状況を確認してから始める。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ゴールを読み上げ、今日は「聞く」と「手を動かす」を交互に進めることを伝える。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LINEログインチャネルとMessaging APIチャネルの混同が一番多い。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通知が自動化で届かない場合は、カスタムボットのWebhookへ受付係から送る方法がある。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宿題の目安時間を伝える。質問は講座グループへ（24時間以内に返信・土日祝を除く）。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次回までの宿題をもう一度確認して終了。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NA_TITLE">
    <p:bg>
      <p:bgPr>
        <a:solidFill>
          <a:srgbClr val="FFD6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691640"/>
            <a:ext cx="585216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246120"/>
            <a:ext cx="585216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400" dirty="0">
                <a:solidFill>
                  <a:schemeClr val="tx1"/>
                </a:solidFill>
              </a:defRPr>
            </a:lvl1pPr>
          </a:lstStyle>
          <a:p>
            <a:pPr indent="0" marL="0">
              <a:buNone/>
            </a:pPr>
            <a:endParaRPr lang="en-US" sz="1400" dirty="0"/>
          </a:p>
        </p:txBody>
      </p:sp>
      <p:sp>
        <p:nvSpPr>
          <p:cNvPr id="4" name="Text 0"/>
          <p:cNvSpPr/>
          <p:nvPr/>
        </p:nvSpPr>
        <p:spPr>
          <a:xfrm>
            <a:off x="548640" y="45262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マナベル｜AI×Lark 構築者育成講座</a:t>
            </a:r>
            <a:endParaRPr lang="en-US" sz="1000" dirty="0"/>
          </a:p>
        </p:txBody>
      </p:sp>
      <p:sp>
        <p:nvSpPr>
          <p:cNvPr id="5" name="Text 1"/>
          <p:cNvSpPr/>
          <p:nvPr/>
        </p:nvSpPr>
        <p:spPr>
          <a:xfrm>
            <a:off x="6766560" y="45262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ささエール</a:t>
            </a:r>
            <a:endParaRPr lang="en-US" sz="1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NA_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658368"/>
            <a:ext cx="8046720" cy="56692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4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2400" dirty="0"/>
          </a:p>
        </p:txBody>
      </p:sp>
      <p:sp>
        <p:nvSpPr>
          <p:cNvPr id="3" name="Text 0"/>
          <p:cNvSpPr/>
          <p:nvPr/>
        </p:nvSpPr>
        <p:spPr>
          <a:xfrm>
            <a:off x="548640" y="4773168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マナベル　第10回　LINEとつなぐ（LIFF）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68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NA_DARK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63040"/>
            <a:ext cx="804672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accent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606040"/>
            <a:ext cx="804672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500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1500" dirty="0"/>
          </a:p>
        </p:txBody>
      </p:sp>
      <p:sp>
        <p:nvSpPr>
          <p:cNvPr id="4" name="Text 0"/>
          <p:cNvSpPr/>
          <p:nvPr/>
        </p:nvSpPr>
        <p:spPr>
          <a:xfrm>
            <a:off x="548640" y="45262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bg1"/>
                </a:solidFill>
              </a:rPr>
              <a:t>マナベル｜AI×Lark 構築者育成講座</a:t>
            </a:r>
            <a:endParaRPr lang="en-US" sz="1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68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esson-badge"/>
          <p:cNvSpPr/>
          <p:nvPr/>
        </p:nvSpPr>
        <p:spPr>
          <a:xfrm>
            <a:off x="548640" y="822960"/>
            <a:ext cx="1828800" cy="566928"/>
          </a:xfrm>
          <a:prstGeom prst="roundRect">
            <a:avLst>
              <a:gd name="adj" fmla="val 50000"/>
            </a:avLst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" name="Text 1"/>
          <p:cNvSpPr txBox="1"/>
          <p:nvPr/>
        </p:nvSpPr>
        <p:spPr>
          <a:xfrm>
            <a:off x="548640" y="822960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第10回</a:t>
            </a:r>
            <a:endParaRPr lang="en-US" sz="22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1691640"/>
            <a:ext cx="5852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LINEとつなぐ（LIFF）</a:t>
            </a:r>
            <a:endParaRPr lang="en-US" sz="32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548640" y="3246120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フェーズ4 サービスにする　｜　第7週</a:t>
            </a:r>
            <a:endParaRPr lang="en-US" sz="1400" dirty="0"/>
          </a:p>
        </p:txBody>
      </p:sp>
      <p:sp>
        <p:nvSpPr>
          <p:cNvPr id="6" name="title-circle"/>
          <p:cNvSpPr/>
          <p:nvPr/>
        </p:nvSpPr>
        <p:spPr>
          <a:xfrm>
            <a:off x="6537960" y="1188720"/>
            <a:ext cx="2103120" cy="2103120"/>
          </a:xfrm>
          <a:prstGeom prst="ellipse">
            <a:avLst/>
          </a:prstGeom>
          <a:solidFill>
            <a:schemeClr val="bg1"/>
          </a:solidFill>
          <a:ln w="25400">
            <a:solidFill>
              <a:srgbClr val="1A1A1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pic>
        <p:nvPicPr>
          <p:cNvPr id="7" name="title-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86600" y="1737360"/>
            <a:ext cx="1005840" cy="10058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658368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今日のゴールと流れ</a:t>
            </a:r>
            <a:endParaRPr lang="en-US" sz="2400" dirty="0"/>
          </a:p>
        </p:txBody>
      </p:sp>
      <p:sp>
        <p:nvSpPr>
          <p:cNvPr id="3" name="chip"/>
          <p:cNvSpPr/>
          <p:nvPr/>
        </p:nvSpPr>
        <p:spPr>
          <a:xfrm>
            <a:off x="548640" y="292608"/>
            <a:ext cx="932688" cy="292608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4" name="chip-text"/>
          <p:cNvSpPr txBox="1"/>
          <p:nvPr/>
        </p:nvSpPr>
        <p:spPr>
          <a:xfrm>
            <a:off x="548640" y="292608"/>
            <a:ext cx="9326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はじめに</a:t>
            </a:r>
            <a:endParaRPr lang="en-US" sz="1100" dirty="0"/>
          </a:p>
        </p:txBody>
      </p:sp>
      <p:sp>
        <p:nvSpPr>
          <p:cNvPr id="5" name="card"/>
          <p:cNvSpPr/>
          <p:nvPr/>
        </p:nvSpPr>
        <p:spPr>
          <a:xfrm>
            <a:off x="548640" y="1417320"/>
            <a:ext cx="3909060" cy="128016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 w="19050">
            <a:solidFill>
              <a:srgbClr val="1A1A1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6" name="icon-circle"/>
          <p:cNvSpPr/>
          <p:nvPr/>
        </p:nvSpPr>
        <p:spPr>
          <a:xfrm>
            <a:off x="731520" y="1600200"/>
            <a:ext cx="411480" cy="411480"/>
          </a:xfrm>
          <a:prstGeom prst="ellipse">
            <a:avLst/>
          </a:prstGeom>
          <a:solidFill>
            <a:schemeClr val="accent1"/>
          </a:solidFill>
          <a:ln w="15875">
            <a:solidFill>
              <a:srgbClr val="1A1A1A"/>
            </a:solidFill>
            <a:prstDash val="solid"/>
          </a:ln>
        </p:spPr>
      </p:sp>
      <p:pic>
        <p:nvPicPr>
          <p:cNvPr id="7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505" y="1707185"/>
            <a:ext cx="197510" cy="197510"/>
          </a:xfrm>
          <a:prstGeom prst="rect">
            <a:avLst/>
          </a:prstGeom>
        </p:spPr>
      </p:pic>
      <p:sp>
        <p:nvSpPr>
          <p:cNvPr id="8" name="goal"/>
          <p:cNvSpPr txBox="1"/>
          <p:nvPr/>
        </p:nvSpPr>
        <p:spPr>
          <a:xfrm>
            <a:off x="1280160" y="1508760"/>
            <a:ext cx="29946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LINEの中で自分の受付ページを開ける</a:t>
            </a:r>
            <a:endParaRPr lang="en-US" sz="1400" dirty="0"/>
          </a:p>
        </p:txBody>
      </p:sp>
      <p:sp>
        <p:nvSpPr>
          <p:cNvPr id="9" name="card"/>
          <p:cNvSpPr/>
          <p:nvPr/>
        </p:nvSpPr>
        <p:spPr>
          <a:xfrm>
            <a:off x="4686300" y="1417320"/>
            <a:ext cx="3909060" cy="128016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 w="19050">
            <a:solidFill>
              <a:srgbClr val="1A1A1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icon-circle"/>
          <p:cNvSpPr/>
          <p:nvPr/>
        </p:nvSpPr>
        <p:spPr>
          <a:xfrm>
            <a:off x="4869180" y="1600200"/>
            <a:ext cx="411480" cy="411480"/>
          </a:xfrm>
          <a:prstGeom prst="ellipse">
            <a:avLst/>
          </a:prstGeom>
          <a:solidFill>
            <a:schemeClr val="accent1"/>
          </a:solidFill>
          <a:ln w="15875">
            <a:solidFill>
              <a:srgbClr val="1A1A1A"/>
            </a:solidFill>
            <a:prstDash val="solid"/>
          </a:ln>
        </p:spPr>
      </p:sp>
      <p:pic>
        <p:nvPicPr>
          <p:cNvPr id="11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165" y="1707185"/>
            <a:ext cx="197510" cy="197510"/>
          </a:xfrm>
          <a:prstGeom prst="rect">
            <a:avLst/>
          </a:prstGeom>
        </p:spPr>
      </p:pic>
      <p:sp>
        <p:nvSpPr>
          <p:cNvPr id="12" name="goal"/>
          <p:cNvSpPr txBox="1"/>
          <p:nvPr/>
        </p:nvSpPr>
        <p:spPr>
          <a:xfrm>
            <a:off x="5417820" y="1508760"/>
            <a:ext cx="29946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「LINEで予約 → BASEに保存 → Larkに通知」が通しで動く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548640" y="29718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今日の流れ（90分）</a:t>
            </a:r>
            <a:endParaRPr lang="en-US" sz="1300" dirty="0"/>
          </a:p>
        </p:txBody>
      </p:sp>
      <p:sp>
        <p:nvSpPr>
          <p:cNvPr id="14" name="time-block"/>
          <p:cNvSpPr/>
          <p:nvPr/>
        </p:nvSpPr>
        <p:spPr>
          <a:xfrm>
            <a:off x="548640" y="3383280"/>
            <a:ext cx="894080" cy="685800"/>
          </a:xfrm>
          <a:prstGeom prst="rect">
            <a:avLst/>
          </a:prstGeom>
          <a:solidFill>
            <a:srgbClr val="1A1A1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5" name="time-label"/>
          <p:cNvSpPr txBox="1"/>
          <p:nvPr/>
        </p:nvSpPr>
        <p:spPr>
          <a:xfrm>
            <a:off x="548640" y="3383280"/>
            <a:ext cx="894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D600"/>
                </a:solidFill>
              </a:rPr>
              <a:t>ふりかえり</a:t>
            </a:r>
            <a:endParaRPr lang="en-US" sz="105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D600"/>
                </a:solidFill>
              </a:rPr>
              <a:t>10分</a:t>
            </a:r>
            <a:endParaRPr lang="en-US" sz="1050" dirty="0"/>
          </a:p>
        </p:txBody>
      </p:sp>
      <p:sp>
        <p:nvSpPr>
          <p:cNvPr id="16" name="time-block"/>
          <p:cNvSpPr/>
          <p:nvPr/>
        </p:nvSpPr>
        <p:spPr>
          <a:xfrm>
            <a:off x="1442720" y="3383280"/>
            <a:ext cx="894080" cy="685800"/>
          </a:xfrm>
          <a:prstGeom prst="rect">
            <a:avLst/>
          </a:prstGeom>
          <a:solidFill>
            <a:srgbClr val="1A1A1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7" name="time-label"/>
          <p:cNvSpPr txBox="1"/>
          <p:nvPr/>
        </p:nvSpPr>
        <p:spPr>
          <a:xfrm>
            <a:off x="1442720" y="3383280"/>
            <a:ext cx="894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D600"/>
                </a:solidFill>
              </a:rPr>
              <a:t>説明①</a:t>
            </a:r>
            <a:endParaRPr lang="en-US" sz="105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D600"/>
                </a:solidFill>
              </a:rPr>
              <a:t>10分</a:t>
            </a:r>
            <a:endParaRPr lang="en-US" sz="1050" dirty="0"/>
          </a:p>
        </p:txBody>
      </p:sp>
      <p:sp>
        <p:nvSpPr>
          <p:cNvPr id="18" name="time-block"/>
          <p:cNvSpPr/>
          <p:nvPr/>
        </p:nvSpPr>
        <p:spPr>
          <a:xfrm>
            <a:off x="2336800" y="3383280"/>
            <a:ext cx="1788160" cy="685800"/>
          </a:xfrm>
          <a:prstGeom prst="rect">
            <a:avLst/>
          </a:prstGeom>
          <a:solidFill>
            <a:srgbClr val="DD642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9" name="time-label"/>
          <p:cNvSpPr txBox="1"/>
          <p:nvPr/>
        </p:nvSpPr>
        <p:spPr>
          <a:xfrm>
            <a:off x="2336800" y="3383280"/>
            <a:ext cx="178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ハンズオン①</a:t>
            </a:r>
            <a:endParaRPr lang="en-US" sz="105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20分</a:t>
            </a:r>
            <a:endParaRPr lang="en-US" sz="1050" dirty="0"/>
          </a:p>
        </p:txBody>
      </p:sp>
      <p:sp>
        <p:nvSpPr>
          <p:cNvPr id="20" name="time-block"/>
          <p:cNvSpPr/>
          <p:nvPr/>
        </p:nvSpPr>
        <p:spPr>
          <a:xfrm>
            <a:off x="4124960" y="3383280"/>
            <a:ext cx="894080" cy="685800"/>
          </a:xfrm>
          <a:prstGeom prst="rect">
            <a:avLst/>
          </a:prstGeom>
          <a:solidFill>
            <a:srgbClr val="1A1A1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1" name="time-label"/>
          <p:cNvSpPr txBox="1"/>
          <p:nvPr/>
        </p:nvSpPr>
        <p:spPr>
          <a:xfrm>
            <a:off x="4124960" y="3383280"/>
            <a:ext cx="894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D600"/>
                </a:solidFill>
              </a:rPr>
              <a:t>説明②</a:t>
            </a:r>
            <a:endParaRPr lang="en-US" sz="105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D600"/>
                </a:solidFill>
              </a:rPr>
              <a:t>10分</a:t>
            </a:r>
            <a:endParaRPr lang="en-US" sz="1050" dirty="0"/>
          </a:p>
        </p:txBody>
      </p:sp>
      <p:sp>
        <p:nvSpPr>
          <p:cNvPr id="22" name="time-block"/>
          <p:cNvSpPr/>
          <p:nvPr/>
        </p:nvSpPr>
        <p:spPr>
          <a:xfrm>
            <a:off x="5019040" y="3383280"/>
            <a:ext cx="1788160" cy="685800"/>
          </a:xfrm>
          <a:prstGeom prst="rect">
            <a:avLst/>
          </a:prstGeom>
          <a:solidFill>
            <a:srgbClr val="DD642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3" name="time-label"/>
          <p:cNvSpPr txBox="1"/>
          <p:nvPr/>
        </p:nvSpPr>
        <p:spPr>
          <a:xfrm>
            <a:off x="5019040" y="3383280"/>
            <a:ext cx="178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ハンズオン②</a:t>
            </a:r>
            <a:endParaRPr lang="en-US" sz="105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20分</a:t>
            </a:r>
            <a:endParaRPr lang="en-US" sz="1050" dirty="0"/>
          </a:p>
        </p:txBody>
      </p:sp>
      <p:sp>
        <p:nvSpPr>
          <p:cNvPr id="24" name="time-block"/>
          <p:cNvSpPr/>
          <p:nvPr/>
        </p:nvSpPr>
        <p:spPr>
          <a:xfrm>
            <a:off x="6807200" y="3383280"/>
            <a:ext cx="1341120" cy="685800"/>
          </a:xfrm>
          <a:prstGeom prst="rect">
            <a:avLst/>
          </a:prstGeom>
          <a:solidFill>
            <a:srgbClr val="1A1A1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5" name="time-label"/>
          <p:cNvSpPr txBox="1"/>
          <p:nvPr/>
        </p:nvSpPr>
        <p:spPr>
          <a:xfrm>
            <a:off x="6807200" y="3383280"/>
            <a:ext cx="1341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D600"/>
                </a:solidFill>
              </a:rPr>
              <a:t>質問・共有</a:t>
            </a:r>
            <a:endParaRPr lang="en-US" sz="105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D600"/>
                </a:solidFill>
              </a:rPr>
              <a:t>15分</a:t>
            </a:r>
            <a:endParaRPr lang="en-US" sz="1050" dirty="0"/>
          </a:p>
        </p:txBody>
      </p:sp>
      <p:sp>
        <p:nvSpPr>
          <p:cNvPr id="26" name="time-block"/>
          <p:cNvSpPr/>
          <p:nvPr/>
        </p:nvSpPr>
        <p:spPr>
          <a:xfrm>
            <a:off x="8148320" y="3383280"/>
            <a:ext cx="447040" cy="685800"/>
          </a:xfrm>
          <a:prstGeom prst="rect">
            <a:avLst/>
          </a:prstGeom>
          <a:solidFill>
            <a:srgbClr val="1A1A1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7" name="time-label"/>
          <p:cNvSpPr txBox="1"/>
          <p:nvPr/>
        </p:nvSpPr>
        <p:spPr>
          <a:xfrm>
            <a:off x="8148320" y="3383280"/>
            <a:ext cx="44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D600"/>
                </a:solidFill>
              </a:rPr>
              <a:t>宿題</a:t>
            </a:r>
            <a:endParaRPr lang="en-US" sz="85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D600"/>
                </a:solidFill>
              </a:rPr>
              <a:t>5分</a:t>
            </a:r>
            <a:endParaRPr lang="en-US" sz="850" dirty="0"/>
          </a:p>
        </p:txBody>
      </p:sp>
      <p:sp>
        <p:nvSpPr>
          <p:cNvPr id="28" name="Text 24"/>
          <p:cNvSpPr txBox="1"/>
          <p:nvPr/>
        </p:nvSpPr>
        <p:spPr>
          <a:xfrm>
            <a:off x="548640" y="4160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■ </a:t>
            </a:r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聞く　</a:t>
            </a:r>
            <a:pPr indent="0" marL="0">
              <a:buNone/>
            </a:pPr>
            <a:r>
              <a:rPr lang="en-US" sz="1000" dirty="0">
                <a:solidFill>
                  <a:srgbClr val="DD6420"/>
                </a:solidFill>
              </a:rPr>
              <a:t>■ </a:t>
            </a:r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手を動かす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68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658368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LINE公式アカウントとLIFF</a:t>
            </a:r>
            <a:endParaRPr lang="en-US" sz="2400" dirty="0"/>
          </a:p>
        </p:txBody>
      </p:sp>
      <p:sp>
        <p:nvSpPr>
          <p:cNvPr id="3" name="chip"/>
          <p:cNvSpPr/>
          <p:nvPr/>
        </p:nvSpPr>
        <p:spPr>
          <a:xfrm>
            <a:off x="548640" y="292608"/>
            <a:ext cx="1344168" cy="292608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4" name="chip-text"/>
          <p:cNvSpPr txBox="1"/>
          <p:nvPr/>
        </p:nvSpPr>
        <p:spPr>
          <a:xfrm>
            <a:off x="548640" y="292608"/>
            <a:ext cx="1344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説明① 10分</a:t>
            </a:r>
            <a:endParaRPr lang="en-US" sz="1100" dirty="0"/>
          </a:p>
        </p:txBody>
      </p:sp>
      <p:graphicFrame>
        <p:nvGraphicFramePr>
          <p:cNvPr id="4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8046720" cy="914400"/>
        </p:xfrm>
        <a:graphic>
          <a:graphicData uri="http://schemas.openxmlformats.org/drawingml/2006/table">
            <a:tbl>
              <a:tblPr/>
              <a:tblGrid>
                <a:gridCol w="2324608"/>
                <a:gridCol w="5722112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D600"/>
                          </a:solidFill>
                        </a:rPr>
                        <a:t>言葉</a:t>
                      </a:r>
                      <a:endParaRPr lang="en-US" sz="12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D600"/>
                          </a:solidFill>
                        </a:rPr>
                        <a:t>意味</a:t>
                      </a:r>
                      <a:endParaRPr lang="en-US" sz="12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</a:rPr>
                        <a:t>LINE公式アカウント</a:t>
                      </a:r>
                      <a:endParaRPr lang="en-US" sz="12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お店・会社のLINE。お客様が友だち追加する</a:t>
                      </a:r>
                      <a:endParaRPr lang="en-US" sz="12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</a:rPr>
                        <a:t>リッチメニュー</a:t>
                      </a:r>
                      <a:endParaRPr lang="en-US" sz="12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トーク画面の下のボタン。予約などの入口にする</a:t>
                      </a:r>
                      <a:endParaRPr lang="en-US" sz="12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</a:rPr>
                        <a:t>LIFF（リフ）</a:t>
                      </a:r>
                      <a:endParaRPr lang="en-US" sz="12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LINEの中で開くWebページ。第8〜9回のページがそのまま使える</a:t>
                      </a:r>
                      <a:endParaRPr lang="en-US" sz="12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</a:rPr>
                        <a:t>LINE Developers</a:t>
                      </a:r>
                      <a:endParaRPr lang="en-US" sz="12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LIFFなどの開発用設定をする管理画面</a:t>
                      </a:r>
                      <a:endParaRPr lang="en-US" sz="12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</a:tbl>
          </a:graphicData>
        </a:graphic>
      </p:graphicFrame>
      <p:sp>
        <p:nvSpPr>
          <p:cNvPr id="6" name="foot-box"/>
          <p:cNvSpPr/>
          <p:nvPr/>
        </p:nvSpPr>
        <p:spPr>
          <a:xfrm>
            <a:off x="548640" y="4114800"/>
            <a:ext cx="8046720" cy="502920"/>
          </a:xfrm>
          <a:prstGeom prst="roundRect">
            <a:avLst>
              <a:gd name="adj" fmla="val 1818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7" name="foot-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4242816"/>
            <a:ext cx="246888" cy="246888"/>
          </a:xfrm>
          <a:prstGeom prst="rect">
            <a:avLst/>
          </a:prstGeom>
        </p:spPr>
      </p:pic>
      <p:sp>
        <p:nvSpPr>
          <p:cNvPr id="8" name="foot-text"/>
          <p:cNvSpPr txBox="1"/>
          <p:nvPr/>
        </p:nvSpPr>
        <p:spPr>
          <a:xfrm>
            <a:off x="1051560" y="4114800"/>
            <a:ext cx="7406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お客様はアプリを入れずにLINEのまま予約できる。本人の許可のうえで「誰の予約か」をBASEで追える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68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658368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LIFFアプリを作る</a:t>
            </a:r>
            <a:endParaRPr lang="en-US" sz="2400" dirty="0"/>
          </a:p>
        </p:txBody>
      </p:sp>
      <p:sp>
        <p:nvSpPr>
          <p:cNvPr id="3" name="chip"/>
          <p:cNvSpPr/>
          <p:nvPr/>
        </p:nvSpPr>
        <p:spPr>
          <a:xfrm>
            <a:off x="548640" y="292608"/>
            <a:ext cx="1755648" cy="292608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" name="chip-text"/>
          <p:cNvSpPr txBox="1"/>
          <p:nvPr/>
        </p:nvSpPr>
        <p:spPr>
          <a:xfrm>
            <a:off x="548640" y="292608"/>
            <a:ext cx="17556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ハンズオン① 20分</a:t>
            </a:r>
            <a:endParaRPr lang="en-US" sz="1100" dirty="0"/>
          </a:p>
        </p:txBody>
      </p:sp>
      <p:sp>
        <p:nvSpPr>
          <p:cNvPr id="6" name="step-num"/>
          <p:cNvSpPr/>
          <p:nvPr/>
        </p:nvSpPr>
        <p:spPr>
          <a:xfrm>
            <a:off x="548640" y="1572768"/>
            <a:ext cx="384048" cy="384048"/>
          </a:xfrm>
          <a:prstGeom prst="ellipse">
            <a:avLst/>
          </a:prstGeom>
          <a:solidFill>
            <a:schemeClr val="accent1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7" name="step-num-text"/>
          <p:cNvSpPr txBox="1"/>
          <p:nvPr/>
        </p:nvSpPr>
        <p:spPr>
          <a:xfrm>
            <a:off x="548640" y="15727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step-text"/>
          <p:cNvSpPr txBox="1"/>
          <p:nvPr/>
        </p:nvSpPr>
        <p:spPr>
          <a:xfrm>
            <a:off x="1097280" y="1463040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</a:rPr>
              <a:t>LINE Developersでプロバイダーを作る</a:t>
            </a:r>
            <a:endParaRPr lang="en-US" sz="1450" dirty="0"/>
          </a:p>
        </p:txBody>
      </p:sp>
      <p:sp>
        <p:nvSpPr>
          <p:cNvPr id="9" name="step-num"/>
          <p:cNvSpPr/>
          <p:nvPr/>
        </p:nvSpPr>
        <p:spPr>
          <a:xfrm>
            <a:off x="548640" y="2176272"/>
            <a:ext cx="384048" cy="384048"/>
          </a:xfrm>
          <a:prstGeom prst="ellipse">
            <a:avLst/>
          </a:prstGeom>
          <a:solidFill>
            <a:schemeClr val="accent1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10" name="step-num-text"/>
          <p:cNvSpPr txBox="1"/>
          <p:nvPr/>
        </p:nvSpPr>
        <p:spPr>
          <a:xfrm>
            <a:off x="548640" y="21762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step-text"/>
          <p:cNvSpPr txBox="1"/>
          <p:nvPr/>
        </p:nvSpPr>
        <p:spPr>
          <a:xfrm>
            <a:off x="1097280" y="206654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</a:rPr>
              <a:t>「LINEログイン」チャネルを作る（Messaging APIではない）</a:t>
            </a:r>
            <a:endParaRPr lang="en-US" sz="1450" dirty="0"/>
          </a:p>
        </p:txBody>
      </p:sp>
      <p:sp>
        <p:nvSpPr>
          <p:cNvPr id="12" name="step-num"/>
          <p:cNvSpPr/>
          <p:nvPr/>
        </p:nvSpPr>
        <p:spPr>
          <a:xfrm>
            <a:off x="548640" y="2779776"/>
            <a:ext cx="384048" cy="384048"/>
          </a:xfrm>
          <a:prstGeom prst="ellipse">
            <a:avLst/>
          </a:prstGeom>
          <a:solidFill>
            <a:schemeClr val="accent1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13" name="step-num-text"/>
          <p:cNvSpPr txBox="1"/>
          <p:nvPr/>
        </p:nvSpPr>
        <p:spPr>
          <a:xfrm>
            <a:off x="548640" y="27797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3</a:t>
            </a:r>
            <a:endParaRPr lang="en-US" sz="1400" dirty="0"/>
          </a:p>
        </p:txBody>
      </p:sp>
      <p:sp>
        <p:nvSpPr>
          <p:cNvPr id="14" name="step-text"/>
          <p:cNvSpPr txBox="1"/>
          <p:nvPr/>
        </p:nvSpPr>
        <p:spPr>
          <a:xfrm>
            <a:off x="1097280" y="2670048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</a:rPr>
              <a:t>LIFFタブで追加：エンドポイント＝公開URL、スコープ＝profile・openid</a:t>
            </a:r>
            <a:endParaRPr lang="en-US" sz="1450" dirty="0"/>
          </a:p>
        </p:txBody>
      </p:sp>
      <p:sp>
        <p:nvSpPr>
          <p:cNvPr id="15" name="step-num"/>
          <p:cNvSpPr/>
          <p:nvPr/>
        </p:nvSpPr>
        <p:spPr>
          <a:xfrm>
            <a:off x="548640" y="3383280"/>
            <a:ext cx="384048" cy="384048"/>
          </a:xfrm>
          <a:prstGeom prst="ellipse">
            <a:avLst/>
          </a:prstGeom>
          <a:solidFill>
            <a:schemeClr val="accent1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16" name="step-num-text"/>
          <p:cNvSpPr txBox="1"/>
          <p:nvPr/>
        </p:nvSpPr>
        <p:spPr>
          <a:xfrm>
            <a:off x="548640" y="3383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4</a:t>
            </a:r>
            <a:endParaRPr lang="en-US" sz="1400" dirty="0"/>
          </a:p>
        </p:txBody>
      </p:sp>
      <p:sp>
        <p:nvSpPr>
          <p:cNvPr id="17" name="step-text"/>
          <p:cNvSpPr txBox="1"/>
          <p:nvPr/>
        </p:nvSpPr>
        <p:spPr>
          <a:xfrm>
            <a:off x="1097280" y="3273552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</a:rPr>
              <a:t>Claude Codeに P-07「LIFF対応」で頼む</a:t>
            </a:r>
            <a:endParaRPr lang="en-US" sz="1450" dirty="0"/>
          </a:p>
        </p:txBody>
      </p:sp>
      <p:sp>
        <p:nvSpPr>
          <p:cNvPr id="18" name="step-num"/>
          <p:cNvSpPr/>
          <p:nvPr/>
        </p:nvSpPr>
        <p:spPr>
          <a:xfrm>
            <a:off x="548640" y="3986784"/>
            <a:ext cx="384048" cy="384048"/>
          </a:xfrm>
          <a:prstGeom prst="ellipse">
            <a:avLst/>
          </a:prstGeom>
          <a:solidFill>
            <a:schemeClr val="accent1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19" name="step-num-text"/>
          <p:cNvSpPr txBox="1"/>
          <p:nvPr/>
        </p:nvSpPr>
        <p:spPr>
          <a:xfrm>
            <a:off x="548640" y="39867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5</a:t>
            </a:r>
            <a:endParaRPr lang="en-US" sz="1400" dirty="0"/>
          </a:p>
        </p:txBody>
      </p:sp>
      <p:sp>
        <p:nvSpPr>
          <p:cNvPr id="20" name="step-text"/>
          <p:cNvSpPr txBox="1"/>
          <p:nvPr/>
        </p:nvSpPr>
        <p:spPr>
          <a:xfrm>
            <a:off x="1097280" y="3877056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</a:rPr>
              <a:t>スマホのLINEで https://liff.line.me/（LIFF ID）を開く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68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658368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だれの予約かを安全につなぐ</a:t>
            </a:r>
            <a:endParaRPr lang="en-US" sz="2400" dirty="0"/>
          </a:p>
        </p:txBody>
      </p:sp>
      <p:sp>
        <p:nvSpPr>
          <p:cNvPr id="3" name="chip"/>
          <p:cNvSpPr/>
          <p:nvPr/>
        </p:nvSpPr>
        <p:spPr>
          <a:xfrm>
            <a:off x="548640" y="292608"/>
            <a:ext cx="1344168" cy="292608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4" name="chip-text"/>
          <p:cNvSpPr txBox="1"/>
          <p:nvPr/>
        </p:nvSpPr>
        <p:spPr>
          <a:xfrm>
            <a:off x="548640" y="292608"/>
            <a:ext cx="1344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説明② 10分</a:t>
            </a:r>
            <a:endParaRPr lang="en-US" sz="1100" dirty="0"/>
          </a:p>
        </p:txBody>
      </p:sp>
      <p:sp>
        <p:nvSpPr>
          <p:cNvPr id="6" name="card"/>
          <p:cNvSpPr/>
          <p:nvPr/>
        </p:nvSpPr>
        <p:spPr>
          <a:xfrm>
            <a:off x="548640" y="1828800"/>
            <a:ext cx="1723644" cy="1463040"/>
          </a:xfrm>
          <a:prstGeom prst="roundRect">
            <a:avLst>
              <a:gd name="adj" fmla="val 7500"/>
            </a:avLst>
          </a:prstGeom>
          <a:solidFill>
            <a:schemeClr val="bg1"/>
          </a:solidFill>
          <a:ln w="19050">
            <a:solidFill>
              <a:srgbClr val="1A1A1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548640" y="1993392"/>
            <a:ext cx="17236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2"/>
                </a:solidFill>
              </a:rPr>
              <a:t>STEP 1</a:t>
            </a:r>
            <a:endParaRPr lang="en-US" sz="1000" dirty="0"/>
          </a:p>
        </p:txBody>
      </p:sp>
      <p:sp>
        <p:nvSpPr>
          <p:cNvPr id="8" name="flow-node"/>
          <p:cNvSpPr txBox="1"/>
          <p:nvPr/>
        </p:nvSpPr>
        <p:spPr>
          <a:xfrm>
            <a:off x="640080" y="2286000"/>
            <a:ext cx="15407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LIFFで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IDトークン取得</a:t>
            </a:r>
            <a:endParaRPr lang="en-US" sz="1400" dirty="0"/>
          </a:p>
        </p:txBody>
      </p:sp>
      <p:pic>
        <p:nvPicPr>
          <p:cNvPr id="9" name="flow-arrow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45436" y="2441448"/>
            <a:ext cx="237744" cy="237744"/>
          </a:xfrm>
          <a:prstGeom prst="rect">
            <a:avLst/>
          </a:prstGeom>
        </p:spPr>
      </p:pic>
      <p:sp>
        <p:nvSpPr>
          <p:cNvPr id="10" name="card"/>
          <p:cNvSpPr/>
          <p:nvPr/>
        </p:nvSpPr>
        <p:spPr>
          <a:xfrm>
            <a:off x="2656332" y="1828800"/>
            <a:ext cx="1723644" cy="1463040"/>
          </a:xfrm>
          <a:prstGeom prst="roundRect">
            <a:avLst>
              <a:gd name="adj" fmla="val 7500"/>
            </a:avLst>
          </a:prstGeom>
          <a:solidFill>
            <a:schemeClr val="bg1"/>
          </a:solidFill>
          <a:ln w="19050">
            <a:solidFill>
              <a:srgbClr val="1A1A1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7"/>
          <p:cNvSpPr txBox="1"/>
          <p:nvPr/>
        </p:nvSpPr>
        <p:spPr>
          <a:xfrm>
            <a:off x="2656332" y="1993392"/>
            <a:ext cx="17236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2"/>
                </a:solidFill>
              </a:rPr>
              <a:t>STEP 2</a:t>
            </a:r>
            <a:endParaRPr lang="en-US" sz="1000" dirty="0"/>
          </a:p>
        </p:txBody>
      </p:sp>
      <p:sp>
        <p:nvSpPr>
          <p:cNvPr id="12" name="flow-node"/>
          <p:cNvSpPr txBox="1"/>
          <p:nvPr/>
        </p:nvSpPr>
        <p:spPr>
          <a:xfrm>
            <a:off x="2747772" y="2286000"/>
            <a:ext cx="15407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受付係が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LINEに確認</a:t>
            </a:r>
            <a:endParaRPr lang="en-US" sz="1400" dirty="0"/>
          </a:p>
        </p:txBody>
      </p:sp>
      <p:pic>
        <p:nvPicPr>
          <p:cNvPr id="13" name="flow-arrow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3128" y="2441448"/>
            <a:ext cx="237744" cy="237744"/>
          </a:xfrm>
          <a:prstGeom prst="rect">
            <a:avLst/>
          </a:prstGeom>
        </p:spPr>
      </p:pic>
      <p:sp>
        <p:nvSpPr>
          <p:cNvPr id="14" name="card"/>
          <p:cNvSpPr/>
          <p:nvPr/>
        </p:nvSpPr>
        <p:spPr>
          <a:xfrm>
            <a:off x="4764024" y="1828800"/>
            <a:ext cx="1723644" cy="1463040"/>
          </a:xfrm>
          <a:prstGeom prst="roundRect">
            <a:avLst>
              <a:gd name="adj" fmla="val 7500"/>
            </a:avLst>
          </a:prstGeom>
          <a:solidFill>
            <a:schemeClr val="bg1"/>
          </a:solidFill>
          <a:ln w="19050">
            <a:solidFill>
              <a:srgbClr val="1A1A1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5" name="Text 10"/>
          <p:cNvSpPr txBox="1"/>
          <p:nvPr/>
        </p:nvSpPr>
        <p:spPr>
          <a:xfrm>
            <a:off x="4764024" y="1993392"/>
            <a:ext cx="17236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2"/>
                </a:solidFill>
              </a:rPr>
              <a:t>STEP 3</a:t>
            </a:r>
            <a:endParaRPr lang="en-US" sz="1000" dirty="0"/>
          </a:p>
        </p:txBody>
      </p:sp>
      <p:sp>
        <p:nvSpPr>
          <p:cNvPr id="16" name="flow-node"/>
          <p:cNvSpPr txBox="1"/>
          <p:nvPr/>
        </p:nvSpPr>
        <p:spPr>
          <a:xfrm>
            <a:off x="4855464" y="2286000"/>
            <a:ext cx="15407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本物なら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BASEに保存</a:t>
            </a:r>
            <a:endParaRPr lang="en-US" sz="1400" dirty="0"/>
          </a:p>
        </p:txBody>
      </p:sp>
      <p:pic>
        <p:nvPicPr>
          <p:cNvPr id="17" name="flow-arrow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0820" y="2441448"/>
            <a:ext cx="237744" cy="237744"/>
          </a:xfrm>
          <a:prstGeom prst="rect">
            <a:avLst/>
          </a:prstGeom>
        </p:spPr>
      </p:pic>
      <p:sp>
        <p:nvSpPr>
          <p:cNvPr id="18" name="card"/>
          <p:cNvSpPr/>
          <p:nvPr/>
        </p:nvSpPr>
        <p:spPr>
          <a:xfrm>
            <a:off x="6871716" y="1828800"/>
            <a:ext cx="1723644" cy="1463040"/>
          </a:xfrm>
          <a:prstGeom prst="roundRect">
            <a:avLst>
              <a:gd name="adj" fmla="val 7500"/>
            </a:avLst>
          </a:prstGeom>
          <a:solidFill>
            <a:schemeClr val="accent1"/>
          </a:solidFill>
          <a:ln w="19050">
            <a:solidFill>
              <a:srgbClr val="1A1A1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3"/>
          <p:cNvSpPr txBox="1"/>
          <p:nvPr/>
        </p:nvSpPr>
        <p:spPr>
          <a:xfrm>
            <a:off x="6871716" y="1993392"/>
            <a:ext cx="17236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2"/>
                </a:solidFill>
              </a:rPr>
              <a:t>STEP 4</a:t>
            </a:r>
            <a:endParaRPr lang="en-US" sz="1000" dirty="0"/>
          </a:p>
        </p:txBody>
      </p:sp>
      <p:sp>
        <p:nvSpPr>
          <p:cNvPr id="20" name="flow-node"/>
          <p:cNvSpPr txBox="1"/>
          <p:nvPr/>
        </p:nvSpPr>
        <p:spPr>
          <a:xfrm>
            <a:off x="6963156" y="2286000"/>
            <a:ext cx="15407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Larkに通知</a:t>
            </a:r>
            <a:endParaRPr lang="en-US" sz="1400" dirty="0"/>
          </a:p>
        </p:txBody>
      </p:sp>
      <p:sp>
        <p:nvSpPr>
          <p:cNvPr id="21" name="foot-box"/>
          <p:cNvSpPr/>
          <p:nvPr/>
        </p:nvSpPr>
        <p:spPr>
          <a:xfrm>
            <a:off x="548640" y="3794760"/>
            <a:ext cx="8046720" cy="502920"/>
          </a:xfrm>
          <a:prstGeom prst="roundRect">
            <a:avLst>
              <a:gd name="adj" fmla="val 1818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22" name="foot-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3922776"/>
            <a:ext cx="246888" cy="246888"/>
          </a:xfrm>
          <a:prstGeom prst="rect">
            <a:avLst/>
          </a:prstGeom>
        </p:spPr>
      </p:pic>
      <p:sp>
        <p:nvSpPr>
          <p:cNvPr id="23" name="foot-text"/>
          <p:cNvSpPr txBox="1"/>
          <p:nvPr/>
        </p:nvSpPr>
        <p:spPr>
          <a:xfrm>
            <a:off x="1051560" y="3794760"/>
            <a:ext cx="7406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ページから送られてきた「ユーザーID」をそのまま信じない（なりすまし対策）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68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658368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通しで動かす</a:t>
            </a:r>
            <a:endParaRPr lang="en-US" sz="2400" dirty="0"/>
          </a:p>
        </p:txBody>
      </p:sp>
      <p:sp>
        <p:nvSpPr>
          <p:cNvPr id="3" name="chip"/>
          <p:cNvSpPr/>
          <p:nvPr/>
        </p:nvSpPr>
        <p:spPr>
          <a:xfrm>
            <a:off x="548640" y="292608"/>
            <a:ext cx="1755648" cy="292608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" name="chip-text"/>
          <p:cNvSpPr txBox="1"/>
          <p:nvPr/>
        </p:nvSpPr>
        <p:spPr>
          <a:xfrm>
            <a:off x="548640" y="292608"/>
            <a:ext cx="17556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ハンズオン② 20分</a:t>
            </a:r>
            <a:endParaRPr lang="en-US" sz="1100" dirty="0"/>
          </a:p>
        </p:txBody>
      </p:sp>
      <p:sp>
        <p:nvSpPr>
          <p:cNvPr id="5" name="step-num"/>
          <p:cNvSpPr/>
          <p:nvPr/>
        </p:nvSpPr>
        <p:spPr>
          <a:xfrm>
            <a:off x="548640" y="1572768"/>
            <a:ext cx="384048" cy="384048"/>
          </a:xfrm>
          <a:prstGeom prst="ellipse">
            <a:avLst/>
          </a:prstGeom>
          <a:solidFill>
            <a:schemeClr val="accent1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6" name="step-num-text"/>
          <p:cNvSpPr txBox="1"/>
          <p:nvPr/>
        </p:nvSpPr>
        <p:spPr>
          <a:xfrm>
            <a:off x="548640" y="15727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step-text"/>
          <p:cNvSpPr txBox="1"/>
          <p:nvPr/>
        </p:nvSpPr>
        <p:spPr>
          <a:xfrm>
            <a:off x="1097280" y="1463040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</a:rPr>
              <a:t>Cloudflareに LINE_CHANNEL_ID をシークレット登録する</a:t>
            </a:r>
            <a:endParaRPr lang="en-US" sz="1450" dirty="0"/>
          </a:p>
        </p:txBody>
      </p:sp>
      <p:sp>
        <p:nvSpPr>
          <p:cNvPr id="8" name="step-num"/>
          <p:cNvSpPr/>
          <p:nvPr/>
        </p:nvSpPr>
        <p:spPr>
          <a:xfrm>
            <a:off x="548640" y="2176272"/>
            <a:ext cx="384048" cy="384048"/>
          </a:xfrm>
          <a:prstGeom prst="ellipse">
            <a:avLst/>
          </a:prstGeom>
          <a:solidFill>
            <a:schemeClr val="accent1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9" name="step-num-text"/>
          <p:cNvSpPr txBox="1"/>
          <p:nvPr/>
        </p:nvSpPr>
        <p:spPr>
          <a:xfrm>
            <a:off x="548640" y="21762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2</a:t>
            </a:r>
            <a:endParaRPr lang="en-US" sz="1400" dirty="0"/>
          </a:p>
        </p:txBody>
      </p:sp>
      <p:sp>
        <p:nvSpPr>
          <p:cNvPr id="10" name="step-text"/>
          <p:cNvSpPr txBox="1"/>
          <p:nvPr/>
        </p:nvSpPr>
        <p:spPr>
          <a:xfrm>
            <a:off x="1097280" y="206654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</a:rPr>
              <a:t>Claude Codeに P-08「LINEユーザーの確認と保存」で頼む</a:t>
            </a:r>
            <a:endParaRPr lang="en-US" sz="1450" dirty="0"/>
          </a:p>
        </p:txBody>
      </p:sp>
      <p:sp>
        <p:nvSpPr>
          <p:cNvPr id="11" name="step-num"/>
          <p:cNvSpPr/>
          <p:nvPr/>
        </p:nvSpPr>
        <p:spPr>
          <a:xfrm>
            <a:off x="548640" y="2779776"/>
            <a:ext cx="384048" cy="384048"/>
          </a:xfrm>
          <a:prstGeom prst="ellipse">
            <a:avLst/>
          </a:prstGeom>
          <a:solidFill>
            <a:schemeClr val="accent1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12" name="step-num-text"/>
          <p:cNvSpPr txBox="1"/>
          <p:nvPr/>
        </p:nvSpPr>
        <p:spPr>
          <a:xfrm>
            <a:off x="548640" y="27797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3</a:t>
            </a:r>
            <a:endParaRPr lang="en-US" sz="1400" dirty="0"/>
          </a:p>
        </p:txBody>
      </p:sp>
      <p:sp>
        <p:nvSpPr>
          <p:cNvPr id="13" name="step-text"/>
          <p:cNvSpPr txBox="1"/>
          <p:nvPr/>
        </p:nvSpPr>
        <p:spPr>
          <a:xfrm>
            <a:off x="1097280" y="2670048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</a:rPr>
              <a:t>LINEから予約 → BASEに「受付経路＝LINE」で入る → Larkに通知、を確かめる</a:t>
            </a:r>
            <a:endParaRPr lang="en-US" sz="1450" dirty="0"/>
          </a:p>
        </p:txBody>
      </p:sp>
      <p:sp>
        <p:nvSpPr>
          <p:cNvPr id="14" name="step-num"/>
          <p:cNvSpPr/>
          <p:nvPr/>
        </p:nvSpPr>
        <p:spPr>
          <a:xfrm>
            <a:off x="548640" y="3383280"/>
            <a:ext cx="384048" cy="384048"/>
          </a:xfrm>
          <a:prstGeom prst="ellipse">
            <a:avLst/>
          </a:prstGeom>
          <a:solidFill>
            <a:schemeClr val="accent1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15" name="step-num-text"/>
          <p:cNvSpPr txBox="1"/>
          <p:nvPr/>
        </p:nvSpPr>
        <p:spPr>
          <a:xfrm>
            <a:off x="548640" y="3383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4</a:t>
            </a:r>
            <a:endParaRPr lang="en-US" sz="1400" dirty="0"/>
          </a:p>
        </p:txBody>
      </p:sp>
      <p:sp>
        <p:nvSpPr>
          <p:cNvPr id="16" name="step-text"/>
          <p:cNvSpPr txBox="1"/>
          <p:nvPr/>
        </p:nvSpPr>
        <p:spPr>
          <a:xfrm>
            <a:off x="1097280" y="3273552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</a:rPr>
              <a:t>リッチメニューに「予約する」ボタンを作り、LIFFのURLにリンクする</a:t>
            </a:r>
            <a:endParaRPr lang="en-US" sz="1450" dirty="0"/>
          </a:p>
        </p:txBody>
      </p:sp>
      <p:sp>
        <p:nvSpPr>
          <p:cNvPr id="17" name="foot-box"/>
          <p:cNvSpPr/>
          <p:nvPr/>
        </p:nvSpPr>
        <p:spPr>
          <a:xfrm>
            <a:off x="548640" y="3977640"/>
            <a:ext cx="8046720" cy="502920"/>
          </a:xfrm>
          <a:prstGeom prst="roundRect">
            <a:avLst>
              <a:gd name="adj" fmla="val 1818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18" name="foot-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4105656"/>
            <a:ext cx="246888" cy="246888"/>
          </a:xfrm>
          <a:prstGeom prst="rect">
            <a:avLst/>
          </a:prstGeom>
        </p:spPr>
      </p:pic>
      <p:sp>
        <p:nvSpPr>
          <p:cNvPr id="19" name="foot-text"/>
          <p:cNvSpPr txBox="1"/>
          <p:nvPr/>
        </p:nvSpPr>
        <p:spPr>
          <a:xfrm>
            <a:off x="1051560" y="3977640"/>
            <a:ext cx="7406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お客様向けのページには「何の情報を・何のために使うか」を一言書く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68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658368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宿題と、今日のチェック</a:t>
            </a:r>
            <a:endParaRPr lang="en-US" sz="2400" dirty="0"/>
          </a:p>
        </p:txBody>
      </p:sp>
      <p:sp>
        <p:nvSpPr>
          <p:cNvPr id="3" name="chip"/>
          <p:cNvSpPr/>
          <p:nvPr/>
        </p:nvSpPr>
        <p:spPr>
          <a:xfrm>
            <a:off x="548640" y="292608"/>
            <a:ext cx="795528" cy="292608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4" name="chip-text"/>
          <p:cNvSpPr txBox="1"/>
          <p:nvPr/>
        </p:nvSpPr>
        <p:spPr>
          <a:xfrm>
            <a:off x="548640" y="292608"/>
            <a:ext cx="795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まとめ</a:t>
            </a:r>
            <a:endParaRPr lang="en-US" sz="1100" dirty="0"/>
          </a:p>
        </p:txBody>
      </p:sp>
      <p:sp>
        <p:nvSpPr>
          <p:cNvPr id="5" name="card"/>
          <p:cNvSpPr/>
          <p:nvPr/>
        </p:nvSpPr>
        <p:spPr>
          <a:xfrm>
            <a:off x="548640" y="1463040"/>
            <a:ext cx="3886200" cy="301752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 w="19050">
            <a:solidFill>
              <a:srgbClr val="1A1A1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6" name="icon-circle"/>
          <p:cNvSpPr/>
          <p:nvPr/>
        </p:nvSpPr>
        <p:spPr>
          <a:xfrm>
            <a:off x="777240" y="1645920"/>
            <a:ext cx="457200" cy="457200"/>
          </a:xfrm>
          <a:prstGeom prst="ellipse">
            <a:avLst/>
          </a:prstGeom>
          <a:solidFill>
            <a:schemeClr val="accent1"/>
          </a:solidFill>
          <a:ln w="15875">
            <a:solidFill>
              <a:srgbClr val="1A1A1A"/>
            </a:solidFill>
            <a:prstDash val="solid"/>
          </a:ln>
        </p:spPr>
      </p:sp>
      <p:pic>
        <p:nvPicPr>
          <p:cNvPr id="7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1764792"/>
            <a:ext cx="219456" cy="219456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371600" y="16459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宿題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2286000"/>
            <a:ext cx="347472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社内の2人以上にLINEから予約してもらい、通しで動くかテストする</a:t>
            </a:r>
            <a:endParaRPr lang="en-US" sz="1350" dirty="0"/>
          </a:p>
        </p:txBody>
      </p:sp>
      <p:sp>
        <p:nvSpPr>
          <p:cNvPr id="10" name="card"/>
          <p:cNvSpPr/>
          <p:nvPr/>
        </p:nvSpPr>
        <p:spPr>
          <a:xfrm>
            <a:off x="4709160" y="1463040"/>
            <a:ext cx="3886200" cy="3017520"/>
          </a:xfrm>
          <a:prstGeom prst="roundRect">
            <a:avLst>
              <a:gd name="adj" fmla="val 3636"/>
            </a:avLst>
          </a:prstGeom>
          <a:solidFill>
            <a:schemeClr val="bg1"/>
          </a:solidFill>
          <a:ln w="19050">
            <a:solidFill>
              <a:srgbClr val="1A1A1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icon-circle"/>
          <p:cNvSpPr/>
          <p:nvPr/>
        </p:nvSpPr>
        <p:spPr>
          <a:xfrm>
            <a:off x="4937760" y="1645920"/>
            <a:ext cx="457200" cy="457200"/>
          </a:xfrm>
          <a:prstGeom prst="ellipse">
            <a:avLst/>
          </a:prstGeom>
          <a:solidFill>
            <a:schemeClr val="accent1"/>
          </a:solidFill>
          <a:ln w="15875">
            <a:solidFill>
              <a:srgbClr val="1A1A1A"/>
            </a:solidFill>
            <a:prstDash val="solid"/>
          </a:ln>
        </p:spPr>
      </p:sp>
      <p:pic>
        <p:nvPicPr>
          <p:cNvPr id="12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6632" y="1764792"/>
            <a:ext cx="219456" cy="219456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5532120" y="16459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できたらチェック</a:t>
            </a:r>
            <a:endParaRPr lang="en-US" sz="1700" dirty="0"/>
          </a:p>
        </p:txBody>
      </p:sp>
      <p:sp>
        <p:nvSpPr>
          <p:cNvPr id="14" name="Text 10"/>
          <p:cNvSpPr txBox="1"/>
          <p:nvPr/>
        </p:nvSpPr>
        <p:spPr>
          <a:xfrm>
            <a:off x="4937760" y="2286000"/>
            <a:ext cx="347472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350" dirty="0">
                <a:solidFill>
                  <a:schemeClr val="tx1"/>
                </a:solidFill>
              </a:rPr>
              <a:t>☐ LINEの中で受付ページが開く</a:t>
            </a:r>
            <a:endParaRPr lang="en-US" sz="13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50" dirty="0">
                <a:solidFill>
                  <a:schemeClr val="tx1"/>
                </a:solidFill>
              </a:rPr>
              <a:t>☐ LINEから送った予約がBASEに入り、Larkに通知が届く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68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63040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次回：第11回 安全に運用・改善する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60604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わからないところは、講座グループでいつでも質問してください。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APIキーやパスワードは送らないでください。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anaberu">
  <a:themeElements>
    <a:clrScheme name="Manaberu">
      <a:dk1>
        <a:srgbClr val="1A1A1A"/>
      </a:dk1>
      <a:lt1>
        <a:srgbClr val="FFFFFF"/>
      </a:lt1>
      <a:dk2>
        <a:srgbClr val="5A6872"/>
      </a:dk2>
      <a:lt2>
        <a:srgbClr val="FFF6CC"/>
      </a:lt2>
      <a:accent1>
        <a:srgbClr val="FFD600"/>
      </a:accent1>
      <a:accent2>
        <a:srgbClr val="DD6420"/>
      </a:accent2>
      <a:accent3>
        <a:srgbClr val="3370FF"/>
      </a:accent3>
      <a:accent4>
        <a:srgbClr val="06C755"/>
      </a:accent4>
      <a:accent5>
        <a:srgbClr val="E53935"/>
      </a:accent5>
      <a:accent6>
        <a:srgbClr val="F5A623"/>
      </a:accent6>
      <a:hlink>
        <a:srgbClr val="3370FF"/>
      </a:hlink>
      <a:folHlink>
        <a:srgbClr val="6B4FBB"/>
      </a:folHlink>
    </a:clrScheme>
    <a:fontScheme name="Manaberu">
      <a:majorFont>
        <a:latin typeface="Yu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Yu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ささエール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マナベル 第10回 LINEとつなぐ（LIFF）</dc:title>
  <dc:subject>PptxGenJS Presentation</dc:subject>
  <dc:creator>ささエール（Office Plata）</dc:creator>
  <cp:lastModifiedBy>ささエール（Office Plata）</cp:lastModifiedBy>
  <cp:revision>1</cp:revision>
  <dcterms:created xsi:type="dcterms:W3CDTF">2026-10-02T10:43:48Z</dcterms:created>
  <dcterms:modified xsi:type="dcterms:W3CDTF">2026-10-02T10:43:48Z</dcterms:modified>
</cp:coreProperties>
</file>