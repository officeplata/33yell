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45f28b00-07f4-b805-db91-64c07319600d}">
          <p14:sldIdLst>
            <p14:sldId id="256"/>
            <p14:sldId id="257"/>
          </p14:sldIdLst>
        </p14:section>
        <p14:section name="本編" id="{59966d1d-f635-a42f-3d5e-42f6b6e86e67}">
          <p14:sldIdLst>
            <p14:sldId id="258"/>
            <p14:sldId id="259"/>
            <p14:sldId id="260"/>
            <p14:sldId id="261"/>
            <p14:sldId id="262"/>
          </p14:sldIdLst>
        </p14:section>
        <p14:section name="まとめ" id="{328cf8e3-5f08-c04f-cad6-376cae79fc3a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第10回「LINEとつなぐ（LIFF）」。前回の宿題の提出状況を確認してから始める。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LINEログインチャネルとMessaging APIチャネルの混同が一番多い。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通知が自動化で届かない場合は、カスタムボットのWebhookへ受付係から送る方法がある。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講師のスマホのLINEで実際に開いて見せる。デモ画面は通信を差し替えて撮影したもの。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754880"/>
            <a:ext cx="2423160" cy="274320"/>
          </a:xfrm>
          <a:prstGeom prst="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6510528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ささエール｜OFFICE PLATA</a:t>
            </a:r>
            <a:endParaRPr lang="ja-JP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マナベル　第10回　LINEとつなぐ（LIFF）</a:t>
            </a:r>
            <a:endParaRPr lang="ja-JP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411480"/>
            <a:ext cx="1600200" cy="60350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第10回</a:t>
            </a:r>
            <a:endParaRPr lang="ja-JP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ja-JP" altLang="en-US" sz="39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LINEとつなぐ（LIFF）</a:t>
            </a:r>
            <a:endParaRPr lang="ja-JP" sz="3900" dirty="0"/>
          </a:p>
        </p:txBody>
      </p:sp>
      <p:sp>
        <p:nvSpPr>
          <p:cNvPr id="5" name="Text 2"/>
          <p:cNvSpPr txBox="1"/>
          <p:nvPr/>
        </p:nvSpPr>
        <p:spPr>
          <a:xfrm rot="-120000">
            <a:off x="457200" y="2971800"/>
            <a:ext cx="49377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フェーズ4 サービスにする｜第7週</a:t>
            </a:r>
            <a:endParaRPr lang="ja-JP" sz="1600" dirty="0"/>
          </a:p>
        </p:txBody>
      </p:sp>
      <p:sp>
        <p:nvSpPr>
          <p:cNvPr id="6" name="card"/>
          <p:cNvSpPr/>
          <p:nvPr/>
        </p:nvSpPr>
        <p:spPr>
          <a:xfrm>
            <a:off x="457200" y="3730752"/>
            <a:ext cx="493776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58368" y="37673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ja-JP" alt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マナベル｜AI×Lark 構築者育成講座</a:t>
            </a:r>
            <a:endParaRPr lang="ja-JP" sz="15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 ／ OFFICE PLATA　笹原 彰朗</a:t>
            </a:r>
            <a:endParaRPr lang="ja-JP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040587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はじめに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今日のゴールと流れ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685800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82496"/>
            <a:ext cx="219456" cy="219456"/>
          </a:xfrm>
          <a:prstGeom prst="rect">
            <a:avLst/>
          </a:prstGeom>
        </p:spPr>
      </p:pic>
      <p:sp>
        <p:nvSpPr>
          <p:cNvPr id="7" name="goal"/>
          <p:cNvSpPr txBox="1"/>
          <p:nvPr/>
        </p:nvSpPr>
        <p:spPr>
          <a:xfrm>
            <a:off x="1252728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LINEの中で自分の受付ページを開ける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4700016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4882896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682496"/>
            <a:ext cx="219456" cy="219456"/>
          </a:xfrm>
          <a:prstGeom prst="rect">
            <a:avLst/>
          </a:prstGeom>
        </p:spPr>
      </p:pic>
      <p:sp>
        <p:nvSpPr>
          <p:cNvPr id="11" name="goal"/>
          <p:cNvSpPr txBox="1"/>
          <p:nvPr/>
        </p:nvSpPr>
        <p:spPr>
          <a:xfrm>
            <a:off x="5449824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「LINEで予約 → BASEに保存 → Larkに通知」が通しで動く</a:t>
            </a:r>
            <a:endParaRPr lang="ja-JP" sz="1400" dirty="0"/>
          </a:p>
        </p:txBody>
      </p:sp>
      <p:sp>
        <p:nvSpPr>
          <p:cNvPr id="12" name="Text 8"/>
          <p:cNvSpPr txBox="1"/>
          <p:nvPr/>
        </p:nvSpPr>
        <p:spPr>
          <a:xfrm rot="-120000">
            <a:off x="457200" y="2907792"/>
            <a:ext cx="191566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今日の流れ（90分）</a:t>
            </a:r>
            <a:endParaRPr lang="ja-JP" sz="1100" dirty="0"/>
          </a:p>
        </p:txBody>
      </p:sp>
      <p:sp>
        <p:nvSpPr>
          <p:cNvPr id="13" name="Shape 9"/>
          <p:cNvSpPr/>
          <p:nvPr/>
        </p:nvSpPr>
        <p:spPr>
          <a:xfrm>
            <a:off x="502920" y="3364992"/>
            <a:ext cx="813816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ime-block"/>
          <p:cNvSpPr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ふりかえり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6" name="time-block"/>
          <p:cNvSpPr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8" name="time-block"/>
          <p:cNvSpPr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0" name="time-block"/>
          <p:cNvSpPr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22" name="time-block"/>
          <p:cNvSpPr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4" name="time-block"/>
          <p:cNvSpPr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質問・共有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15分</a:t>
            </a:r>
            <a:endParaRPr lang="ja-JP" sz="1050" dirty="0"/>
          </a:p>
        </p:txBody>
      </p:sp>
      <p:sp>
        <p:nvSpPr>
          <p:cNvPr id="26" name="time-block"/>
          <p:cNvSpPr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8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宿題</a:t>
            </a:r>
            <a:endParaRPr lang="ja-JP" sz="8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5分</a:t>
            </a:r>
            <a:endParaRPr lang="ja-JP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　</a:t>
            </a:r>
            <a:pPr indent="0" marL="0">
              <a:buNone/>
            </a:pPr>
            <a:r>
              <a:rPr lang="ja-JP" altLang="en-US" sz="10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手を動かす</a:t>
            </a:r>
            <a:endParaRPr lang="ja-JP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LINE公式アカウントとLIFF</a:t>
            </a:r>
            <a:endParaRPr lang="ja-JP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351024"/>
                <a:gridCol w="578713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言葉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意味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LINE公式アカウント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お店・会社のLINE。お客様が友だち追加する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リッチメニュー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トーク画面の下のボタン。予約などの入口にする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LIFF（リフ）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LINEの中で開くWebページ。第8〜9回のページがそのまま使える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LINE Developers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LIFFなどの開発用設定をする管理画面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 rot="-60000">
            <a:off x="502920" y="411480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お客様はアプリを入れずにLINEのまま予約できる。本人の許可のうえで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「誰の予約か」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をBASEで追える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ハンズオン①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LIFFアプリを作る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417320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47584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417320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LINE Developersでプロバイダーを作る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2064715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2123237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2064715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「LINEログイン」チャネルを作る（Messaging APIではない）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712110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77063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712110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LIFFタブで追加：エンドポイント＝公開URL、スコープ＝profile・openid</a:t>
            </a:r>
            <a:endParaRPr lang="ja-JP" sz="1400" dirty="0"/>
          </a:p>
        </p:txBody>
      </p:sp>
      <p:sp>
        <p:nvSpPr>
          <p:cNvPr id="14" name="card"/>
          <p:cNvSpPr/>
          <p:nvPr/>
        </p:nvSpPr>
        <p:spPr>
          <a:xfrm>
            <a:off x="502920" y="3359506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" y="3418027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6" name="step-text"/>
          <p:cNvSpPr txBox="1"/>
          <p:nvPr/>
        </p:nvSpPr>
        <p:spPr>
          <a:xfrm>
            <a:off x="1234440" y="3359506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Codeに P-07「LIFF対応」で頼む</a:t>
            </a:r>
            <a:endParaRPr lang="ja-JP" sz="1400" dirty="0"/>
          </a:p>
        </p:txBody>
      </p:sp>
      <p:sp>
        <p:nvSpPr>
          <p:cNvPr id="17" name="card"/>
          <p:cNvSpPr/>
          <p:nvPr/>
        </p:nvSpPr>
        <p:spPr>
          <a:xfrm>
            <a:off x="502920" y="4006901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" y="406542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5</a:t>
            </a:r>
            <a:endParaRPr lang="ja-JP" sz="1500" dirty="0"/>
          </a:p>
        </p:txBody>
      </p:sp>
      <p:sp>
        <p:nvSpPr>
          <p:cNvPr id="19" name="step-text"/>
          <p:cNvSpPr txBox="1"/>
          <p:nvPr/>
        </p:nvSpPr>
        <p:spPr>
          <a:xfrm>
            <a:off x="1234440" y="4006901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スマホのLINEで https://liff.line.me/（LIFF ID）を開く</a:t>
            </a:r>
            <a:endParaRPr lang="ja-JP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説明②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だれの予約かを安全につなぐ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 rot="-180000">
            <a:off x="918972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1</a:t>
            </a:r>
            <a:endParaRPr lang="ja-JP" sz="1000" dirty="0"/>
          </a:p>
        </p:txBody>
      </p:sp>
      <p:sp>
        <p:nvSpPr>
          <p:cNvPr id="7" name="flow-node"/>
          <p:cNvSpPr txBox="1"/>
          <p:nvPr/>
        </p:nvSpPr>
        <p:spPr>
          <a:xfrm>
            <a:off x="612648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LIFFで</a:t>
            </a:r>
            <a:endParaRPr lang="ja-JP" sz="1400" dirty="0"/>
          </a:p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IDトークン取得</a:t>
            </a:r>
            <a:endParaRPr lang="ja-JP" sz="1400" dirty="0"/>
          </a:p>
        </p:txBody>
      </p:sp>
      <p:pic>
        <p:nvPicPr>
          <p:cNvPr id="8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363724"/>
            <a:ext cx="256032" cy="256032"/>
          </a:xfrm>
          <a:prstGeom prst="rect">
            <a:avLst/>
          </a:prstGeom>
        </p:spPr>
      </p:pic>
      <p:sp>
        <p:nvSpPr>
          <p:cNvPr id="9" name="card"/>
          <p:cNvSpPr/>
          <p:nvPr/>
        </p:nvSpPr>
        <p:spPr>
          <a:xfrm>
            <a:off x="2633472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 rot="-180000">
            <a:off x="3049524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2</a:t>
            </a:r>
            <a:endParaRPr lang="ja-JP" sz="1000" dirty="0"/>
          </a:p>
        </p:txBody>
      </p:sp>
      <p:sp>
        <p:nvSpPr>
          <p:cNvPr id="11" name="flow-node"/>
          <p:cNvSpPr txBox="1"/>
          <p:nvPr/>
        </p:nvSpPr>
        <p:spPr>
          <a:xfrm>
            <a:off x="2743200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受付係が</a:t>
            </a:r>
            <a:endParaRPr lang="ja-JP" sz="1400" dirty="0"/>
          </a:p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LINEに確認</a:t>
            </a:r>
            <a:endParaRPr lang="ja-JP" sz="1400" dirty="0"/>
          </a:p>
        </p:txBody>
      </p:sp>
      <p:pic>
        <p:nvPicPr>
          <p:cNvPr id="12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2363724"/>
            <a:ext cx="256032" cy="256032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764024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180000">
            <a:off x="5180076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3</a:t>
            </a:r>
            <a:endParaRPr lang="ja-JP" sz="1000" dirty="0"/>
          </a:p>
        </p:txBody>
      </p:sp>
      <p:sp>
        <p:nvSpPr>
          <p:cNvPr id="15" name="flow-node"/>
          <p:cNvSpPr txBox="1"/>
          <p:nvPr/>
        </p:nvSpPr>
        <p:spPr>
          <a:xfrm>
            <a:off x="4873752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本物なら</a:t>
            </a:r>
            <a:endParaRPr lang="ja-JP" sz="1400" dirty="0"/>
          </a:p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BASEに保存</a:t>
            </a:r>
            <a:endParaRPr lang="ja-JP" sz="1400" dirty="0"/>
          </a:p>
        </p:txBody>
      </p:sp>
      <p:pic>
        <p:nvPicPr>
          <p:cNvPr id="16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2363724"/>
            <a:ext cx="256032" cy="256032"/>
          </a:xfrm>
          <a:prstGeom prst="rect">
            <a:avLst/>
          </a:prstGeom>
        </p:spPr>
      </p:pic>
      <p:sp>
        <p:nvSpPr>
          <p:cNvPr id="17" name="card"/>
          <p:cNvSpPr/>
          <p:nvPr/>
        </p:nvSpPr>
        <p:spPr>
          <a:xfrm>
            <a:off x="6894576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5A623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2"/>
          <p:cNvSpPr txBox="1"/>
          <p:nvPr/>
        </p:nvSpPr>
        <p:spPr>
          <a:xfrm rot="-180000">
            <a:off x="7310628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4</a:t>
            </a:r>
            <a:endParaRPr lang="ja-JP" sz="1000" dirty="0"/>
          </a:p>
        </p:txBody>
      </p:sp>
      <p:sp>
        <p:nvSpPr>
          <p:cNvPr id="19" name="flow-node"/>
          <p:cNvSpPr txBox="1"/>
          <p:nvPr/>
        </p:nvSpPr>
        <p:spPr>
          <a:xfrm>
            <a:off x="7004304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Larkに通知</a:t>
            </a:r>
            <a:endParaRPr lang="ja-JP" sz="1400" dirty="0"/>
          </a:p>
        </p:txBody>
      </p:sp>
      <p:sp>
        <p:nvSpPr>
          <p:cNvPr id="20" name="Text 14"/>
          <p:cNvSpPr txBox="1"/>
          <p:nvPr/>
        </p:nvSpPr>
        <p:spPr>
          <a:xfrm rot="-60000">
            <a:off x="502920" y="379476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ページから送られてきた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「ユーザーID」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をそのまま信じない（なりすまし対策）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ハンズオン②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通しで動かす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72184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6" name="step-text"/>
          <p:cNvSpPr txBox="1"/>
          <p:nvPr/>
        </p:nvSpPr>
        <p:spPr>
          <a:xfrm>
            <a:off x="1234440" y="1417320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Cloudflareに LINE_CHANNEL_ID をシークレット登録する</a:t>
            </a:r>
            <a:endParaRPr lang="ja-JP" sz="1400" dirty="0"/>
          </a:p>
        </p:txBody>
      </p:sp>
      <p:sp>
        <p:nvSpPr>
          <p:cNvPr id="7" name="card"/>
          <p:cNvSpPr/>
          <p:nvPr/>
        </p:nvSpPr>
        <p:spPr>
          <a:xfrm>
            <a:off x="502920" y="2055114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109978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9" name="step-text"/>
          <p:cNvSpPr txBox="1"/>
          <p:nvPr/>
        </p:nvSpPr>
        <p:spPr>
          <a:xfrm>
            <a:off x="1234440" y="2055114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Codeに P-08「LINEユーザーの確認と保存」で頼む</a:t>
            </a:r>
            <a:endParaRPr lang="ja-JP" sz="1400" dirty="0"/>
          </a:p>
        </p:txBody>
      </p:sp>
      <p:sp>
        <p:nvSpPr>
          <p:cNvPr id="10" name="card"/>
          <p:cNvSpPr/>
          <p:nvPr/>
        </p:nvSpPr>
        <p:spPr>
          <a:xfrm>
            <a:off x="502920" y="2692908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" y="2747772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2" name="step-text"/>
          <p:cNvSpPr txBox="1"/>
          <p:nvPr/>
        </p:nvSpPr>
        <p:spPr>
          <a:xfrm>
            <a:off x="1234440" y="2692908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LINEから予約 → BASEに「受付経路＝LINE」で入る → Larkに通知、を確かめる</a:t>
            </a:r>
            <a:endParaRPr lang="ja-JP" sz="1400" dirty="0"/>
          </a:p>
        </p:txBody>
      </p:sp>
      <p:sp>
        <p:nvSpPr>
          <p:cNvPr id="13" name="card"/>
          <p:cNvSpPr/>
          <p:nvPr/>
        </p:nvSpPr>
        <p:spPr>
          <a:xfrm>
            <a:off x="502920" y="3330702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" y="3385566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5" name="step-text"/>
          <p:cNvSpPr txBox="1"/>
          <p:nvPr/>
        </p:nvSpPr>
        <p:spPr>
          <a:xfrm>
            <a:off x="1234440" y="3330702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リッチメニューに「予約する」ボタンを作り、LIFFのURLにリンクする</a:t>
            </a:r>
            <a:endParaRPr lang="ja-JP" sz="1400" dirty="0"/>
          </a:p>
        </p:txBody>
      </p:sp>
      <p:sp>
        <p:nvSpPr>
          <p:cNvPr id="16" name="Text 14"/>
          <p:cNvSpPr txBox="1"/>
          <p:nvPr/>
        </p:nvSpPr>
        <p:spPr>
          <a:xfrm rot="-60000">
            <a:off x="502920" y="4005072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お客様向けのページには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「何の情報を・何のために使うか」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を一言書く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332281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完成イメージ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LINEから開いたときの受付ページ</a:t>
            </a:r>
            <a:endParaRPr lang="ja-JP" sz="2600" dirty="0"/>
          </a:p>
        </p:txBody>
      </p:sp>
      <p:sp>
        <p:nvSpPr>
          <p:cNvPr id="5" name="phone-frame"/>
          <p:cNvSpPr/>
          <p:nvPr/>
        </p:nvSpPr>
        <p:spPr>
          <a:xfrm rot="-180000">
            <a:off x="640080" y="1463040"/>
            <a:ext cx="1541433" cy="3099816"/>
          </a:xfrm>
          <a:prstGeom prst="roundRect">
            <a:avLst>
              <a:gd name="adj" fmla="val 830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pic>
        <p:nvPicPr>
          <p:cNvPr id="6" name="phone-screen" descr="LINEの中で開いた予約ページ。名前が自動で入ってい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180000">
            <a:off x="704088" y="1527048"/>
            <a:ext cx="1413417" cy="2971800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2547273" y="1417320"/>
            <a:ext cx="6093807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8" name="icon-circle"/>
          <p:cNvSpPr/>
          <p:nvPr/>
        </p:nvSpPr>
        <p:spPr>
          <a:xfrm>
            <a:off x="2730153" y="165506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305" y="1728216"/>
            <a:ext cx="146304" cy="146304"/>
          </a:xfrm>
          <a:prstGeom prst="rect">
            <a:avLst/>
          </a:prstGeom>
        </p:spPr>
      </p:pic>
      <p:sp>
        <p:nvSpPr>
          <p:cNvPr id="10" name="point-head"/>
          <p:cNvSpPr txBox="1"/>
          <p:nvPr/>
        </p:nvSpPr>
        <p:spPr>
          <a:xfrm>
            <a:off x="3114201" y="1572768"/>
            <a:ext cx="5362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LINEの中で開くと表示が変わる</a:t>
            </a:r>
            <a:endParaRPr lang="ja-JP" sz="1300" dirty="0"/>
          </a:p>
        </p:txBody>
      </p:sp>
      <p:sp>
        <p:nvSpPr>
          <p:cNvPr id="11" name="point-body"/>
          <p:cNvSpPr txBox="1"/>
          <p:nvPr/>
        </p:nvSpPr>
        <p:spPr>
          <a:xfrm>
            <a:off x="3114201" y="2048256"/>
            <a:ext cx="5362287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「LINEから予約しています」と出て、お名前にはLINEの登録名が入る（お客様が直せる）</a:t>
            </a:r>
            <a:endParaRPr lang="ja-JP" sz="1150" dirty="0"/>
          </a:p>
        </p:txBody>
      </p:sp>
      <p:sp>
        <p:nvSpPr>
          <p:cNvPr id="12" name="icon-circle"/>
          <p:cNvSpPr/>
          <p:nvPr/>
        </p:nvSpPr>
        <p:spPr>
          <a:xfrm>
            <a:off x="2730153" y="261518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05" y="2688336"/>
            <a:ext cx="146304" cy="146304"/>
          </a:xfrm>
          <a:prstGeom prst="rect">
            <a:avLst/>
          </a:prstGeom>
        </p:spPr>
      </p:pic>
      <p:sp>
        <p:nvSpPr>
          <p:cNvPr id="14" name="point-head"/>
          <p:cNvSpPr txBox="1"/>
          <p:nvPr/>
        </p:nvSpPr>
        <p:spPr>
          <a:xfrm>
            <a:off x="3114201" y="2532888"/>
            <a:ext cx="5362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保存されるのは、確認できたIDだけ</a:t>
            </a:r>
            <a:endParaRPr lang="ja-JP" sz="1300" dirty="0"/>
          </a:p>
        </p:txBody>
      </p:sp>
      <p:sp>
        <p:nvSpPr>
          <p:cNvPr id="15" name="point-body"/>
          <p:cNvSpPr txBox="1"/>
          <p:nvPr/>
        </p:nvSpPr>
        <p:spPr>
          <a:xfrm>
            <a:off x="3114201" y="3008376"/>
            <a:ext cx="5362287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受付係がLINEにIDトークンを問い合わせ、本物だったときだけLINEユーザーIDをBASEに保存する</a:t>
            </a:r>
            <a:endParaRPr lang="ja-JP" sz="1150" dirty="0"/>
          </a:p>
        </p:txBody>
      </p:sp>
      <p:sp>
        <p:nvSpPr>
          <p:cNvPr id="16" name="icon-circle"/>
          <p:cNvSpPr/>
          <p:nvPr/>
        </p:nvSpPr>
        <p:spPr>
          <a:xfrm>
            <a:off x="2730153" y="357530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3305" y="3648456"/>
            <a:ext cx="146304" cy="146304"/>
          </a:xfrm>
          <a:prstGeom prst="rect">
            <a:avLst/>
          </a:prstGeom>
        </p:spPr>
      </p:pic>
      <p:sp>
        <p:nvSpPr>
          <p:cNvPr id="18" name="point-head"/>
          <p:cNvSpPr txBox="1"/>
          <p:nvPr/>
        </p:nvSpPr>
        <p:spPr>
          <a:xfrm>
            <a:off x="3114201" y="3493008"/>
            <a:ext cx="5362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ブラウザで開いたときは</a:t>
            </a:r>
            <a:endParaRPr lang="ja-JP" sz="1300" dirty="0"/>
          </a:p>
        </p:txBody>
      </p:sp>
      <p:sp>
        <p:nvSpPr>
          <p:cNvPr id="19" name="point-body"/>
          <p:cNvSpPr txBox="1"/>
          <p:nvPr/>
        </p:nvSpPr>
        <p:spPr>
          <a:xfrm>
            <a:off x="3114201" y="3968496"/>
            <a:ext cx="5362287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普通のフォームとして動き、受付経路は「フォーム」で保存される</a:t>
            </a:r>
            <a:endParaRPr lang="ja-JP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894740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まとめ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宿題と、今日のチェック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</a:t>
            </a:r>
            <a:endParaRPr lang="ja-JP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社内の2人以上にLINEから予約してもらい、通しで動くかテストする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470916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91032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628" y="171450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できたらチェック</a:t>
            </a:r>
            <a:endParaRPr lang="ja-JP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LINEの中で受付ページが開く</a:t>
            </a:r>
            <a:endParaRPr lang="ja-JP" sz="1350" dirty="0"/>
          </a:p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LINEから送った予約がBASEに入り、Larkに通知が届く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548640"/>
            <a:ext cx="1280160" cy="548640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0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次回</a:t>
            </a:r>
            <a:endParaRPr lang="ja-JP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第11回</a:t>
            </a:r>
            <a:endParaRPr lang="ja-JP" sz="3200" dirty="0"/>
          </a:p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安全に運用・改善する</a:t>
            </a:r>
            <a:endParaRPr lang="ja-JP" sz="3200" dirty="0"/>
          </a:p>
        </p:txBody>
      </p:sp>
      <p:sp>
        <p:nvSpPr>
          <p:cNvPr id="5" name="card"/>
          <p:cNvSpPr/>
          <p:nvPr/>
        </p:nvSpPr>
        <p:spPr>
          <a:xfrm>
            <a:off x="457200" y="3108960"/>
            <a:ext cx="53949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32004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わからないところは、講座グループでいつでも質問してください。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APIキーやパスワードは送らないでください。</a:t>
            </a:r>
            <a:endParaRPr lang="ja-JP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saYell">
  <a:themeElements>
    <a:clrScheme name="SasaYell">
      <a:dk1>
        <a:srgbClr val="1A1A1A"/>
      </a:dk1>
      <a:lt1>
        <a:srgbClr val="FFFFFF"/>
      </a:lt1>
      <a:dk2>
        <a:srgbClr val="1A1A1A"/>
      </a:dk2>
      <a:lt2>
        <a:srgbClr val="FFD600"/>
      </a:lt2>
      <a:accent1>
        <a:srgbClr val="FFD600"/>
      </a:accent1>
      <a:accent2>
        <a:srgbClr val="DD6420"/>
      </a:accent2>
      <a:accent3>
        <a:srgbClr val="F5A623"/>
      </a:accent3>
      <a:accent4>
        <a:srgbClr val="1A1A1A"/>
      </a:accent4>
      <a:accent5>
        <a:srgbClr val="FFFFFF"/>
      </a:accent5>
      <a:accent6>
        <a:srgbClr val="DD6420"/>
      </a:accent6>
      <a:hlink>
        <a:srgbClr val="DD6420"/>
      </a:hlink>
      <a:folHlink>
        <a:srgbClr val="F5A623"/>
      </a:folHlink>
    </a:clrScheme>
    <a:fontScheme name="SasaYell">
      <a:majorFont>
        <a:latin typeface="Dela Gothic One"/>
        <a:ea typeface="けいふぉんと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第10回 LINEとつなぐ（LIFF）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2026-10-08T07:08:42Z</dcterms:created>
  <dcterms:modified xsi:type="dcterms:W3CDTF">2026-10-08T07:08:42Z</dcterms:modified>
</cp:coreProperties>
</file>