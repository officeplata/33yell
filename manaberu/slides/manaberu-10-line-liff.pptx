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a3945ca4-a40f-a846-c477-f5b5c7c1dbf0}">
          <p14:sldIdLst>
            <p14:sldId id="256"/>
            <p14:sldId id="257"/>
          </p14:sldIdLst>
        </p14:section>
        <p14:section name="本編" id="{c38dbf1d-cde2-accd-3864-16f5b01aacb1}">
          <p14:sldIdLst>
            <p14:sldId id="258"/>
            <p14:sldId id="259"/>
            <p14:sldId id="260"/>
            <p14:sldId id="261"/>
            <p14:sldId id="262"/>
          </p14:sldIdLst>
        </p14:section>
        <p14:section name="まとめ" id="{1fcffe12-97f6-3de8-7ac7-dfafc52cd78d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第10回「LINEとつなぐ（LIFF）」。前回の宿題の提出状況を確認してから始める。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LINEログインチャネルとMessaging APIチャネルの混同が一番多い。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通知が自動化で届かない場合は、カスタムボットのWebhookへ受付係から送る方法がある。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講師のスマホのLINEで実際に開いて見せる。デモ画面は通信を差し替えて撮影したもの。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第10回　LINEとつなぐ（LIFF）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第10回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LINEとつなぐ（LIFF）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フェーズ4 サービスにする　｜　第7週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LINEの中で自分の受付ページを開ける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8630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86918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16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541782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「LINEで予約 → BASEに保存 → Larkに通知」が通しで動く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4" name="time-block"/>
          <p:cNvSpPr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ふりかえり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6" name="time-block"/>
          <p:cNvSpPr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8" name="time-block"/>
          <p:cNvSpPr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0" name="time-block"/>
          <p:cNvSpPr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質問・共有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15分</a:t>
            </a:r>
            <a:endParaRPr lang="en-US" sz="1050" dirty="0"/>
          </a:p>
        </p:txBody>
      </p:sp>
      <p:sp>
        <p:nvSpPr>
          <p:cNvPr id="26" name="time-block"/>
          <p:cNvSpPr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宿題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LINE公式アカウントとLIFF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324608"/>
                <a:gridCol w="572211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言葉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意味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LINE公式アカウント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お店・会社のLINE。お客様が友だち追加する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リッチメニュー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トーク画面の下のボタン。予約などの入口にする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LIFF（リフ）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LINEの中で開くWebページ。第8〜9回のページがそのまま使える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LINE Developers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LIFFなどの開発用設定をする管理画面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8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お客様はアプリを入れずにLINEのまま予約できる。本人の許可のうえで「誰の予約か」をBASEで追える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LIFFアプリを作る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ハンズオン①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57276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46304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LINE Developersでプロバイダーを作る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06654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「LINEログイン」チャネルを作る（Messaging APIではない）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277977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67004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LIFFタブで追加：エンドポイント＝公開URL、スコープ＝profile・openid</a:t>
            </a:r>
            <a:endParaRPr lang="en-US" sz="1450" dirty="0"/>
          </a:p>
        </p:txBody>
      </p:sp>
      <p:sp>
        <p:nvSpPr>
          <p:cNvPr id="15" name="step-num"/>
          <p:cNvSpPr/>
          <p:nvPr/>
        </p:nvSpPr>
        <p:spPr>
          <a:xfrm>
            <a:off x="548640" y="338328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step-num-text"/>
          <p:cNvSpPr txBox="1"/>
          <p:nvPr/>
        </p:nvSpPr>
        <p:spPr>
          <a:xfrm>
            <a:off x="5486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step-text"/>
          <p:cNvSpPr txBox="1"/>
          <p:nvPr/>
        </p:nvSpPr>
        <p:spPr>
          <a:xfrm>
            <a:off x="1097280" y="327355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Claude Codeに P-07「LIFF対応」で頼む</a:t>
            </a:r>
            <a:endParaRPr lang="en-US" sz="1450" dirty="0"/>
          </a:p>
        </p:txBody>
      </p:sp>
      <p:sp>
        <p:nvSpPr>
          <p:cNvPr id="18" name="step-num"/>
          <p:cNvSpPr/>
          <p:nvPr/>
        </p:nvSpPr>
        <p:spPr>
          <a:xfrm>
            <a:off x="548640" y="3986784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9" name="step-num-text"/>
          <p:cNvSpPr txBox="1"/>
          <p:nvPr/>
        </p:nvSpPr>
        <p:spPr>
          <a:xfrm>
            <a:off x="54864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step-text"/>
          <p:cNvSpPr txBox="1"/>
          <p:nvPr/>
        </p:nvSpPr>
        <p:spPr>
          <a:xfrm>
            <a:off x="1097280" y="3877056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スマホのLINEで https://liff.line.me/（LIFF ID）を開く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だれの予約かを安全につなぐ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説明②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48640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1</a:t>
            </a:r>
            <a:endParaRPr lang="en-US" sz="1000" dirty="0"/>
          </a:p>
        </p:txBody>
      </p:sp>
      <p:sp>
        <p:nvSpPr>
          <p:cNvPr id="8" name="flow-node"/>
          <p:cNvSpPr txBox="1"/>
          <p:nvPr/>
        </p:nvSpPr>
        <p:spPr>
          <a:xfrm>
            <a:off x="640080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LIFFで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IDトークン取得</a:t>
            </a:r>
            <a:endParaRPr lang="en-US" sz="1400" dirty="0"/>
          </a:p>
        </p:txBody>
      </p:sp>
      <p:pic>
        <p:nvPicPr>
          <p:cNvPr id="9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5436" y="2441448"/>
            <a:ext cx="237744" cy="237744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656332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656332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2</a:t>
            </a:r>
            <a:endParaRPr lang="en-US" sz="1000" dirty="0"/>
          </a:p>
        </p:txBody>
      </p:sp>
      <p:sp>
        <p:nvSpPr>
          <p:cNvPr id="12" name="flow-node"/>
          <p:cNvSpPr txBox="1"/>
          <p:nvPr/>
        </p:nvSpPr>
        <p:spPr>
          <a:xfrm>
            <a:off x="2747772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受付係が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LINEに確認</a:t>
            </a:r>
            <a:endParaRPr lang="en-US" sz="1400" dirty="0"/>
          </a:p>
        </p:txBody>
      </p:sp>
      <p:pic>
        <p:nvPicPr>
          <p:cNvPr id="13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441448"/>
            <a:ext cx="237744" cy="237744"/>
          </a:xfrm>
          <a:prstGeom prst="rect">
            <a:avLst/>
          </a:prstGeom>
        </p:spPr>
      </p:pic>
      <p:sp>
        <p:nvSpPr>
          <p:cNvPr id="14" name="card"/>
          <p:cNvSpPr/>
          <p:nvPr/>
        </p:nvSpPr>
        <p:spPr>
          <a:xfrm>
            <a:off x="4764024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4764024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3</a:t>
            </a:r>
            <a:endParaRPr lang="en-US" sz="1000" dirty="0"/>
          </a:p>
        </p:txBody>
      </p:sp>
      <p:sp>
        <p:nvSpPr>
          <p:cNvPr id="16" name="flow-node"/>
          <p:cNvSpPr txBox="1"/>
          <p:nvPr/>
        </p:nvSpPr>
        <p:spPr>
          <a:xfrm>
            <a:off x="4855464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本物なら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BASEに保存</a:t>
            </a:r>
            <a:endParaRPr lang="en-US" sz="1400" dirty="0"/>
          </a:p>
        </p:txBody>
      </p:sp>
      <p:pic>
        <p:nvPicPr>
          <p:cNvPr id="17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4414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6871716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6871716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4</a:t>
            </a:r>
            <a:endParaRPr lang="en-US" sz="1000" dirty="0"/>
          </a:p>
        </p:txBody>
      </p:sp>
      <p:sp>
        <p:nvSpPr>
          <p:cNvPr id="20" name="flow-node"/>
          <p:cNvSpPr txBox="1"/>
          <p:nvPr/>
        </p:nvSpPr>
        <p:spPr>
          <a:xfrm>
            <a:off x="6963156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Larkに通知</a:t>
            </a:r>
            <a:endParaRPr lang="en-US" sz="1400" dirty="0"/>
          </a:p>
        </p:txBody>
      </p:sp>
      <p:sp>
        <p:nvSpPr>
          <p:cNvPr id="21" name="foot-box"/>
          <p:cNvSpPr/>
          <p:nvPr/>
        </p:nvSpPr>
        <p:spPr>
          <a:xfrm>
            <a:off x="548640" y="379476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foot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22776"/>
            <a:ext cx="246888" cy="246888"/>
          </a:xfrm>
          <a:prstGeom prst="rect">
            <a:avLst/>
          </a:prstGeom>
        </p:spPr>
      </p:pic>
      <p:sp>
        <p:nvSpPr>
          <p:cNvPr id="23" name="foot-text"/>
          <p:cNvSpPr txBox="1"/>
          <p:nvPr/>
        </p:nvSpPr>
        <p:spPr>
          <a:xfrm>
            <a:off x="1051560" y="37947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ページから送られてきた「ユーザーID」をそのまま信じない（なりすまし対策）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通しで動かす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ハンズオン② 20分</a:t>
            </a:r>
            <a:endParaRPr lang="en-US" sz="1100" dirty="0"/>
          </a:p>
        </p:txBody>
      </p:sp>
      <p:sp>
        <p:nvSpPr>
          <p:cNvPr id="5" name="step-num"/>
          <p:cNvSpPr/>
          <p:nvPr/>
        </p:nvSpPr>
        <p:spPr>
          <a:xfrm>
            <a:off x="548640" y="157276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6" name="step-num-text"/>
          <p:cNvSpPr txBox="1"/>
          <p:nvPr/>
        </p:nvSpPr>
        <p:spPr>
          <a:xfrm>
            <a:off x="5486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ext"/>
          <p:cNvSpPr txBox="1"/>
          <p:nvPr/>
        </p:nvSpPr>
        <p:spPr>
          <a:xfrm>
            <a:off x="1097280" y="146304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Cloudflareに LINE_CHANNEL_ID をシークレット登録する</a:t>
            </a:r>
            <a:endParaRPr lang="en-US" sz="1450" dirty="0"/>
          </a:p>
        </p:txBody>
      </p:sp>
      <p:sp>
        <p:nvSpPr>
          <p:cNvPr id="8" name="step-num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9" name="step-num-text"/>
          <p:cNvSpPr txBox="1"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text"/>
          <p:cNvSpPr txBox="1"/>
          <p:nvPr/>
        </p:nvSpPr>
        <p:spPr>
          <a:xfrm>
            <a:off x="1097280" y="206654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Claude Codeに P-08「LINEユーザーの確認と保存」で頼む</a:t>
            </a:r>
            <a:endParaRPr lang="en-US" sz="1450" dirty="0"/>
          </a:p>
        </p:txBody>
      </p:sp>
      <p:sp>
        <p:nvSpPr>
          <p:cNvPr id="11" name="step-num"/>
          <p:cNvSpPr/>
          <p:nvPr/>
        </p:nvSpPr>
        <p:spPr>
          <a:xfrm>
            <a:off x="548640" y="277977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2" name="step-num-text"/>
          <p:cNvSpPr txBox="1"/>
          <p:nvPr/>
        </p:nvSpPr>
        <p:spPr>
          <a:xfrm>
            <a:off x="54864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text"/>
          <p:cNvSpPr txBox="1"/>
          <p:nvPr/>
        </p:nvSpPr>
        <p:spPr>
          <a:xfrm>
            <a:off x="1097280" y="267004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LINEから予約 → BASEに「受付経路＝LINE」で入る → Larkに通知、を確かめる</a:t>
            </a:r>
            <a:endParaRPr lang="en-US" sz="1450" dirty="0"/>
          </a:p>
        </p:txBody>
      </p:sp>
      <p:sp>
        <p:nvSpPr>
          <p:cNvPr id="14" name="step-num"/>
          <p:cNvSpPr/>
          <p:nvPr/>
        </p:nvSpPr>
        <p:spPr>
          <a:xfrm>
            <a:off x="548640" y="338328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5" name="step-num-text"/>
          <p:cNvSpPr txBox="1"/>
          <p:nvPr/>
        </p:nvSpPr>
        <p:spPr>
          <a:xfrm>
            <a:off x="5486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-text"/>
          <p:cNvSpPr txBox="1"/>
          <p:nvPr/>
        </p:nvSpPr>
        <p:spPr>
          <a:xfrm>
            <a:off x="1097280" y="327355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リッチメニューに「予約する」ボタンを作り、LIFFのURLにリンクする</a:t>
            </a:r>
            <a:endParaRPr lang="en-US" sz="1450" dirty="0"/>
          </a:p>
        </p:txBody>
      </p:sp>
      <p:sp>
        <p:nvSpPr>
          <p:cNvPr id="17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19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お客様向けのページには「何の情報を・何のために使うか」を一言書く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LINEから開いたときの受付ページ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20700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完成イメージ</a:t>
            </a:r>
            <a:endParaRPr lang="en-US" sz="1100" dirty="0"/>
          </a:p>
        </p:txBody>
      </p:sp>
      <p:sp>
        <p:nvSpPr>
          <p:cNvPr id="6" name="phone-frame"/>
          <p:cNvSpPr/>
          <p:nvPr/>
        </p:nvSpPr>
        <p:spPr>
          <a:xfrm>
            <a:off x="548640" y="1417320"/>
            <a:ext cx="1563178" cy="3145536"/>
          </a:xfrm>
          <a:prstGeom prst="roundRect">
            <a:avLst>
              <a:gd name="adj" fmla="val 8189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phone-screen" descr="LINEの中で開いた予約ページ。名前が自動で入ってい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481328"/>
            <a:ext cx="1435162" cy="3017520"/>
          </a:xfrm>
          <a:prstGeom prst="rect">
            <a:avLst/>
          </a:prstGeom>
        </p:spPr>
      </p:pic>
      <p:sp>
        <p:nvSpPr>
          <p:cNvPr id="8" name="phone-num"/>
          <p:cNvSpPr/>
          <p:nvPr/>
        </p:nvSpPr>
        <p:spPr>
          <a:xfrm>
            <a:off x="438912" y="1307592"/>
            <a:ext cx="365760" cy="36576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" y="1307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point-head"/>
          <p:cNvSpPr txBox="1"/>
          <p:nvPr/>
        </p:nvSpPr>
        <p:spPr>
          <a:xfrm>
            <a:off x="2477578" y="1417320"/>
            <a:ext cx="6117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LINEの中で開くと表示が変わる</a:t>
            </a:r>
            <a:endParaRPr lang="en-US" sz="1500" dirty="0"/>
          </a:p>
        </p:txBody>
      </p:sp>
      <p:sp>
        <p:nvSpPr>
          <p:cNvPr id="11" name="point-body"/>
          <p:cNvSpPr txBox="1"/>
          <p:nvPr/>
        </p:nvSpPr>
        <p:spPr>
          <a:xfrm>
            <a:off x="2477578" y="1801368"/>
            <a:ext cx="61177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「LINEから予約しています」と出て、お名前にはLINEの登録名が入る（お客様が直せる）</a:t>
            </a:r>
            <a:endParaRPr lang="en-US" sz="1250" dirty="0"/>
          </a:p>
        </p:txBody>
      </p:sp>
      <p:sp>
        <p:nvSpPr>
          <p:cNvPr id="12" name="point-head"/>
          <p:cNvSpPr txBox="1"/>
          <p:nvPr/>
        </p:nvSpPr>
        <p:spPr>
          <a:xfrm>
            <a:off x="2477578" y="2423160"/>
            <a:ext cx="6117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保存されるのは、確認できたIDだけ</a:t>
            </a:r>
            <a:endParaRPr lang="en-US" sz="1500" dirty="0"/>
          </a:p>
        </p:txBody>
      </p:sp>
      <p:sp>
        <p:nvSpPr>
          <p:cNvPr id="13" name="point-body"/>
          <p:cNvSpPr txBox="1"/>
          <p:nvPr/>
        </p:nvSpPr>
        <p:spPr>
          <a:xfrm>
            <a:off x="2477578" y="2807208"/>
            <a:ext cx="61177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受付係がLINEにIDトークンを問い合わせ、本物だったときだけLINEユーザーIDをBASEに保存する</a:t>
            </a:r>
            <a:endParaRPr lang="en-US" sz="1250" dirty="0"/>
          </a:p>
        </p:txBody>
      </p:sp>
      <p:sp>
        <p:nvSpPr>
          <p:cNvPr id="14" name="point-head"/>
          <p:cNvSpPr txBox="1"/>
          <p:nvPr/>
        </p:nvSpPr>
        <p:spPr>
          <a:xfrm>
            <a:off x="2477578" y="3429000"/>
            <a:ext cx="6117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ブラウザで開いたときは</a:t>
            </a:r>
            <a:endParaRPr lang="en-US" sz="1500" dirty="0"/>
          </a:p>
        </p:txBody>
      </p:sp>
      <p:sp>
        <p:nvSpPr>
          <p:cNvPr id="15" name="point-body"/>
          <p:cNvSpPr txBox="1"/>
          <p:nvPr/>
        </p:nvSpPr>
        <p:spPr>
          <a:xfrm>
            <a:off x="2477578" y="3813048"/>
            <a:ext cx="61177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普通のフォームとして動き、受付経路は「フォーム」で保存される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社内の2人以上にLINEから予約してもらい、通しで動くかテストする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LINEの中で受付ページが開く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LINEから送った予約がBASEに入り、Larkに通知が届く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次回：第11回 安全に運用・改善する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わからないところは、講座グループでいつでも質問してください。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APIキーやパスワードは送らないでください。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第10回 LINEとつなぐ（LIFF）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2026-10-02T10:58:08Z</dcterms:created>
  <dcterms:modified xsi:type="dcterms:W3CDTF">2026-10-02T10:58:08Z</dcterms:modified>
</cp:coreProperties>
</file>