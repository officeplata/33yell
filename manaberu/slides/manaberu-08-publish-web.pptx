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10e2a155-56f8-7654-e948-7e3adc9d2577}">
          <p14:sldIdLst>
            <p14:sldId id="256"/>
            <p14:sldId id="257"/>
          </p14:sldIdLst>
        </p14:section>
        <p14:section name="本編" id="{d18f06d8-989b-110d-c550-3fe2024728c5}">
          <p14:sldIdLst>
            <p14:sldId id="258"/>
            <p14:sldId id="259"/>
            <p14:sldId id="260"/>
            <p14:sldId id="261"/>
            <p14:sldId id="262"/>
          </p14:sldIdLst>
        </p14:section>
        <p14:section name="まとめ" id="{81785e99-2926-558b-6c0b-4098a0e22445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第8回「Webに公開する」。前回の宿題の提出状況を確認してから始める。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ゴールを読み上げ、今日は「聞く」と「手を動かす」を交互に進めることを伝える。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https://（名前）.pages.dev というURLになることを見せる。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講師デモ版（manaberu/demo）の画面。受講者のページと見比べて、スマホでの押しやすさを確かめてもらう。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宿題の目安時間を伝える。質問は講座グループへ（24時間以内に返信・土日祝を除く）。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次回までの宿題をもう一度確認して終了。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MANA_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MANA_CONTEN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4754880"/>
            <a:ext cx="2423160" cy="274320"/>
          </a:xfrm>
          <a:prstGeom prst="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6510528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8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ささエール｜OFFICE PLATA</a:t>
            </a:r>
            <a:endParaRPr lang="ja-JP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4754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8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マナベル　第8回　Webに公開する</a:t>
            </a:r>
            <a:endParaRPr lang="ja-JP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rait" descr="講師 笹原彰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3588" y="1211580"/>
            <a:ext cx="2866092" cy="3931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 rot="-240000">
            <a:off x="457200" y="411480"/>
            <a:ext cx="1600200" cy="60350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200" dirty="0">
                <a:solidFill>
                  <a:srgbClr val="FFD60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第8回</a:t>
            </a:r>
            <a:endParaRPr lang="ja-JP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6035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ja-JP" altLang="en-US" sz="40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Webに公開する</a:t>
            </a:r>
            <a:endParaRPr lang="ja-JP" sz="4000" dirty="0"/>
          </a:p>
        </p:txBody>
      </p:sp>
      <p:sp>
        <p:nvSpPr>
          <p:cNvPr id="5" name="Text 2"/>
          <p:cNvSpPr txBox="1"/>
          <p:nvPr/>
        </p:nvSpPr>
        <p:spPr>
          <a:xfrm rot="-120000">
            <a:off x="457200" y="2971800"/>
            <a:ext cx="49377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フェーズ3 AIで作る｜第5週</a:t>
            </a:r>
            <a:endParaRPr lang="ja-JP" sz="1600" dirty="0"/>
          </a:p>
        </p:txBody>
      </p:sp>
      <p:sp>
        <p:nvSpPr>
          <p:cNvPr id="6" name="card"/>
          <p:cNvSpPr/>
          <p:nvPr/>
        </p:nvSpPr>
        <p:spPr>
          <a:xfrm>
            <a:off x="457200" y="3730752"/>
            <a:ext cx="493776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58368" y="376732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ja-JP" altLang="en-US" sz="15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マナベル｜AI×Lark 構築者育成講座</a:t>
            </a:r>
            <a:endParaRPr lang="ja-JP" sz="1500" dirty="0"/>
          </a:p>
          <a:p>
            <a:pPr indent="0" marL="0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ささエール ／ OFFICE PLATA　笹原 彰朗</a:t>
            </a:r>
            <a:endParaRPr lang="ja-JP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040587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はじめに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今日のゴールと流れ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371600"/>
            <a:ext cx="394106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685800" y="1572768"/>
            <a:ext cx="438912" cy="438912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682496"/>
            <a:ext cx="219456" cy="219456"/>
          </a:xfrm>
          <a:prstGeom prst="rect">
            <a:avLst/>
          </a:prstGeom>
        </p:spPr>
      </p:pic>
      <p:sp>
        <p:nvSpPr>
          <p:cNvPr id="7" name="goal"/>
          <p:cNvSpPr txBox="1"/>
          <p:nvPr/>
        </p:nvSpPr>
        <p:spPr>
          <a:xfrm>
            <a:off x="1252728" y="1463040"/>
            <a:ext cx="3026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作ったページをCloudflare Pagesで公開し、スマホで開ける</a:t>
            </a:r>
            <a:endParaRPr lang="ja-JP" sz="1400" dirty="0"/>
          </a:p>
        </p:txBody>
      </p:sp>
      <p:sp>
        <p:nvSpPr>
          <p:cNvPr id="8" name="card"/>
          <p:cNvSpPr/>
          <p:nvPr/>
        </p:nvSpPr>
        <p:spPr>
          <a:xfrm>
            <a:off x="4700016" y="1371600"/>
            <a:ext cx="394106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4882896" y="1572768"/>
            <a:ext cx="438912" cy="438912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4" y="1682496"/>
            <a:ext cx="219456" cy="219456"/>
          </a:xfrm>
          <a:prstGeom prst="rect">
            <a:avLst/>
          </a:prstGeom>
        </p:spPr>
      </p:pic>
      <p:sp>
        <p:nvSpPr>
          <p:cNvPr id="11" name="goal"/>
          <p:cNvSpPr txBox="1"/>
          <p:nvPr/>
        </p:nvSpPr>
        <p:spPr>
          <a:xfrm>
            <a:off x="5449824" y="1463040"/>
            <a:ext cx="3026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GitHubに保存すると、公開ページにも自動で反映される</a:t>
            </a:r>
            <a:endParaRPr lang="ja-JP" sz="1400" dirty="0"/>
          </a:p>
        </p:txBody>
      </p:sp>
      <p:sp>
        <p:nvSpPr>
          <p:cNvPr id="12" name="Text 8"/>
          <p:cNvSpPr txBox="1"/>
          <p:nvPr/>
        </p:nvSpPr>
        <p:spPr>
          <a:xfrm rot="-120000">
            <a:off x="457200" y="2907792"/>
            <a:ext cx="191566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今日の流れ（90分）</a:t>
            </a:r>
            <a:endParaRPr lang="ja-JP" sz="1100" dirty="0"/>
          </a:p>
        </p:txBody>
      </p:sp>
      <p:sp>
        <p:nvSpPr>
          <p:cNvPr id="13" name="Shape 9"/>
          <p:cNvSpPr/>
          <p:nvPr/>
        </p:nvSpPr>
        <p:spPr>
          <a:xfrm>
            <a:off x="502920" y="3364992"/>
            <a:ext cx="813816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4" name="time-block"/>
          <p:cNvSpPr/>
          <p:nvPr/>
        </p:nvSpPr>
        <p:spPr>
          <a:xfrm>
            <a:off x="50292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ime-label"/>
          <p:cNvSpPr txBox="1"/>
          <p:nvPr/>
        </p:nvSpPr>
        <p:spPr>
          <a:xfrm>
            <a:off x="50292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ふりかえり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16" name="time-block"/>
          <p:cNvSpPr/>
          <p:nvPr/>
        </p:nvSpPr>
        <p:spPr>
          <a:xfrm>
            <a:off x="140716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ime-label"/>
          <p:cNvSpPr txBox="1"/>
          <p:nvPr/>
        </p:nvSpPr>
        <p:spPr>
          <a:xfrm>
            <a:off x="140716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説明①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18" name="time-block"/>
          <p:cNvSpPr/>
          <p:nvPr/>
        </p:nvSpPr>
        <p:spPr>
          <a:xfrm>
            <a:off x="2311400" y="3364992"/>
            <a:ext cx="180848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2311400" y="3364992"/>
            <a:ext cx="180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ハンズオン①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20分</a:t>
            </a:r>
            <a:endParaRPr lang="ja-JP" sz="1050" dirty="0"/>
          </a:p>
        </p:txBody>
      </p:sp>
      <p:sp>
        <p:nvSpPr>
          <p:cNvPr id="20" name="time-block"/>
          <p:cNvSpPr/>
          <p:nvPr/>
        </p:nvSpPr>
        <p:spPr>
          <a:xfrm>
            <a:off x="411988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411988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説明②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22" name="time-block"/>
          <p:cNvSpPr/>
          <p:nvPr/>
        </p:nvSpPr>
        <p:spPr>
          <a:xfrm>
            <a:off x="5024120" y="3364992"/>
            <a:ext cx="180848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5024120" y="3364992"/>
            <a:ext cx="180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ハンズオン②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20分</a:t>
            </a:r>
            <a:endParaRPr lang="ja-JP" sz="1050" dirty="0"/>
          </a:p>
        </p:txBody>
      </p:sp>
      <p:sp>
        <p:nvSpPr>
          <p:cNvPr id="24" name="time-block"/>
          <p:cNvSpPr/>
          <p:nvPr/>
        </p:nvSpPr>
        <p:spPr>
          <a:xfrm>
            <a:off x="6832600" y="3364992"/>
            <a:ext cx="135636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ime-label"/>
          <p:cNvSpPr txBox="1"/>
          <p:nvPr/>
        </p:nvSpPr>
        <p:spPr>
          <a:xfrm>
            <a:off x="6832600" y="3364992"/>
            <a:ext cx="1356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質問・共有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15分</a:t>
            </a:r>
            <a:endParaRPr lang="ja-JP" sz="1050" dirty="0"/>
          </a:p>
        </p:txBody>
      </p:sp>
      <p:sp>
        <p:nvSpPr>
          <p:cNvPr id="26" name="time-block"/>
          <p:cNvSpPr/>
          <p:nvPr/>
        </p:nvSpPr>
        <p:spPr>
          <a:xfrm>
            <a:off x="8188960" y="3364992"/>
            <a:ext cx="45212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ime-label"/>
          <p:cNvSpPr txBox="1"/>
          <p:nvPr/>
        </p:nvSpPr>
        <p:spPr>
          <a:xfrm>
            <a:off x="8188960" y="3364992"/>
            <a:ext cx="452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8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宿題</a:t>
            </a:r>
            <a:endParaRPr lang="ja-JP" sz="8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5分</a:t>
            </a:r>
            <a:endParaRPr lang="ja-JP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4187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聞く　</a:t>
            </a:r>
            <a:pPr indent="0" marL="0">
              <a:buNone/>
            </a:pPr>
            <a:r>
              <a:rPr lang="ja-JP" altLang="en-US" sz="105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手を動かす</a:t>
            </a:r>
            <a:endParaRPr lang="ja-JP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説明①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公開のしくみ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 rot="-180000">
            <a:off x="918972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1</a:t>
            </a:r>
            <a:endParaRPr lang="ja-JP" sz="1000" dirty="0"/>
          </a:p>
        </p:txBody>
      </p:sp>
      <p:sp>
        <p:nvSpPr>
          <p:cNvPr id="7" name="flow-node"/>
          <p:cNvSpPr txBox="1"/>
          <p:nvPr/>
        </p:nvSpPr>
        <p:spPr>
          <a:xfrm>
            <a:off x="612648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PCで作る</a:t>
            </a:r>
            <a:endParaRPr lang="ja-JP" sz="1400" dirty="0"/>
          </a:p>
        </p:txBody>
      </p:sp>
      <p:pic>
        <p:nvPicPr>
          <p:cNvPr id="8" name="flow-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363724"/>
            <a:ext cx="256032" cy="256032"/>
          </a:xfrm>
          <a:prstGeom prst="rect">
            <a:avLst/>
          </a:prstGeom>
        </p:spPr>
      </p:pic>
      <p:sp>
        <p:nvSpPr>
          <p:cNvPr id="9" name="card"/>
          <p:cNvSpPr/>
          <p:nvPr/>
        </p:nvSpPr>
        <p:spPr>
          <a:xfrm>
            <a:off x="2633472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 rot="-180000">
            <a:off x="3049524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2</a:t>
            </a:r>
            <a:endParaRPr lang="ja-JP" sz="1000" dirty="0"/>
          </a:p>
        </p:txBody>
      </p:sp>
      <p:sp>
        <p:nvSpPr>
          <p:cNvPr id="11" name="flow-node"/>
          <p:cNvSpPr txBox="1"/>
          <p:nvPr/>
        </p:nvSpPr>
        <p:spPr>
          <a:xfrm>
            <a:off x="2743200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GitHubに保存</a:t>
            </a:r>
            <a:endParaRPr lang="ja-JP" sz="1400" dirty="0"/>
          </a:p>
        </p:txBody>
      </p:sp>
      <p:pic>
        <p:nvPicPr>
          <p:cNvPr id="12" name="flow-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2363724"/>
            <a:ext cx="256032" cy="256032"/>
          </a:xfrm>
          <a:prstGeom prst="rect">
            <a:avLst/>
          </a:prstGeom>
        </p:spPr>
      </p:pic>
      <p:sp>
        <p:nvSpPr>
          <p:cNvPr id="13" name="card"/>
          <p:cNvSpPr/>
          <p:nvPr/>
        </p:nvSpPr>
        <p:spPr>
          <a:xfrm>
            <a:off x="4764024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180000">
            <a:off x="5180076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3</a:t>
            </a:r>
            <a:endParaRPr lang="ja-JP" sz="1000" dirty="0"/>
          </a:p>
        </p:txBody>
      </p:sp>
      <p:sp>
        <p:nvSpPr>
          <p:cNvPr id="15" name="flow-node"/>
          <p:cNvSpPr txBox="1"/>
          <p:nvPr/>
        </p:nvSpPr>
        <p:spPr>
          <a:xfrm>
            <a:off x="4873752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Cloudflareが公開</a:t>
            </a:r>
            <a:endParaRPr lang="ja-JP" sz="1400" dirty="0"/>
          </a:p>
        </p:txBody>
      </p:sp>
      <p:pic>
        <p:nvPicPr>
          <p:cNvPr id="16" name="flow-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36" y="2363724"/>
            <a:ext cx="256032" cy="256032"/>
          </a:xfrm>
          <a:prstGeom prst="rect">
            <a:avLst/>
          </a:prstGeom>
        </p:spPr>
      </p:pic>
      <p:sp>
        <p:nvSpPr>
          <p:cNvPr id="17" name="card"/>
          <p:cNvSpPr/>
          <p:nvPr/>
        </p:nvSpPr>
        <p:spPr>
          <a:xfrm>
            <a:off x="6894576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5A623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8" name="Text 12"/>
          <p:cNvSpPr txBox="1"/>
          <p:nvPr/>
        </p:nvSpPr>
        <p:spPr>
          <a:xfrm rot="-180000">
            <a:off x="7310628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4</a:t>
            </a:r>
            <a:endParaRPr lang="ja-JP" sz="1000" dirty="0"/>
          </a:p>
        </p:txBody>
      </p:sp>
      <p:sp>
        <p:nvSpPr>
          <p:cNvPr id="19" name="flow-node"/>
          <p:cNvSpPr txBox="1"/>
          <p:nvPr/>
        </p:nvSpPr>
        <p:spPr>
          <a:xfrm>
            <a:off x="7004304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URLで見られる</a:t>
            </a:r>
            <a:endParaRPr lang="ja-JP" sz="1400" dirty="0"/>
          </a:p>
        </p:txBody>
      </p:sp>
      <p:sp>
        <p:nvSpPr>
          <p:cNvPr id="20" name="Text 14"/>
          <p:cNvSpPr txBox="1"/>
          <p:nvPr/>
        </p:nvSpPr>
        <p:spPr>
          <a:xfrm rot="-60000">
            <a:off x="502920" y="3794760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公開＝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「誰でも取りに来られる場所にファイルを置く」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こと。Cloudflare Pagesは無料枠あり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915668" cy="352044"/>
          </a:xfrm>
          <a:prstGeom prst="rect">
            <a:avLst/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ハンズオン① 20分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GitHubとつないで公開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417320"/>
            <a:ext cx="8138160" cy="509778"/>
          </a:xfrm>
          <a:prstGeom prst="roundRect">
            <a:avLst>
              <a:gd name="adj" fmla="val 1793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72184"/>
            <a:ext cx="400050" cy="40005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1</a:t>
            </a:r>
            <a:endParaRPr lang="ja-JP" sz="1500" dirty="0"/>
          </a:p>
        </p:txBody>
      </p:sp>
      <p:sp>
        <p:nvSpPr>
          <p:cNvPr id="6" name="step-text"/>
          <p:cNvSpPr txBox="1"/>
          <p:nvPr/>
        </p:nvSpPr>
        <p:spPr>
          <a:xfrm>
            <a:off x="1234440" y="1417320"/>
            <a:ext cx="7269480" cy="5097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Cloudflareの「Workers &amp; Pages」でPagesのプロジェクトを作る</a:t>
            </a:r>
            <a:endParaRPr lang="ja-JP" sz="1400" dirty="0"/>
          </a:p>
        </p:txBody>
      </p:sp>
      <p:sp>
        <p:nvSpPr>
          <p:cNvPr id="7" name="card"/>
          <p:cNvSpPr/>
          <p:nvPr/>
        </p:nvSpPr>
        <p:spPr>
          <a:xfrm>
            <a:off x="502920" y="2055114"/>
            <a:ext cx="8138160" cy="509778"/>
          </a:xfrm>
          <a:prstGeom prst="roundRect">
            <a:avLst>
              <a:gd name="adj" fmla="val 1793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2109978"/>
            <a:ext cx="400050" cy="40005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2</a:t>
            </a:r>
            <a:endParaRPr lang="ja-JP" sz="1500" dirty="0"/>
          </a:p>
        </p:txBody>
      </p:sp>
      <p:sp>
        <p:nvSpPr>
          <p:cNvPr id="9" name="step-text"/>
          <p:cNvSpPr txBox="1"/>
          <p:nvPr/>
        </p:nvSpPr>
        <p:spPr>
          <a:xfrm>
            <a:off x="1234440" y="2055114"/>
            <a:ext cx="7269480" cy="5097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「Gitに接続」を選び、第7回のリポジトリを選ぶ</a:t>
            </a:r>
            <a:endParaRPr lang="ja-JP" sz="1400" dirty="0"/>
          </a:p>
        </p:txBody>
      </p:sp>
      <p:sp>
        <p:nvSpPr>
          <p:cNvPr id="10" name="card"/>
          <p:cNvSpPr/>
          <p:nvPr/>
        </p:nvSpPr>
        <p:spPr>
          <a:xfrm>
            <a:off x="502920" y="2692908"/>
            <a:ext cx="8138160" cy="509778"/>
          </a:xfrm>
          <a:prstGeom prst="roundRect">
            <a:avLst>
              <a:gd name="adj" fmla="val 1793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0080" y="2747772"/>
            <a:ext cx="400050" cy="40005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3</a:t>
            </a:r>
            <a:endParaRPr lang="ja-JP" sz="1500" dirty="0"/>
          </a:p>
        </p:txBody>
      </p:sp>
      <p:sp>
        <p:nvSpPr>
          <p:cNvPr id="12" name="step-text"/>
          <p:cNvSpPr txBox="1"/>
          <p:nvPr/>
        </p:nvSpPr>
        <p:spPr>
          <a:xfrm>
            <a:off x="1234440" y="2692908"/>
            <a:ext cx="7269480" cy="5097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ビルド設定：フレームワークなし／ビルドコマンド空／出力先はルート</a:t>
            </a:r>
            <a:endParaRPr lang="ja-JP" sz="1400" dirty="0"/>
          </a:p>
        </p:txBody>
      </p:sp>
      <p:sp>
        <p:nvSpPr>
          <p:cNvPr id="13" name="card"/>
          <p:cNvSpPr/>
          <p:nvPr/>
        </p:nvSpPr>
        <p:spPr>
          <a:xfrm>
            <a:off x="502920" y="3330702"/>
            <a:ext cx="8138160" cy="509778"/>
          </a:xfrm>
          <a:prstGeom prst="roundRect">
            <a:avLst>
              <a:gd name="adj" fmla="val 1793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0080" y="3385566"/>
            <a:ext cx="400050" cy="40005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4</a:t>
            </a:r>
            <a:endParaRPr lang="ja-JP" sz="1500" dirty="0"/>
          </a:p>
        </p:txBody>
      </p:sp>
      <p:sp>
        <p:nvSpPr>
          <p:cNvPr id="15" name="step-text"/>
          <p:cNvSpPr txBox="1"/>
          <p:nvPr/>
        </p:nvSpPr>
        <p:spPr>
          <a:xfrm>
            <a:off x="1234440" y="3330702"/>
            <a:ext cx="7269480" cy="5097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公開されたURLを自分のスマホで開く</a:t>
            </a:r>
            <a:endParaRPr lang="ja-JP" sz="1400" dirty="0"/>
          </a:p>
        </p:txBody>
      </p:sp>
      <p:sp>
        <p:nvSpPr>
          <p:cNvPr id="16" name="Text 14"/>
          <p:cNvSpPr txBox="1"/>
          <p:nvPr/>
        </p:nvSpPr>
        <p:spPr>
          <a:xfrm rot="-60000">
            <a:off x="502920" y="4005072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うまくいかないときは、エラー文をそのままClaude Codeに貼って原因を聞く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説明②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公開したら気をつけること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417320"/>
            <a:ext cx="2542032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04088" y="1618488"/>
            <a:ext cx="548640" cy="54864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755648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18488"/>
            <a:ext cx="1490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5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スマホで確認</a:t>
            </a:r>
            <a:endParaRPr lang="ja-JP" sz="1500" dirty="0"/>
          </a:p>
        </p:txBody>
      </p:sp>
      <p:sp>
        <p:nvSpPr>
          <p:cNvPr id="8" name="card-body"/>
          <p:cNvSpPr txBox="1"/>
          <p:nvPr/>
        </p:nvSpPr>
        <p:spPr>
          <a:xfrm>
            <a:off x="704088" y="2313432"/>
            <a:ext cx="21396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お客様の多くはスマホ。PCとスマホの両方で見るクセを</a:t>
            </a:r>
            <a:endParaRPr lang="ja-JP" sz="1350" dirty="0"/>
          </a:p>
        </p:txBody>
      </p:sp>
      <p:sp>
        <p:nvSpPr>
          <p:cNvPr id="9" name="card"/>
          <p:cNvSpPr/>
          <p:nvPr/>
        </p:nvSpPr>
        <p:spPr>
          <a:xfrm>
            <a:off x="3300984" y="1417320"/>
            <a:ext cx="2542032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3502152" y="1618488"/>
            <a:ext cx="548640" cy="54864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75564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169664" y="1618488"/>
            <a:ext cx="1490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7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自動で反映</a:t>
            </a:r>
            <a:endParaRPr lang="ja-JP" sz="1700" dirty="0"/>
          </a:p>
        </p:txBody>
      </p:sp>
      <p:sp>
        <p:nvSpPr>
          <p:cNvPr id="13" name="card-body"/>
          <p:cNvSpPr txBox="1"/>
          <p:nvPr/>
        </p:nvSpPr>
        <p:spPr>
          <a:xfrm>
            <a:off x="3502152" y="2313432"/>
            <a:ext cx="21396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GitHubに保存するたびに、数十秒〜数分で公開し直される</a:t>
            </a:r>
            <a:endParaRPr lang="ja-JP" sz="1350" dirty="0"/>
          </a:p>
        </p:txBody>
      </p:sp>
      <p:sp>
        <p:nvSpPr>
          <p:cNvPr id="14" name="card"/>
          <p:cNvSpPr/>
          <p:nvPr/>
        </p:nvSpPr>
        <p:spPr>
          <a:xfrm>
            <a:off x="6099048" y="1417320"/>
            <a:ext cx="2542032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6300216" y="1618488"/>
            <a:ext cx="548640" cy="54864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75564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67728" y="1618488"/>
            <a:ext cx="1490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5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誰でも見られる</a:t>
            </a:r>
            <a:endParaRPr lang="ja-JP" sz="1500" dirty="0"/>
          </a:p>
        </p:txBody>
      </p:sp>
      <p:sp>
        <p:nvSpPr>
          <p:cNvPr id="18" name="card-body"/>
          <p:cNvSpPr txBox="1"/>
          <p:nvPr/>
        </p:nvSpPr>
        <p:spPr>
          <a:xfrm>
            <a:off x="6300216" y="2313432"/>
            <a:ext cx="21396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個人情報や社内情報をページに書かない</a:t>
            </a:r>
            <a:endParaRPr lang="ja-JP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915668" cy="352044"/>
          </a:xfrm>
          <a:prstGeom prst="rect">
            <a:avLst/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ハンズオン② 20分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受付ページを作って公開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600200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682496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1</a:t>
            </a:r>
            <a:endParaRPr lang="ja-JP" sz="1500" dirty="0"/>
          </a:p>
        </p:txBody>
      </p:sp>
      <p:sp>
        <p:nvSpPr>
          <p:cNvPr id="6" name="step-text"/>
          <p:cNvSpPr txBox="1"/>
          <p:nvPr/>
        </p:nvSpPr>
        <p:spPr>
          <a:xfrm>
            <a:off x="1234440" y="1600200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 Codeに受付ページを頼む（プロンプト集 P-05）</a:t>
            </a:r>
            <a:endParaRPr lang="ja-JP" sz="1400" dirty="0"/>
          </a:p>
        </p:txBody>
      </p:sp>
      <p:sp>
        <p:nvSpPr>
          <p:cNvPr id="7" name="card"/>
          <p:cNvSpPr/>
          <p:nvPr/>
        </p:nvSpPr>
        <p:spPr>
          <a:xfrm>
            <a:off x="502920" y="2295144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2377440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2</a:t>
            </a:r>
            <a:endParaRPr lang="ja-JP" sz="1500" dirty="0"/>
          </a:p>
        </p:txBody>
      </p:sp>
      <p:sp>
        <p:nvSpPr>
          <p:cNvPr id="9" name="step-text"/>
          <p:cNvSpPr txBox="1"/>
          <p:nvPr/>
        </p:nvSpPr>
        <p:spPr>
          <a:xfrm>
            <a:off x="1234440" y="2295144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今回は「見た目だけ」。送信先はまだ作らない</a:t>
            </a:r>
            <a:endParaRPr lang="ja-JP" sz="1400" dirty="0"/>
          </a:p>
        </p:txBody>
      </p:sp>
      <p:sp>
        <p:nvSpPr>
          <p:cNvPr id="10" name="card"/>
          <p:cNvSpPr/>
          <p:nvPr/>
        </p:nvSpPr>
        <p:spPr>
          <a:xfrm>
            <a:off x="502920" y="2990088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0080" y="3072384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3</a:t>
            </a:r>
            <a:endParaRPr lang="ja-JP" sz="1500" dirty="0"/>
          </a:p>
        </p:txBody>
      </p:sp>
      <p:sp>
        <p:nvSpPr>
          <p:cNvPr id="12" name="step-text"/>
          <p:cNvSpPr txBox="1"/>
          <p:nvPr/>
        </p:nvSpPr>
        <p:spPr>
          <a:xfrm>
            <a:off x="1234440" y="2990088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スマホで確認し、直したい点を2つ直す</a:t>
            </a:r>
            <a:endParaRPr lang="ja-JP" sz="1400" dirty="0"/>
          </a:p>
        </p:txBody>
      </p:sp>
      <p:sp>
        <p:nvSpPr>
          <p:cNvPr id="13" name="card"/>
          <p:cNvSpPr/>
          <p:nvPr/>
        </p:nvSpPr>
        <p:spPr>
          <a:xfrm>
            <a:off x="502920" y="3685032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0080" y="3767328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4</a:t>
            </a:r>
            <a:endParaRPr lang="ja-JP" sz="1500" dirty="0"/>
          </a:p>
        </p:txBody>
      </p:sp>
      <p:sp>
        <p:nvSpPr>
          <p:cNvPr id="15" name="step-text"/>
          <p:cNvSpPr txBox="1"/>
          <p:nvPr/>
        </p:nvSpPr>
        <p:spPr>
          <a:xfrm>
            <a:off x="1234440" y="3685032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記録 → GitHubに保存 → 公開URLに反映されたか確かめる</a:t>
            </a:r>
            <a:endParaRPr lang="ja-JP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332281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完成イメージ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受付ページの完成イメージ（スマホ）</a:t>
            </a:r>
            <a:endParaRPr lang="ja-JP" sz="2600" dirty="0"/>
          </a:p>
        </p:txBody>
      </p:sp>
      <p:sp>
        <p:nvSpPr>
          <p:cNvPr id="5" name="phone-frame"/>
          <p:cNvSpPr/>
          <p:nvPr/>
        </p:nvSpPr>
        <p:spPr>
          <a:xfrm rot="-180000">
            <a:off x="640080" y="1463040"/>
            <a:ext cx="1541433" cy="3099816"/>
          </a:xfrm>
          <a:prstGeom prst="roundRect">
            <a:avLst>
              <a:gd name="adj" fmla="val 8305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pic>
        <p:nvPicPr>
          <p:cNvPr id="6" name="phone-screen" descr="まなべ食堂の予約ページ（入力前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180000">
            <a:off x="704088" y="1527048"/>
            <a:ext cx="1413417" cy="2971800"/>
          </a:xfrm>
          <a:prstGeom prst="rect">
            <a:avLst/>
          </a:prstGeom>
        </p:spPr>
      </p:pic>
      <p:sp>
        <p:nvSpPr>
          <p:cNvPr id="7" name="phone-frame"/>
          <p:cNvSpPr/>
          <p:nvPr/>
        </p:nvSpPr>
        <p:spPr>
          <a:xfrm rot="180000">
            <a:off x="2501553" y="1463040"/>
            <a:ext cx="1541433" cy="3099816"/>
          </a:xfrm>
          <a:prstGeom prst="roundRect">
            <a:avLst>
              <a:gd name="adj" fmla="val 8305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pic>
        <p:nvPicPr>
          <p:cNvPr id="8" name="phone-screen" descr="必須項目が空のときのエラー表示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0000">
            <a:off x="2565561" y="1527048"/>
            <a:ext cx="1413417" cy="2971800"/>
          </a:xfrm>
          <a:prstGeom prst="rect">
            <a:avLst/>
          </a:prstGeom>
        </p:spPr>
      </p:pic>
      <p:sp>
        <p:nvSpPr>
          <p:cNvPr id="9" name="card"/>
          <p:cNvSpPr/>
          <p:nvPr/>
        </p:nvSpPr>
        <p:spPr>
          <a:xfrm>
            <a:off x="4408746" y="1417320"/>
            <a:ext cx="4232334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1626" y="1655064"/>
            <a:ext cx="292608" cy="292608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778" y="1728216"/>
            <a:ext cx="146304" cy="146304"/>
          </a:xfrm>
          <a:prstGeom prst="rect">
            <a:avLst/>
          </a:prstGeom>
        </p:spPr>
      </p:pic>
      <p:sp>
        <p:nvSpPr>
          <p:cNvPr id="12" name="point-head"/>
          <p:cNvSpPr txBox="1"/>
          <p:nvPr/>
        </p:nvSpPr>
        <p:spPr>
          <a:xfrm>
            <a:off x="4975674" y="1572768"/>
            <a:ext cx="3500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30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入力欄は大きく、必須がひと目でわかる</a:t>
            </a:r>
            <a:endParaRPr lang="ja-JP" sz="1300" dirty="0"/>
          </a:p>
        </p:txBody>
      </p:sp>
      <p:sp>
        <p:nvSpPr>
          <p:cNvPr id="13" name="point-body"/>
          <p:cNvSpPr txBox="1"/>
          <p:nvPr/>
        </p:nvSpPr>
        <p:spPr>
          <a:xfrm>
            <a:off x="4975674" y="2048256"/>
            <a:ext cx="35008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お客様はスマホで入力する。指で押しやすい大きさにし、「必須」を赤で示す</a:t>
            </a:r>
            <a:endParaRPr lang="ja-JP" sz="1150" dirty="0"/>
          </a:p>
        </p:txBody>
      </p:sp>
      <p:sp>
        <p:nvSpPr>
          <p:cNvPr id="14" name="icon-circle"/>
          <p:cNvSpPr/>
          <p:nvPr/>
        </p:nvSpPr>
        <p:spPr>
          <a:xfrm>
            <a:off x="4591626" y="2615184"/>
            <a:ext cx="292608" cy="292608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4778" y="2688336"/>
            <a:ext cx="146304" cy="146304"/>
          </a:xfrm>
          <a:prstGeom prst="rect">
            <a:avLst/>
          </a:prstGeom>
        </p:spPr>
      </p:pic>
      <p:sp>
        <p:nvSpPr>
          <p:cNvPr id="16" name="point-head"/>
          <p:cNvSpPr txBox="1"/>
          <p:nvPr/>
        </p:nvSpPr>
        <p:spPr>
          <a:xfrm>
            <a:off x="4975674" y="2532888"/>
            <a:ext cx="3500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30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 足りないときは、何が足りないかを伝える</a:t>
            </a:r>
            <a:endParaRPr lang="ja-JP" sz="1300" dirty="0"/>
          </a:p>
        </p:txBody>
      </p:sp>
      <p:sp>
        <p:nvSpPr>
          <p:cNvPr id="17" name="point-body"/>
          <p:cNvSpPr txBox="1"/>
          <p:nvPr/>
        </p:nvSpPr>
        <p:spPr>
          <a:xfrm>
            <a:off x="4975674" y="3008376"/>
            <a:ext cx="35008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空のまま送ると、送信せずに不足している項目を表示する</a:t>
            </a:r>
            <a:endParaRPr lang="ja-JP" sz="1150" dirty="0"/>
          </a:p>
        </p:txBody>
      </p:sp>
      <p:sp>
        <p:nvSpPr>
          <p:cNvPr id="18" name="icon-circle"/>
          <p:cNvSpPr/>
          <p:nvPr/>
        </p:nvSpPr>
        <p:spPr>
          <a:xfrm>
            <a:off x="4591626" y="3575304"/>
            <a:ext cx="292608" cy="292608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778" y="3648456"/>
            <a:ext cx="146304" cy="146304"/>
          </a:xfrm>
          <a:prstGeom prst="rect">
            <a:avLst/>
          </a:prstGeom>
        </p:spPr>
      </p:pic>
      <p:sp>
        <p:nvSpPr>
          <p:cNvPr id="20" name="point-head"/>
          <p:cNvSpPr txBox="1"/>
          <p:nvPr/>
        </p:nvSpPr>
        <p:spPr>
          <a:xfrm>
            <a:off x="4975674" y="3493008"/>
            <a:ext cx="3500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30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この回の範囲</a:t>
            </a:r>
            <a:endParaRPr lang="ja-JP" sz="1300" dirty="0"/>
          </a:p>
        </p:txBody>
      </p:sp>
      <p:sp>
        <p:nvSpPr>
          <p:cNvPr id="21" name="point-body"/>
          <p:cNvSpPr txBox="1"/>
          <p:nvPr/>
        </p:nvSpPr>
        <p:spPr>
          <a:xfrm>
            <a:off x="4975674" y="3968496"/>
            <a:ext cx="35008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見た目だけ。送信してもまだどこにも保存されない（保存は第9回）</a:t>
            </a:r>
            <a:endParaRPr lang="ja-JP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894740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まとめ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宿題と、今日のチェック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41732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04088" y="1600200"/>
            <a:ext cx="457200" cy="45720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17145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宿題</a:t>
            </a:r>
            <a:endParaRPr lang="ja-JP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公開URLを社内で見てもらい、直したい点を3つ集める（BASEの「改善要望」テーブルへ）</a:t>
            </a:r>
            <a:endParaRPr lang="ja-JP" sz="1350" dirty="0"/>
          </a:p>
        </p:txBody>
      </p:sp>
      <p:sp>
        <p:nvSpPr>
          <p:cNvPr id="9" name="card"/>
          <p:cNvSpPr/>
          <p:nvPr/>
        </p:nvSpPr>
        <p:spPr>
          <a:xfrm>
            <a:off x="4709160" y="141732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910328" y="1600200"/>
            <a:ext cx="457200" cy="45720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628" y="171450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できたらチェック</a:t>
            </a:r>
            <a:endParaRPr lang="ja-JP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24028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☐ 公開URLをスマホで開けた</a:t>
            </a:r>
            <a:endParaRPr lang="ja-JP" sz="1350" dirty="0"/>
          </a:p>
          <a:p>
            <a:pPr indent="0" marL="0">
              <a:spcAft>
                <a:spcPts val="8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☐ 修正が自動で公開ページに反映された</a:t>
            </a:r>
            <a:endParaRPr lang="ja-JP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rait" descr="講師 笹原彰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3588" y="1211580"/>
            <a:ext cx="2866092" cy="3931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 rot="-240000">
            <a:off x="457200" y="548640"/>
            <a:ext cx="1280160" cy="548640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000" dirty="0">
                <a:solidFill>
                  <a:srgbClr val="FFD60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次回</a:t>
            </a:r>
            <a:endParaRPr lang="ja-JP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31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第9回</a:t>
            </a:r>
            <a:endParaRPr lang="ja-JP" sz="3100" dirty="0"/>
          </a:p>
          <a:p>
            <a:pPr indent="0" marL="0">
              <a:buNone/>
            </a:pPr>
            <a:r>
              <a:rPr lang="ja-JP" altLang="en-US" sz="31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Lark BASEとつなぐ（API）</a:t>
            </a:r>
            <a:endParaRPr lang="ja-JP" sz="3100" dirty="0"/>
          </a:p>
        </p:txBody>
      </p:sp>
      <p:sp>
        <p:nvSpPr>
          <p:cNvPr id="5" name="card"/>
          <p:cNvSpPr/>
          <p:nvPr/>
        </p:nvSpPr>
        <p:spPr>
          <a:xfrm>
            <a:off x="457200" y="3108960"/>
            <a:ext cx="539496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32004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わからないところは、講座グループでいつでも質問してください。</a:t>
            </a:r>
            <a:endParaRPr lang="ja-JP" sz="1400" dirty="0"/>
          </a:p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APIキーやパスワードは送らないでください。</a:t>
            </a:r>
            <a:endParaRPr lang="ja-JP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saYell">
  <a:themeElements>
    <a:clrScheme name="SasaYell">
      <a:dk1>
        <a:srgbClr val="1A1A1A"/>
      </a:dk1>
      <a:lt1>
        <a:srgbClr val="FFFFFF"/>
      </a:lt1>
      <a:dk2>
        <a:srgbClr val="1A1A1A"/>
      </a:dk2>
      <a:lt2>
        <a:srgbClr val="FFD600"/>
      </a:lt2>
      <a:accent1>
        <a:srgbClr val="FFD600"/>
      </a:accent1>
      <a:accent2>
        <a:srgbClr val="DD6420"/>
      </a:accent2>
      <a:accent3>
        <a:srgbClr val="F5A623"/>
      </a:accent3>
      <a:accent4>
        <a:srgbClr val="1A1A1A"/>
      </a:accent4>
      <a:accent5>
        <a:srgbClr val="FFFFFF"/>
      </a:accent5>
      <a:accent6>
        <a:srgbClr val="DD6420"/>
      </a:accent6>
      <a:hlink>
        <a:srgbClr val="DD6420"/>
      </a:hlink>
      <a:folHlink>
        <a:srgbClr val="F5A623"/>
      </a:folHlink>
    </a:clrScheme>
    <a:fontScheme name="SasaYell">
      <a:majorFont>
        <a:latin typeface="Dela Gothic One"/>
        <a:ea typeface="けいふぉんと"/>
        <a:cs typeface=""/>
      </a:majorFont>
      <a:minorFont>
        <a:latin typeface="Noto Sans JP"/>
        <a:ea typeface="Noto Sans JP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第8回 Webに公開する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2026-10-08T07:08:42Z</dcterms:created>
  <dcterms:modified xsi:type="dcterms:W3CDTF">2026-10-08T07:08:42Z</dcterms:modified>
</cp:coreProperties>
</file>