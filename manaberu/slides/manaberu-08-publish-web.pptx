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導入" id="{120d3cf5-ac0e-9373-400e-ff8c98ea1ac4}">
          <p14:sldIdLst>
            <p14:sldId id="256"/>
            <p14:sldId id="257"/>
          </p14:sldIdLst>
        </p14:section>
        <p14:section name="本編" id="{822d8ef1-d304-00cf-c101-4871e7e78f66}">
          <p14:sldIdLst>
            <p14:sldId id="258"/>
            <p14:sldId id="259"/>
            <p14:sldId id="260"/>
            <p14:sldId id="261"/>
            <p14:sldId id="262"/>
          </p14:sldIdLst>
        </p14:section>
        <p14:section name="まとめ" id="{9a6156ff-eae9-911e-3429-6863f3132b29}">
          <p14:sldIdLst>
            <p14:sldId id="263"/>
            <p14:sldId id="26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第8回「Webに公開する」。前回の宿題の提出状況を確認してから始める。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ゴールを読み上げ、今日は「聞く」と「手を動かす」を交互に進めることを伝える。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https://（名前）.pages.dev というURLになることを見せる。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講師デモ版（manaberu/demo）の画面。受講者のページと見比べて、スマホでの押しやすさを確かめてもらう。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宿題の目安時間を伝える。質問は講座グループへ（24時間以内に返信・土日祝を除く）。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次回までの宿題をもう一度確認して終了。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TITLE">
    <p:bg>
      <p:bgPr>
        <a:solidFill>
          <a:srgbClr val="FFD6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マナベル｜AI×Lark 構築者育成講座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6766560" y="4526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ささエール</a:t>
            </a:r>
            <a:endParaRPr lang="en-US" sz="1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4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400" dirty="0"/>
          </a:p>
        </p:txBody>
      </p:sp>
      <p:sp>
        <p:nvSpPr>
          <p:cNvPr id="3" name="Text 0"/>
          <p:cNvSpPr/>
          <p:nvPr/>
        </p:nvSpPr>
        <p:spPr>
          <a:xfrm>
            <a:off x="548640" y="4773168"/>
            <a:ext cx="6400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マナベル　第8回　Webに公開する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NA_DARK">
    <p:bg>
      <p:bgPr>
        <a:solidFill>
          <a:srgbClr val="1A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accent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5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1500" dirty="0"/>
          </a:p>
        </p:txBody>
      </p:sp>
      <p:sp>
        <p:nvSpPr>
          <p:cNvPr id="4" name="Text 0"/>
          <p:cNvSpPr/>
          <p:nvPr/>
        </p:nvSpPr>
        <p:spPr>
          <a:xfrm>
            <a:off x="548640" y="45262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マナベル｜AI×Lark 構築者育成講座</a:t>
            </a:r>
            <a:endParaRPr lang="en-US" sz="1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sson-badge"/>
          <p:cNvSpPr/>
          <p:nvPr/>
        </p:nvSpPr>
        <p:spPr>
          <a:xfrm>
            <a:off x="548640" y="822960"/>
            <a:ext cx="1828800" cy="566928"/>
          </a:xfrm>
          <a:prstGeom prst="roundRect">
            <a:avLst>
              <a:gd name="adj" fmla="val 50000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3" name="Text 1"/>
          <p:cNvSpPr txBox="1"/>
          <p:nvPr/>
        </p:nvSpPr>
        <p:spPr>
          <a:xfrm>
            <a:off x="548640" y="82296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第8回</a:t>
            </a:r>
            <a:endParaRPr lang="en-US" sz="22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691640"/>
            <a:ext cx="5852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Webに公開する</a:t>
            </a:r>
            <a:endParaRPr lang="en-US" sz="32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324612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フェーズ3 AIで作る　｜　第5週</a:t>
            </a:r>
            <a:endParaRPr lang="en-US" sz="1400" dirty="0"/>
          </a:p>
        </p:txBody>
      </p:sp>
      <p:sp>
        <p:nvSpPr>
          <p:cNvPr id="6" name="title-circle"/>
          <p:cNvSpPr/>
          <p:nvPr/>
        </p:nvSpPr>
        <p:spPr>
          <a:xfrm>
            <a:off x="6537960" y="1188720"/>
            <a:ext cx="2103120" cy="2103120"/>
          </a:xfrm>
          <a:prstGeom prst="ellipse">
            <a:avLst/>
          </a:prstGeom>
          <a:solidFill>
            <a:schemeClr val="bg1"/>
          </a:solidFill>
          <a:ln w="254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title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600" y="1737360"/>
            <a:ext cx="1005840" cy="100584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今日のゴールと流れ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93268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9326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はじめに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505" y="1707185"/>
            <a:ext cx="197510" cy="197510"/>
          </a:xfrm>
          <a:prstGeom prst="rect">
            <a:avLst/>
          </a:prstGeom>
        </p:spPr>
      </p:pic>
      <p:sp>
        <p:nvSpPr>
          <p:cNvPr id="8" name="goal"/>
          <p:cNvSpPr txBox="1"/>
          <p:nvPr/>
        </p:nvSpPr>
        <p:spPr>
          <a:xfrm>
            <a:off x="128016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作ったページをCloudflare Pagesで公開し、スマホで開ける</a:t>
            </a:r>
            <a:endParaRPr lang="en-US" sz="1400" dirty="0"/>
          </a:p>
        </p:txBody>
      </p:sp>
      <p:sp>
        <p:nvSpPr>
          <p:cNvPr id="9" name="card"/>
          <p:cNvSpPr/>
          <p:nvPr/>
        </p:nvSpPr>
        <p:spPr>
          <a:xfrm>
            <a:off x="4686300" y="1417320"/>
            <a:ext cx="3909060" cy="1280160"/>
          </a:xfrm>
          <a:prstGeom prst="roundRect">
            <a:avLst>
              <a:gd name="adj" fmla="val 8571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0" name="icon-circle"/>
          <p:cNvSpPr/>
          <p:nvPr/>
        </p:nvSpPr>
        <p:spPr>
          <a:xfrm>
            <a:off x="4869180" y="1600200"/>
            <a:ext cx="411480" cy="41148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1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165" y="1707185"/>
            <a:ext cx="197510" cy="197510"/>
          </a:xfrm>
          <a:prstGeom prst="rect">
            <a:avLst/>
          </a:prstGeom>
        </p:spPr>
      </p:pic>
      <p:sp>
        <p:nvSpPr>
          <p:cNvPr id="12" name="goal"/>
          <p:cNvSpPr txBox="1"/>
          <p:nvPr/>
        </p:nvSpPr>
        <p:spPr>
          <a:xfrm>
            <a:off x="5417820" y="1508760"/>
            <a:ext cx="29946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GitHubに保存すると、公開ページにも自動で反映される</a:t>
            </a:r>
            <a:endParaRPr lang="en-US" sz="140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29718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今日の流れ（90分）</a:t>
            </a:r>
            <a:endParaRPr lang="en-US" sz="1300" dirty="0"/>
          </a:p>
        </p:txBody>
      </p:sp>
      <p:sp>
        <p:nvSpPr>
          <p:cNvPr id="14" name="time-block"/>
          <p:cNvSpPr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ime-label"/>
          <p:cNvSpPr txBox="1"/>
          <p:nvPr/>
        </p:nvSpPr>
        <p:spPr>
          <a:xfrm>
            <a:off x="54864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ふりかえり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6" name="time-block"/>
          <p:cNvSpPr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ime-label"/>
          <p:cNvSpPr txBox="1"/>
          <p:nvPr/>
        </p:nvSpPr>
        <p:spPr>
          <a:xfrm>
            <a:off x="144272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18" name="time-block"/>
          <p:cNvSpPr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9" name="time-label"/>
          <p:cNvSpPr txBox="1"/>
          <p:nvPr/>
        </p:nvSpPr>
        <p:spPr>
          <a:xfrm>
            <a:off x="233680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ハンズオン①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0" name="time-block"/>
          <p:cNvSpPr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ime-label"/>
          <p:cNvSpPr txBox="1"/>
          <p:nvPr/>
        </p:nvSpPr>
        <p:spPr>
          <a:xfrm>
            <a:off x="4124960" y="3383280"/>
            <a:ext cx="894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説明②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10分</a:t>
            </a:r>
            <a:endParaRPr lang="en-US" sz="1050" dirty="0"/>
          </a:p>
        </p:txBody>
      </p:sp>
      <p:sp>
        <p:nvSpPr>
          <p:cNvPr id="22" name="time-block"/>
          <p:cNvSpPr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solidFill>
            <a:srgbClr val="DD642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ime-label"/>
          <p:cNvSpPr txBox="1"/>
          <p:nvPr/>
        </p:nvSpPr>
        <p:spPr>
          <a:xfrm>
            <a:off x="5019040" y="3383280"/>
            <a:ext cx="178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ハンズオン②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20分</a:t>
            </a:r>
            <a:endParaRPr lang="en-US" sz="1050" dirty="0"/>
          </a:p>
        </p:txBody>
      </p:sp>
      <p:sp>
        <p:nvSpPr>
          <p:cNvPr id="24" name="time-block"/>
          <p:cNvSpPr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5" name="time-label"/>
          <p:cNvSpPr txBox="1"/>
          <p:nvPr/>
        </p:nvSpPr>
        <p:spPr>
          <a:xfrm>
            <a:off x="6807200" y="3383280"/>
            <a:ext cx="1341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D600"/>
                </a:solidFill>
              </a:rPr>
              <a:t>質問・共有</a:t>
            </a:r>
            <a:endParaRPr lang="en-US" sz="10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15分</a:t>
            </a:r>
            <a:endParaRPr lang="en-US" sz="1050" dirty="0"/>
          </a:p>
        </p:txBody>
      </p:sp>
      <p:sp>
        <p:nvSpPr>
          <p:cNvPr id="26" name="time-block"/>
          <p:cNvSpPr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solidFill>
            <a:srgbClr val="1A1A1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7" name="time-label"/>
          <p:cNvSpPr txBox="1"/>
          <p:nvPr/>
        </p:nvSpPr>
        <p:spPr>
          <a:xfrm>
            <a:off x="8148320" y="3383280"/>
            <a:ext cx="44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D600"/>
                </a:solidFill>
              </a:rPr>
              <a:t>宿題</a:t>
            </a:r>
            <a:endParaRPr lang="en-US" sz="85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D600"/>
                </a:solidFill>
              </a:rPr>
              <a:t>5分</a:t>
            </a:r>
            <a:endParaRPr lang="en-US" sz="850" dirty="0"/>
          </a:p>
        </p:txBody>
      </p:sp>
      <p:sp>
        <p:nvSpPr>
          <p:cNvPr id="28" name="Text 24"/>
          <p:cNvSpPr txBox="1"/>
          <p:nvPr/>
        </p:nvSpPr>
        <p:spPr>
          <a:xfrm>
            <a:off x="5486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A1A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聞く　</a:t>
            </a:r>
            <a:pPr indent="0" marL="0">
              <a:buNone/>
            </a:pPr>
            <a:r>
              <a:rPr lang="en-US" sz="1000" dirty="0">
                <a:solidFill>
                  <a:srgbClr val="DD6420"/>
                </a:solidFill>
              </a:rPr>
              <a:t>■ </a:t>
            </a:r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手を動かす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公開のしくみ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説明① 10分</a:t>
            </a:r>
            <a:endParaRPr lang="en-US" sz="1100" dirty="0"/>
          </a:p>
        </p:txBody>
      </p:sp>
      <p:sp>
        <p:nvSpPr>
          <p:cNvPr id="6" name="card"/>
          <p:cNvSpPr/>
          <p:nvPr/>
        </p:nvSpPr>
        <p:spPr>
          <a:xfrm>
            <a:off x="548640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548640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1</a:t>
            </a:r>
            <a:endParaRPr lang="en-US" sz="1000" dirty="0"/>
          </a:p>
        </p:txBody>
      </p:sp>
      <p:sp>
        <p:nvSpPr>
          <p:cNvPr id="8" name="flow-node"/>
          <p:cNvSpPr txBox="1"/>
          <p:nvPr/>
        </p:nvSpPr>
        <p:spPr>
          <a:xfrm>
            <a:off x="640080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PCで作る</a:t>
            </a:r>
            <a:endParaRPr lang="en-US" sz="1400" dirty="0"/>
          </a:p>
        </p:txBody>
      </p:sp>
      <p:pic>
        <p:nvPicPr>
          <p:cNvPr id="9" name="flow-arrow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45436" y="2441448"/>
            <a:ext cx="237744" cy="237744"/>
          </a:xfrm>
          <a:prstGeom prst="rect">
            <a:avLst/>
          </a:prstGeom>
        </p:spPr>
      </p:pic>
      <p:sp>
        <p:nvSpPr>
          <p:cNvPr id="10" name="card"/>
          <p:cNvSpPr/>
          <p:nvPr/>
        </p:nvSpPr>
        <p:spPr>
          <a:xfrm>
            <a:off x="2656332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Text 7"/>
          <p:cNvSpPr txBox="1"/>
          <p:nvPr/>
        </p:nvSpPr>
        <p:spPr>
          <a:xfrm>
            <a:off x="2656332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2</a:t>
            </a:r>
            <a:endParaRPr lang="en-US" sz="1000" dirty="0"/>
          </a:p>
        </p:txBody>
      </p:sp>
      <p:sp>
        <p:nvSpPr>
          <p:cNvPr id="12" name="flow-node"/>
          <p:cNvSpPr txBox="1"/>
          <p:nvPr/>
        </p:nvSpPr>
        <p:spPr>
          <a:xfrm>
            <a:off x="2747772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GitHubに保存</a:t>
            </a:r>
            <a:endParaRPr lang="en-US" sz="1400" dirty="0"/>
          </a:p>
        </p:txBody>
      </p:sp>
      <p:pic>
        <p:nvPicPr>
          <p:cNvPr id="13" name="flow-arrow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3128" y="2441448"/>
            <a:ext cx="237744" cy="237744"/>
          </a:xfrm>
          <a:prstGeom prst="rect">
            <a:avLst/>
          </a:prstGeom>
        </p:spPr>
      </p:pic>
      <p:sp>
        <p:nvSpPr>
          <p:cNvPr id="14" name="card"/>
          <p:cNvSpPr/>
          <p:nvPr/>
        </p:nvSpPr>
        <p:spPr>
          <a:xfrm>
            <a:off x="4764024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5" name="Text 10"/>
          <p:cNvSpPr txBox="1"/>
          <p:nvPr/>
        </p:nvSpPr>
        <p:spPr>
          <a:xfrm>
            <a:off x="4764024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3</a:t>
            </a:r>
            <a:endParaRPr lang="en-US" sz="1000" dirty="0"/>
          </a:p>
        </p:txBody>
      </p:sp>
      <p:sp>
        <p:nvSpPr>
          <p:cNvPr id="16" name="flow-node"/>
          <p:cNvSpPr txBox="1"/>
          <p:nvPr/>
        </p:nvSpPr>
        <p:spPr>
          <a:xfrm>
            <a:off x="4855464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Cloudflareが公開</a:t>
            </a:r>
            <a:endParaRPr lang="en-US" sz="1400" dirty="0"/>
          </a:p>
        </p:txBody>
      </p:sp>
      <p:pic>
        <p:nvPicPr>
          <p:cNvPr id="17" name="flow-arrow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0820" y="2441448"/>
            <a:ext cx="237744" cy="237744"/>
          </a:xfrm>
          <a:prstGeom prst="rect">
            <a:avLst/>
          </a:prstGeom>
        </p:spPr>
      </p:pic>
      <p:sp>
        <p:nvSpPr>
          <p:cNvPr id="18" name="card"/>
          <p:cNvSpPr/>
          <p:nvPr/>
        </p:nvSpPr>
        <p:spPr>
          <a:xfrm>
            <a:off x="6871716" y="1828800"/>
            <a:ext cx="1723644" cy="146304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9" name="Text 13"/>
          <p:cNvSpPr txBox="1"/>
          <p:nvPr/>
        </p:nvSpPr>
        <p:spPr>
          <a:xfrm>
            <a:off x="6871716" y="1993392"/>
            <a:ext cx="17236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STEP 4</a:t>
            </a:r>
            <a:endParaRPr lang="en-US" sz="1000" dirty="0"/>
          </a:p>
        </p:txBody>
      </p:sp>
      <p:sp>
        <p:nvSpPr>
          <p:cNvPr id="20" name="flow-node"/>
          <p:cNvSpPr txBox="1"/>
          <p:nvPr/>
        </p:nvSpPr>
        <p:spPr>
          <a:xfrm>
            <a:off x="6963156" y="2286000"/>
            <a:ext cx="154076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URLで見られる</a:t>
            </a:r>
            <a:endParaRPr lang="en-US" sz="1400" dirty="0"/>
          </a:p>
        </p:txBody>
      </p:sp>
      <p:sp>
        <p:nvSpPr>
          <p:cNvPr id="21" name="foot-box"/>
          <p:cNvSpPr/>
          <p:nvPr/>
        </p:nvSpPr>
        <p:spPr>
          <a:xfrm>
            <a:off x="548640" y="379476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22" name="foot-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3922776"/>
            <a:ext cx="246888" cy="246888"/>
          </a:xfrm>
          <a:prstGeom prst="rect">
            <a:avLst/>
          </a:prstGeom>
        </p:spPr>
      </p:pic>
      <p:sp>
        <p:nvSpPr>
          <p:cNvPr id="23" name="foot-text"/>
          <p:cNvSpPr txBox="1"/>
          <p:nvPr/>
        </p:nvSpPr>
        <p:spPr>
          <a:xfrm>
            <a:off x="1051560" y="379476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公開＝「誰でも取りに来られる場所にファイルを置く」こと。Cloudflare Pagesは無料枠あり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GitHubとつないで公開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ハンズオン① 20分</a:t>
            </a:r>
            <a:endParaRPr lang="en-US" sz="1100" dirty="0"/>
          </a:p>
        </p:txBody>
      </p:sp>
      <p:sp>
        <p:nvSpPr>
          <p:cNvPr id="5" name="step-num"/>
          <p:cNvSpPr/>
          <p:nvPr/>
        </p:nvSpPr>
        <p:spPr>
          <a:xfrm>
            <a:off x="548640" y="157276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step-num-text"/>
          <p:cNvSpPr txBox="1"/>
          <p:nvPr/>
        </p:nvSpPr>
        <p:spPr>
          <a:xfrm>
            <a:off x="5486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ext"/>
          <p:cNvSpPr txBox="1"/>
          <p:nvPr/>
        </p:nvSpPr>
        <p:spPr>
          <a:xfrm>
            <a:off x="1097280" y="146304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Cloudflareの「Workers &amp; Pages」でPagesのプロジェクトを作る</a:t>
            </a:r>
            <a:endParaRPr lang="en-US" sz="1450" dirty="0"/>
          </a:p>
        </p:txBody>
      </p:sp>
      <p:sp>
        <p:nvSpPr>
          <p:cNvPr id="8" name="step-num"/>
          <p:cNvSpPr/>
          <p:nvPr/>
        </p:nvSpPr>
        <p:spPr>
          <a:xfrm>
            <a:off x="548640" y="217627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tep-num-text"/>
          <p:cNvSpPr txBox="1"/>
          <p:nvPr/>
        </p:nvSpPr>
        <p:spPr>
          <a:xfrm>
            <a:off x="548640" y="21762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text"/>
          <p:cNvSpPr txBox="1"/>
          <p:nvPr/>
        </p:nvSpPr>
        <p:spPr>
          <a:xfrm>
            <a:off x="1097280" y="206654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「Gitに接続」を選び、第7回のリポジトリを選ぶ</a:t>
            </a:r>
            <a:endParaRPr lang="en-US" sz="1450" dirty="0"/>
          </a:p>
        </p:txBody>
      </p:sp>
      <p:sp>
        <p:nvSpPr>
          <p:cNvPr id="11" name="step-num"/>
          <p:cNvSpPr/>
          <p:nvPr/>
        </p:nvSpPr>
        <p:spPr>
          <a:xfrm>
            <a:off x="548640" y="2779776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step-num-text"/>
          <p:cNvSpPr txBox="1"/>
          <p:nvPr/>
        </p:nvSpPr>
        <p:spPr>
          <a:xfrm>
            <a:off x="548640" y="27797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-text"/>
          <p:cNvSpPr txBox="1"/>
          <p:nvPr/>
        </p:nvSpPr>
        <p:spPr>
          <a:xfrm>
            <a:off x="1097280" y="2670048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ビルド設定：フレームワークなし／ビルドコマンド空／出力先はルート</a:t>
            </a:r>
            <a:endParaRPr lang="en-US" sz="1450" dirty="0"/>
          </a:p>
        </p:txBody>
      </p:sp>
      <p:sp>
        <p:nvSpPr>
          <p:cNvPr id="14" name="step-num"/>
          <p:cNvSpPr/>
          <p:nvPr/>
        </p:nvSpPr>
        <p:spPr>
          <a:xfrm>
            <a:off x="548640" y="338328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tep-num-text"/>
          <p:cNvSpPr txBox="1"/>
          <p:nvPr/>
        </p:nvSpPr>
        <p:spPr>
          <a:xfrm>
            <a:off x="548640" y="33832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-text"/>
          <p:cNvSpPr txBox="1"/>
          <p:nvPr/>
        </p:nvSpPr>
        <p:spPr>
          <a:xfrm>
            <a:off x="1097280" y="327355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公開されたURLを自分のスマホで開く</a:t>
            </a:r>
            <a:endParaRPr lang="en-US" sz="1450" dirty="0"/>
          </a:p>
        </p:txBody>
      </p:sp>
      <p:sp>
        <p:nvSpPr>
          <p:cNvPr id="17" name="foot-box"/>
          <p:cNvSpPr/>
          <p:nvPr/>
        </p:nvSpPr>
        <p:spPr>
          <a:xfrm>
            <a:off x="548640" y="3977640"/>
            <a:ext cx="8046720" cy="502920"/>
          </a:xfrm>
          <a:prstGeom prst="roundRect">
            <a:avLst>
              <a:gd name="adj" fmla="val 18182"/>
            </a:avLst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</p:spPr>
      </p:sp>
      <p:pic>
        <p:nvPicPr>
          <p:cNvPr id="18" name="foot-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4105656"/>
            <a:ext cx="246888" cy="246888"/>
          </a:xfrm>
          <a:prstGeom prst="rect">
            <a:avLst/>
          </a:prstGeom>
        </p:spPr>
      </p:pic>
      <p:sp>
        <p:nvSpPr>
          <p:cNvPr id="19" name="foot-text"/>
          <p:cNvSpPr txBox="1"/>
          <p:nvPr/>
        </p:nvSpPr>
        <p:spPr>
          <a:xfrm>
            <a:off x="1051560" y="397764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chemeClr val="tx1"/>
                </a:solidFill>
              </a:rPr>
              <a:t>うまくいかないときは、エラー文をそのままClaude Codeに貼って原因を聞く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公開したら気をつけること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34416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3441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説明② 10分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3152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279" y="1776679"/>
            <a:ext cx="241402" cy="241402"/>
          </a:xfrm>
          <a:prstGeom prst="rect">
            <a:avLst/>
          </a:prstGeom>
        </p:spPr>
      </p:pic>
      <p:sp>
        <p:nvSpPr>
          <p:cNvPr id="8" name="card-head"/>
          <p:cNvSpPr txBox="1"/>
          <p:nvPr/>
        </p:nvSpPr>
        <p:spPr>
          <a:xfrm>
            <a:off x="73152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スマホで確認</a:t>
            </a:r>
            <a:endParaRPr lang="en-US" sz="1500" dirty="0"/>
          </a:p>
        </p:txBody>
      </p:sp>
      <p:sp>
        <p:nvSpPr>
          <p:cNvPr id="9" name="card-body"/>
          <p:cNvSpPr txBox="1"/>
          <p:nvPr/>
        </p:nvSpPr>
        <p:spPr>
          <a:xfrm>
            <a:off x="73152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お客様の多くはスマホ。PCとスマホの両方で見るクセを</a:t>
            </a:r>
            <a:endParaRPr lang="en-US" sz="1300" dirty="0"/>
          </a:p>
        </p:txBody>
      </p:sp>
      <p:sp>
        <p:nvSpPr>
          <p:cNvPr id="10" name="card"/>
          <p:cNvSpPr/>
          <p:nvPr/>
        </p:nvSpPr>
        <p:spPr>
          <a:xfrm>
            <a:off x="330708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348996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719" y="1776679"/>
            <a:ext cx="241402" cy="241402"/>
          </a:xfrm>
          <a:prstGeom prst="rect">
            <a:avLst/>
          </a:prstGeom>
        </p:spPr>
      </p:pic>
      <p:sp>
        <p:nvSpPr>
          <p:cNvPr id="13" name="card-head"/>
          <p:cNvSpPr txBox="1"/>
          <p:nvPr/>
        </p:nvSpPr>
        <p:spPr>
          <a:xfrm>
            <a:off x="348996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自動で反映</a:t>
            </a:r>
            <a:endParaRPr lang="en-US" sz="1500" dirty="0"/>
          </a:p>
        </p:txBody>
      </p:sp>
      <p:sp>
        <p:nvSpPr>
          <p:cNvPr id="14" name="card-body"/>
          <p:cNvSpPr txBox="1"/>
          <p:nvPr/>
        </p:nvSpPr>
        <p:spPr>
          <a:xfrm>
            <a:off x="348996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GitHubに保存するたびに、数十秒〜数分で公開し直される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6065520" y="1463040"/>
            <a:ext cx="2529840" cy="2286000"/>
          </a:xfrm>
          <a:prstGeom prst="roundRect">
            <a:avLst>
              <a:gd name="adj" fmla="val 4800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6" name="icon-circle"/>
          <p:cNvSpPr/>
          <p:nvPr/>
        </p:nvSpPr>
        <p:spPr>
          <a:xfrm>
            <a:off x="6248400" y="1645920"/>
            <a:ext cx="502920" cy="50292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7" name="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9159" y="1776679"/>
            <a:ext cx="241402" cy="241402"/>
          </a:xfrm>
          <a:prstGeom prst="rect">
            <a:avLst/>
          </a:prstGeom>
        </p:spPr>
      </p:pic>
      <p:sp>
        <p:nvSpPr>
          <p:cNvPr id="18" name="card-head"/>
          <p:cNvSpPr txBox="1"/>
          <p:nvPr/>
        </p:nvSpPr>
        <p:spPr>
          <a:xfrm>
            <a:off x="6248400" y="2286000"/>
            <a:ext cx="2164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誰でも見られる</a:t>
            </a:r>
            <a:endParaRPr lang="en-US" sz="1500" dirty="0"/>
          </a:p>
        </p:txBody>
      </p:sp>
      <p:sp>
        <p:nvSpPr>
          <p:cNvPr id="19" name="card-body"/>
          <p:cNvSpPr txBox="1"/>
          <p:nvPr/>
        </p:nvSpPr>
        <p:spPr>
          <a:xfrm>
            <a:off x="6248400" y="2697480"/>
            <a:ext cx="2164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個人情報や社内情報をページに書かない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受付ページを作って公開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755648" cy="292608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75564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ハンズオン② 20分</a:t>
            </a:r>
            <a:endParaRPr lang="en-US" sz="1100" dirty="0"/>
          </a:p>
        </p:txBody>
      </p:sp>
      <p:sp>
        <p:nvSpPr>
          <p:cNvPr id="5" name="step-num"/>
          <p:cNvSpPr/>
          <p:nvPr/>
        </p:nvSpPr>
        <p:spPr>
          <a:xfrm>
            <a:off x="548640" y="1805940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6" name="step-num-text"/>
          <p:cNvSpPr txBox="1"/>
          <p:nvPr/>
        </p:nvSpPr>
        <p:spPr>
          <a:xfrm>
            <a:off x="548640" y="18059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step-text"/>
          <p:cNvSpPr txBox="1"/>
          <p:nvPr/>
        </p:nvSpPr>
        <p:spPr>
          <a:xfrm>
            <a:off x="1097280" y="1696212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Claude Codeに受付ページを頼む（プロンプト集 P-05）</a:t>
            </a:r>
            <a:endParaRPr lang="en-US" sz="1450" dirty="0"/>
          </a:p>
        </p:txBody>
      </p:sp>
      <p:sp>
        <p:nvSpPr>
          <p:cNvPr id="8" name="step-num"/>
          <p:cNvSpPr/>
          <p:nvPr/>
        </p:nvSpPr>
        <p:spPr>
          <a:xfrm>
            <a:off x="548640" y="2409444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step-num-text"/>
          <p:cNvSpPr txBox="1"/>
          <p:nvPr/>
        </p:nvSpPr>
        <p:spPr>
          <a:xfrm>
            <a:off x="548640" y="24094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step-text"/>
          <p:cNvSpPr txBox="1"/>
          <p:nvPr/>
        </p:nvSpPr>
        <p:spPr>
          <a:xfrm>
            <a:off x="1097280" y="2299716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今回は「見た目だけ」。送信先はまだ作らない</a:t>
            </a:r>
            <a:endParaRPr lang="en-US" sz="1450" dirty="0"/>
          </a:p>
        </p:txBody>
      </p:sp>
      <p:sp>
        <p:nvSpPr>
          <p:cNvPr id="11" name="step-num"/>
          <p:cNvSpPr/>
          <p:nvPr/>
        </p:nvSpPr>
        <p:spPr>
          <a:xfrm>
            <a:off x="548640" y="3012948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2" name="step-num-text"/>
          <p:cNvSpPr txBox="1"/>
          <p:nvPr/>
        </p:nvSpPr>
        <p:spPr>
          <a:xfrm>
            <a:off x="548640" y="301294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</a:t>
            </a:r>
            <a:endParaRPr lang="en-US" sz="1400" dirty="0"/>
          </a:p>
        </p:txBody>
      </p:sp>
      <p:sp>
        <p:nvSpPr>
          <p:cNvPr id="13" name="step-text"/>
          <p:cNvSpPr txBox="1"/>
          <p:nvPr/>
        </p:nvSpPr>
        <p:spPr>
          <a:xfrm>
            <a:off x="1097280" y="2903220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スマホで確認し、直したい点を2つ直す</a:t>
            </a:r>
            <a:endParaRPr lang="en-US" sz="1450" dirty="0"/>
          </a:p>
        </p:txBody>
      </p:sp>
      <p:sp>
        <p:nvSpPr>
          <p:cNvPr id="14" name="step-num"/>
          <p:cNvSpPr/>
          <p:nvPr/>
        </p:nvSpPr>
        <p:spPr>
          <a:xfrm>
            <a:off x="548640" y="3616452"/>
            <a:ext cx="384048" cy="384048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5" name="step-num-text"/>
          <p:cNvSpPr txBox="1"/>
          <p:nvPr/>
        </p:nvSpPr>
        <p:spPr>
          <a:xfrm>
            <a:off x="548640" y="36164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16" name="step-text"/>
          <p:cNvSpPr txBox="1"/>
          <p:nvPr/>
        </p:nvSpPr>
        <p:spPr>
          <a:xfrm>
            <a:off x="1097280" y="3506724"/>
            <a:ext cx="74980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chemeClr val="tx1"/>
                </a:solidFill>
              </a:rPr>
              <a:t>記録 → GitHubに保存 → 公開URLに反映されたか確かめる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受付ページの完成イメージ（スマホ）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120700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12070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完成イメージ</a:t>
            </a:r>
            <a:endParaRPr lang="en-US" sz="1100" dirty="0"/>
          </a:p>
        </p:txBody>
      </p:sp>
      <p:sp>
        <p:nvSpPr>
          <p:cNvPr id="6" name="phone-frame"/>
          <p:cNvSpPr/>
          <p:nvPr/>
        </p:nvSpPr>
        <p:spPr>
          <a:xfrm>
            <a:off x="548640" y="1417320"/>
            <a:ext cx="1563178" cy="3145536"/>
          </a:xfrm>
          <a:prstGeom prst="roundRect">
            <a:avLst>
              <a:gd name="adj" fmla="val 81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7" name="phone-screen" descr="まなべ食堂の予約ページ（入力前）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481328"/>
            <a:ext cx="1435162" cy="3017520"/>
          </a:xfrm>
          <a:prstGeom prst="rect">
            <a:avLst/>
          </a:prstGeom>
        </p:spPr>
      </p:pic>
      <p:sp>
        <p:nvSpPr>
          <p:cNvPr id="8" name="phone-num"/>
          <p:cNvSpPr/>
          <p:nvPr/>
        </p:nvSpPr>
        <p:spPr>
          <a:xfrm>
            <a:off x="438912" y="1307592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438912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1</a:t>
            </a:r>
            <a:endParaRPr lang="en-US" sz="1300" dirty="0"/>
          </a:p>
        </p:txBody>
      </p:sp>
      <p:sp>
        <p:nvSpPr>
          <p:cNvPr id="10" name="phone-frame"/>
          <p:cNvSpPr/>
          <p:nvPr/>
        </p:nvSpPr>
        <p:spPr>
          <a:xfrm>
            <a:off x="2386138" y="1417320"/>
            <a:ext cx="1563178" cy="3145536"/>
          </a:xfrm>
          <a:prstGeom prst="roundRect">
            <a:avLst>
              <a:gd name="adj" fmla="val 8189"/>
            </a:avLst>
          </a:prstGeom>
          <a:solidFill>
            <a:srgbClr val="1A1A1A"/>
          </a:solidFill>
          <a:ln w="1270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pic>
        <p:nvPicPr>
          <p:cNvPr id="11" name="phone-screen" descr="必須項目が空のときのエラー表示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0146" y="1481328"/>
            <a:ext cx="1435162" cy="3017520"/>
          </a:xfrm>
          <a:prstGeom prst="rect">
            <a:avLst/>
          </a:prstGeom>
        </p:spPr>
      </p:pic>
      <p:sp>
        <p:nvSpPr>
          <p:cNvPr id="12" name="phone-num"/>
          <p:cNvSpPr/>
          <p:nvPr/>
        </p:nvSpPr>
        <p:spPr>
          <a:xfrm>
            <a:off x="2276410" y="1307592"/>
            <a:ext cx="365760" cy="36576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2276410" y="13075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2</a:t>
            </a:r>
            <a:endParaRPr lang="en-US" sz="1300" dirty="0"/>
          </a:p>
        </p:txBody>
      </p:sp>
      <p:sp>
        <p:nvSpPr>
          <p:cNvPr id="14" name="point-head"/>
          <p:cNvSpPr txBox="1"/>
          <p:nvPr/>
        </p:nvSpPr>
        <p:spPr>
          <a:xfrm>
            <a:off x="4315076" y="1417320"/>
            <a:ext cx="4280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 入力欄は大きく、必須がひと目でわかる</a:t>
            </a:r>
            <a:endParaRPr lang="en-US" sz="1500" dirty="0"/>
          </a:p>
        </p:txBody>
      </p:sp>
      <p:sp>
        <p:nvSpPr>
          <p:cNvPr id="15" name="point-body"/>
          <p:cNvSpPr txBox="1"/>
          <p:nvPr/>
        </p:nvSpPr>
        <p:spPr>
          <a:xfrm>
            <a:off x="4315076" y="1801368"/>
            <a:ext cx="428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お客様はスマホで入力する。指で押しやすい大きさにし、「必須」を赤で示す</a:t>
            </a:r>
            <a:endParaRPr lang="en-US" sz="1250" dirty="0"/>
          </a:p>
        </p:txBody>
      </p:sp>
      <p:sp>
        <p:nvSpPr>
          <p:cNvPr id="16" name="point-head"/>
          <p:cNvSpPr txBox="1"/>
          <p:nvPr/>
        </p:nvSpPr>
        <p:spPr>
          <a:xfrm>
            <a:off x="4315076" y="2423160"/>
            <a:ext cx="4280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2 足りないときは、何が足りないかを伝える</a:t>
            </a:r>
            <a:endParaRPr lang="en-US" sz="1500" dirty="0"/>
          </a:p>
        </p:txBody>
      </p:sp>
      <p:sp>
        <p:nvSpPr>
          <p:cNvPr id="17" name="point-body"/>
          <p:cNvSpPr txBox="1"/>
          <p:nvPr/>
        </p:nvSpPr>
        <p:spPr>
          <a:xfrm>
            <a:off x="4315076" y="2807208"/>
            <a:ext cx="428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空のまま送ると、送信せずに不足している項目を表示する</a:t>
            </a:r>
            <a:endParaRPr lang="en-US" sz="1250" dirty="0"/>
          </a:p>
        </p:txBody>
      </p:sp>
      <p:sp>
        <p:nvSpPr>
          <p:cNvPr id="18" name="point-head"/>
          <p:cNvSpPr txBox="1"/>
          <p:nvPr/>
        </p:nvSpPr>
        <p:spPr>
          <a:xfrm>
            <a:off x="4315076" y="3429000"/>
            <a:ext cx="42802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この回の範囲</a:t>
            </a:r>
            <a:endParaRPr lang="en-US" sz="1500" dirty="0"/>
          </a:p>
        </p:txBody>
      </p:sp>
      <p:sp>
        <p:nvSpPr>
          <p:cNvPr id="19" name="point-body"/>
          <p:cNvSpPr txBox="1"/>
          <p:nvPr/>
        </p:nvSpPr>
        <p:spPr>
          <a:xfrm>
            <a:off x="4315076" y="3813048"/>
            <a:ext cx="42802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chemeClr val="tx1"/>
                </a:solidFill>
              </a:rPr>
              <a:t>見た目だけ。送信してもまだどこにも保存されない（保存は第9回）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658368"/>
            <a:ext cx="80467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tx1"/>
                </a:solidFill>
              </a:rPr>
              <a:t>宿題と、今日のチェック</a:t>
            </a:r>
            <a:endParaRPr lang="en-US" sz="2400" dirty="0"/>
          </a:p>
        </p:txBody>
      </p:sp>
      <p:sp>
        <p:nvSpPr>
          <p:cNvPr id="3" name="chip"/>
          <p:cNvSpPr/>
          <p:nvPr/>
        </p:nvSpPr>
        <p:spPr>
          <a:xfrm>
            <a:off x="548640" y="292608"/>
            <a:ext cx="795528" cy="292608"/>
          </a:xfrm>
          <a:prstGeom prst="roundRect">
            <a:avLst>
              <a:gd name="adj" fmla="val 50000"/>
            </a:avLst>
          </a:prstGeom>
          <a:solidFill>
            <a:schemeClr val="tx1"/>
          </a:solidFill>
          <a:ln w="12700">
            <a:solidFill>
              <a:schemeClr val="tx1"/>
            </a:solidFill>
            <a:prstDash val="solid"/>
          </a:ln>
        </p:spPr>
      </p:sp>
      <p:sp>
        <p:nvSpPr>
          <p:cNvPr id="4" name="chip-text"/>
          <p:cNvSpPr txBox="1"/>
          <p:nvPr/>
        </p:nvSpPr>
        <p:spPr>
          <a:xfrm>
            <a:off x="548640" y="292608"/>
            <a:ext cx="7955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まとめ</a:t>
            </a:r>
            <a:endParaRPr lang="en-US" sz="1100" dirty="0"/>
          </a:p>
        </p:txBody>
      </p:sp>
      <p:sp>
        <p:nvSpPr>
          <p:cNvPr id="5" name="card"/>
          <p:cNvSpPr/>
          <p:nvPr/>
        </p:nvSpPr>
        <p:spPr>
          <a:xfrm>
            <a:off x="54864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2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6" name="icon-circle"/>
          <p:cNvSpPr/>
          <p:nvPr/>
        </p:nvSpPr>
        <p:spPr>
          <a:xfrm>
            <a:off x="77724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7" name="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6112" y="1764792"/>
            <a:ext cx="219456" cy="219456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37160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宿題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chemeClr val="tx1"/>
                </a:solidFill>
              </a:rPr>
              <a:t>公開URLを社内で見てもらい、直したい点を3つ集める（BASEの「改善要望」テーブルへ）</a:t>
            </a:r>
            <a:endParaRPr lang="en-US" sz="1350" dirty="0"/>
          </a:p>
        </p:txBody>
      </p:sp>
      <p:sp>
        <p:nvSpPr>
          <p:cNvPr id="10" name="card"/>
          <p:cNvSpPr/>
          <p:nvPr/>
        </p:nvSpPr>
        <p:spPr>
          <a:xfrm>
            <a:off x="4709160" y="1463040"/>
            <a:ext cx="3886200" cy="3017520"/>
          </a:xfrm>
          <a:prstGeom prst="roundRect">
            <a:avLst>
              <a:gd name="adj" fmla="val 3636"/>
            </a:avLst>
          </a:prstGeom>
          <a:solidFill>
            <a:schemeClr val="bg1"/>
          </a:solidFill>
          <a:ln w="19050">
            <a:solidFill>
              <a:srgbClr val="1A1A1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8000"/>
              </a:srgbClr>
            </a:outerShdw>
          </a:effectLst>
        </p:spPr>
      </p:sp>
      <p:sp>
        <p:nvSpPr>
          <p:cNvPr id="11" name="icon-circle"/>
          <p:cNvSpPr/>
          <p:nvPr/>
        </p:nvSpPr>
        <p:spPr>
          <a:xfrm>
            <a:off x="4937760" y="1645920"/>
            <a:ext cx="457200" cy="457200"/>
          </a:xfrm>
          <a:prstGeom prst="ellipse">
            <a:avLst/>
          </a:prstGeom>
          <a:solidFill>
            <a:schemeClr val="accent1"/>
          </a:solidFill>
          <a:ln w="15875">
            <a:solidFill>
              <a:srgbClr val="1A1A1A"/>
            </a:solidFill>
            <a:prstDash val="solid"/>
          </a:ln>
        </p:spPr>
      </p:sp>
      <p:pic>
        <p:nvPicPr>
          <p:cNvPr id="12" name="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632" y="1764792"/>
            <a:ext cx="219456" cy="21945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532120" y="16459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できたらチェック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4937760" y="2286000"/>
            <a:ext cx="34747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公開URLをスマホで開けた</a:t>
            </a:r>
            <a:endParaRPr lang="en-US" sz="135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50" dirty="0">
                <a:solidFill>
                  <a:schemeClr val="tx1"/>
                </a:solidFill>
              </a:rPr>
              <a:t>☐ 修正が自動で公開ページに反映された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73168"/>
            <a:ext cx="36576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A687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6304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accent1"/>
                </a:solidFill>
              </a:rPr>
              <a:t>次回：第9回 Lark BASEとつなぐ（API）</a:t>
            </a:r>
            <a:endParaRPr lang="en-US" sz="3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606040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わからないところは、講座グループでいつでも質問してください。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APIキーやパスワードは送らないでください。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naberu">
  <a:themeElements>
    <a:clrScheme name="Manaberu">
      <a:dk1>
        <a:srgbClr val="1A1A1A"/>
      </a:dk1>
      <a:lt1>
        <a:srgbClr val="FFFFFF"/>
      </a:lt1>
      <a:dk2>
        <a:srgbClr val="5A6872"/>
      </a:dk2>
      <a:lt2>
        <a:srgbClr val="FFF6CC"/>
      </a:lt2>
      <a:accent1>
        <a:srgbClr val="FFD600"/>
      </a:accent1>
      <a:accent2>
        <a:srgbClr val="DD6420"/>
      </a:accent2>
      <a:accent3>
        <a:srgbClr val="3370FF"/>
      </a:accent3>
      <a:accent4>
        <a:srgbClr val="06C755"/>
      </a:accent4>
      <a:accent5>
        <a:srgbClr val="E53935"/>
      </a:accent5>
      <a:accent6>
        <a:srgbClr val="F5A623"/>
      </a:accent6>
      <a:hlink>
        <a:srgbClr val="3370FF"/>
      </a:hlink>
      <a:folHlink>
        <a:srgbClr val="6B4FBB"/>
      </a:folHlink>
    </a:clrScheme>
    <a:fontScheme name="Manaberu">
      <a:majorFont>
        <a:latin typeface="Yu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Yu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ささエール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マナベル 第8回 Webに公開する</dc:title>
  <dc:subject>PptxGenJS Presentation</dc:subject>
  <dc:creator>ささエール（Office Plata）</dc:creator>
  <cp:lastModifiedBy>ささエール（Office Plata）</cp:lastModifiedBy>
  <cp:revision>1</cp:revision>
  <dcterms:created xsi:type="dcterms:W3CDTF">2026-10-02T10:58:08Z</dcterms:created>
  <dcterms:modified xsi:type="dcterms:W3CDTF">2026-10-02T10:58:08Z</dcterms:modified>
</cp:coreProperties>
</file>