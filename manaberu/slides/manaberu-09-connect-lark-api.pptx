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e9673c70-f261-a528-ed1d-ba26eeaf80c5}">
          <p14:sldIdLst>
            <p14:sldId id="256"/>
            <p14:sldId id="257"/>
          </p14:sldIdLst>
        </p14:section>
        <p14:section name="本編" id="{25066673-3753-0f5e-ec06-1cde0a768423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まとめ" id="{d7d042bb-0998-60d5-4df6-0eee1e2d6412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第9回「Lark BASEとつなぐ（API）」。前回の宿題の提出状況を確認してから始める。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ゴールを読み上げ、今日は「聞く」と「手を動かす」を交互に進めることを伝える。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決まった書き方の注文書を出すと品物が返ってくる、窓口では身分証を確かめられる、というたとえで。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権限の公開とBASEへのアプリ追加を忘れる人が多い。全員で画面共有しながら進める。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Secretをページに書くと、誰でもBASEを書き換えられることを強調。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答え合わせは講師デモ版（manaberu/demo）と見比べる。Secretがコードに直接書かれていないかを全員確認。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BASEに入る瞬間とグループ通知は、講師環境で実演して見せる（Lark画面は講師が画面共有）。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宿題の目安時間を伝える。質問は講座グループへ（24時間以内に返信・土日祝を除く）。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次回までの宿題をもう一度確認して終了。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MANA_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MANA_CONTENT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4754880"/>
            <a:ext cx="2423160" cy="274320"/>
          </a:xfrm>
          <a:prstGeom prst="rect">
            <a:avLst>
              <a:gd name="adj" fmla="val 50000"/>
            </a:avLst>
          </a:prstGeom>
          <a:solidFill>
            <a:srgbClr val="1A1A1A"/>
          </a:solidFill>
          <a:ln/>
        </p:spPr>
      </p:sp>
      <p:sp>
        <p:nvSpPr>
          <p:cNvPr id="3" name="Text 1"/>
          <p:cNvSpPr/>
          <p:nvPr/>
        </p:nvSpPr>
        <p:spPr>
          <a:xfrm>
            <a:off x="6510528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8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ささエール｜OFFICE PLATA</a:t>
            </a:r>
            <a:endParaRPr lang="ja-JP" sz="850" dirty="0"/>
          </a:p>
        </p:txBody>
      </p:sp>
      <p:sp>
        <p:nvSpPr>
          <p:cNvPr id="4" name="Text 2"/>
          <p:cNvSpPr/>
          <p:nvPr/>
        </p:nvSpPr>
        <p:spPr>
          <a:xfrm>
            <a:off x="365760" y="47548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850" dirty="0">
                <a:solidFill>
                  <a:srgbClr val="1A1A1A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マナベル　第9回　Lark BASEとつなぐ（API）</a:t>
            </a:r>
            <a:endParaRPr lang="ja-JP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rtrait" descr="講師 笹原彰朗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03588" y="1211580"/>
            <a:ext cx="2866092" cy="3931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 rot="-240000">
            <a:off x="457200" y="411480"/>
            <a:ext cx="1600200" cy="60350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200" dirty="0">
                <a:solidFill>
                  <a:srgbClr val="FFD600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第9回</a:t>
            </a:r>
            <a:endParaRPr lang="ja-JP" sz="22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188720"/>
            <a:ext cx="6035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ja-JP" altLang="en-US" sz="32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Lark BASEとつなぐ（API）</a:t>
            </a:r>
            <a:endParaRPr lang="ja-JP" sz="3200" dirty="0"/>
          </a:p>
        </p:txBody>
      </p:sp>
      <p:sp>
        <p:nvSpPr>
          <p:cNvPr id="5" name="Text 2"/>
          <p:cNvSpPr txBox="1"/>
          <p:nvPr/>
        </p:nvSpPr>
        <p:spPr>
          <a:xfrm rot="-120000">
            <a:off x="457200" y="2971800"/>
            <a:ext cx="4937760" cy="502920"/>
          </a:xfrm>
          <a:prstGeom prst="rect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フェーズ3 AIで作る｜第6週</a:t>
            </a:r>
            <a:endParaRPr lang="ja-JP" sz="1600" dirty="0"/>
          </a:p>
        </p:txBody>
      </p:sp>
      <p:sp>
        <p:nvSpPr>
          <p:cNvPr id="6" name="card"/>
          <p:cNvSpPr/>
          <p:nvPr/>
        </p:nvSpPr>
        <p:spPr>
          <a:xfrm>
            <a:off x="457200" y="3730752"/>
            <a:ext cx="4937760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658368" y="3767328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ja-JP" altLang="en-US" sz="15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マナベル｜AI×Lark 構築者育成講座</a:t>
            </a:r>
            <a:endParaRPr lang="ja-JP" sz="1500" dirty="0"/>
          </a:p>
          <a:p>
            <a:pPr indent="0" marL="0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DD642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ささエール ／ OFFICE PLATA　笹原 彰朗</a:t>
            </a:r>
            <a:endParaRPr lang="ja-JP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040587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はじめに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今日のゴールと流れ</a:t>
            </a:r>
            <a:endParaRPr lang="ja-JP" sz="2600" dirty="0"/>
          </a:p>
        </p:txBody>
      </p:sp>
      <p:sp>
        <p:nvSpPr>
          <p:cNvPr id="4" name="card"/>
          <p:cNvSpPr/>
          <p:nvPr/>
        </p:nvSpPr>
        <p:spPr>
          <a:xfrm>
            <a:off x="502920" y="1371600"/>
            <a:ext cx="3941064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685800" y="1572768"/>
            <a:ext cx="438912" cy="438912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682496"/>
            <a:ext cx="219456" cy="219456"/>
          </a:xfrm>
          <a:prstGeom prst="rect">
            <a:avLst/>
          </a:prstGeom>
        </p:spPr>
      </p:pic>
      <p:sp>
        <p:nvSpPr>
          <p:cNvPr id="7" name="goal"/>
          <p:cNvSpPr txBox="1"/>
          <p:nvPr/>
        </p:nvSpPr>
        <p:spPr>
          <a:xfrm>
            <a:off x="1252728" y="1463040"/>
            <a:ext cx="3026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APIのしくみと、秘密情報（APIキー）の守り方がわかる</a:t>
            </a:r>
            <a:endParaRPr lang="ja-JP" sz="1400" dirty="0"/>
          </a:p>
        </p:txBody>
      </p:sp>
      <p:sp>
        <p:nvSpPr>
          <p:cNvPr id="8" name="card"/>
          <p:cNvSpPr/>
          <p:nvPr/>
        </p:nvSpPr>
        <p:spPr>
          <a:xfrm>
            <a:off x="4700016" y="1371600"/>
            <a:ext cx="3941064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9" name="icon-circle"/>
          <p:cNvSpPr/>
          <p:nvPr/>
        </p:nvSpPr>
        <p:spPr>
          <a:xfrm>
            <a:off x="4882896" y="1572768"/>
            <a:ext cx="438912" cy="438912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2624" y="1682496"/>
            <a:ext cx="219456" cy="219456"/>
          </a:xfrm>
          <a:prstGeom prst="rect">
            <a:avLst/>
          </a:prstGeom>
        </p:spPr>
      </p:pic>
      <p:sp>
        <p:nvSpPr>
          <p:cNvPr id="11" name="goal"/>
          <p:cNvSpPr txBox="1"/>
          <p:nvPr/>
        </p:nvSpPr>
        <p:spPr>
          <a:xfrm>
            <a:off x="5449824" y="1463040"/>
            <a:ext cx="3026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自作の受付ページから送ったデータが、Lark BASEに入る</a:t>
            </a:r>
            <a:endParaRPr lang="ja-JP" sz="1400" dirty="0"/>
          </a:p>
        </p:txBody>
      </p:sp>
      <p:sp>
        <p:nvSpPr>
          <p:cNvPr id="12" name="Text 8"/>
          <p:cNvSpPr txBox="1"/>
          <p:nvPr/>
        </p:nvSpPr>
        <p:spPr>
          <a:xfrm rot="-120000">
            <a:off x="457200" y="2907792"/>
            <a:ext cx="1915668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今日の流れ（90分）</a:t>
            </a:r>
            <a:endParaRPr lang="ja-JP" sz="1100" dirty="0"/>
          </a:p>
        </p:txBody>
      </p:sp>
      <p:sp>
        <p:nvSpPr>
          <p:cNvPr id="13" name="Shape 9"/>
          <p:cNvSpPr/>
          <p:nvPr/>
        </p:nvSpPr>
        <p:spPr>
          <a:xfrm>
            <a:off x="502920" y="3364992"/>
            <a:ext cx="8138160" cy="685800"/>
          </a:xfrm>
          <a:prstGeom prst="rect">
            <a:avLst/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4" name="time-block"/>
          <p:cNvSpPr/>
          <p:nvPr/>
        </p:nvSpPr>
        <p:spPr>
          <a:xfrm>
            <a:off x="502920" y="3364992"/>
            <a:ext cx="90424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ime-label"/>
          <p:cNvSpPr txBox="1"/>
          <p:nvPr/>
        </p:nvSpPr>
        <p:spPr>
          <a:xfrm>
            <a:off x="502920" y="3364992"/>
            <a:ext cx="90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ふりかえり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10分</a:t>
            </a:r>
            <a:endParaRPr lang="ja-JP" sz="1050" dirty="0"/>
          </a:p>
        </p:txBody>
      </p:sp>
      <p:sp>
        <p:nvSpPr>
          <p:cNvPr id="16" name="time-block"/>
          <p:cNvSpPr/>
          <p:nvPr/>
        </p:nvSpPr>
        <p:spPr>
          <a:xfrm>
            <a:off x="1407160" y="3364992"/>
            <a:ext cx="90424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ime-label"/>
          <p:cNvSpPr txBox="1"/>
          <p:nvPr/>
        </p:nvSpPr>
        <p:spPr>
          <a:xfrm>
            <a:off x="1407160" y="3364992"/>
            <a:ext cx="90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説明①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10分</a:t>
            </a:r>
            <a:endParaRPr lang="ja-JP" sz="1050" dirty="0"/>
          </a:p>
        </p:txBody>
      </p:sp>
      <p:sp>
        <p:nvSpPr>
          <p:cNvPr id="18" name="time-block"/>
          <p:cNvSpPr/>
          <p:nvPr/>
        </p:nvSpPr>
        <p:spPr>
          <a:xfrm>
            <a:off x="2311400" y="3364992"/>
            <a:ext cx="1808480" cy="685800"/>
          </a:xfrm>
          <a:prstGeom prst="rect">
            <a:avLst/>
          </a:prstGeom>
          <a:solidFill>
            <a:srgbClr val="DD64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ime-label"/>
          <p:cNvSpPr txBox="1"/>
          <p:nvPr/>
        </p:nvSpPr>
        <p:spPr>
          <a:xfrm>
            <a:off x="2311400" y="3364992"/>
            <a:ext cx="180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ハンズオン①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20分</a:t>
            </a:r>
            <a:endParaRPr lang="ja-JP" sz="1050" dirty="0"/>
          </a:p>
        </p:txBody>
      </p:sp>
      <p:sp>
        <p:nvSpPr>
          <p:cNvPr id="20" name="time-block"/>
          <p:cNvSpPr/>
          <p:nvPr/>
        </p:nvSpPr>
        <p:spPr>
          <a:xfrm>
            <a:off x="4119880" y="3364992"/>
            <a:ext cx="90424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ime-label"/>
          <p:cNvSpPr txBox="1"/>
          <p:nvPr/>
        </p:nvSpPr>
        <p:spPr>
          <a:xfrm>
            <a:off x="4119880" y="3364992"/>
            <a:ext cx="90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説明②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10分</a:t>
            </a:r>
            <a:endParaRPr lang="ja-JP" sz="1050" dirty="0"/>
          </a:p>
        </p:txBody>
      </p:sp>
      <p:sp>
        <p:nvSpPr>
          <p:cNvPr id="22" name="time-block"/>
          <p:cNvSpPr/>
          <p:nvPr/>
        </p:nvSpPr>
        <p:spPr>
          <a:xfrm>
            <a:off x="5024120" y="3364992"/>
            <a:ext cx="1808480" cy="685800"/>
          </a:xfrm>
          <a:prstGeom prst="rect">
            <a:avLst/>
          </a:prstGeom>
          <a:solidFill>
            <a:srgbClr val="DD64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ime-label"/>
          <p:cNvSpPr txBox="1"/>
          <p:nvPr/>
        </p:nvSpPr>
        <p:spPr>
          <a:xfrm>
            <a:off x="5024120" y="3364992"/>
            <a:ext cx="180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ハンズオン②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20分</a:t>
            </a:r>
            <a:endParaRPr lang="ja-JP" sz="1050" dirty="0"/>
          </a:p>
        </p:txBody>
      </p:sp>
      <p:sp>
        <p:nvSpPr>
          <p:cNvPr id="24" name="time-block"/>
          <p:cNvSpPr/>
          <p:nvPr/>
        </p:nvSpPr>
        <p:spPr>
          <a:xfrm>
            <a:off x="6832600" y="3364992"/>
            <a:ext cx="135636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ime-label"/>
          <p:cNvSpPr txBox="1"/>
          <p:nvPr/>
        </p:nvSpPr>
        <p:spPr>
          <a:xfrm>
            <a:off x="6832600" y="3364992"/>
            <a:ext cx="1356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質問・共有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15分</a:t>
            </a:r>
            <a:endParaRPr lang="ja-JP" sz="1050" dirty="0"/>
          </a:p>
        </p:txBody>
      </p:sp>
      <p:sp>
        <p:nvSpPr>
          <p:cNvPr id="26" name="time-block"/>
          <p:cNvSpPr/>
          <p:nvPr/>
        </p:nvSpPr>
        <p:spPr>
          <a:xfrm>
            <a:off x="8188960" y="3364992"/>
            <a:ext cx="45212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ime-label"/>
          <p:cNvSpPr txBox="1"/>
          <p:nvPr/>
        </p:nvSpPr>
        <p:spPr>
          <a:xfrm>
            <a:off x="8188960" y="3364992"/>
            <a:ext cx="452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85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宿題</a:t>
            </a:r>
            <a:endParaRPr lang="ja-JP" sz="8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5分</a:t>
            </a:r>
            <a:endParaRPr lang="ja-JP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502920" y="4187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0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■ </a:t>
            </a:r>
            <a:pPr indent="0" marL="0">
              <a:buNone/>
            </a:pPr>
            <a:r>
              <a:rPr lang="ja-JP" altLang="en-US" sz="10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聞く　</a:t>
            </a:r>
            <a:pPr indent="0" marL="0">
              <a:buNone/>
            </a:pPr>
            <a:r>
              <a:rPr lang="ja-JP" altLang="en-US" sz="1050" b="1" dirty="0">
                <a:solidFill>
                  <a:srgbClr val="DD642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■ </a:t>
            </a:r>
            <a:pPr indent="0" marL="0">
              <a:buNone/>
            </a:pPr>
            <a:r>
              <a:rPr lang="ja-JP" altLang="en-US" sz="10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手を動かす</a:t>
            </a:r>
            <a:endParaRPr lang="ja-JP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478128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説明① 10分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APIは</a:t>
            </a:r>
            <a:pPr indent="0" marL="0">
              <a:buNone/>
            </a:pPr>
            <a:r>
              <a:rPr lang="ja-JP" altLang="en-US" sz="2600" dirty="0">
                <a:solidFill>
                  <a:srgbClr val="DD6420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「お店の注文窓口」</a:t>
            </a:r>
            <a:endParaRPr lang="ja-JP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417320"/>
            <a:ext cx="8138160" cy="2194560"/>
          </a:xfrm>
          <a:prstGeom prst="rect">
            <a:avLst/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graphicFrame>
        <p:nvGraphicFramePr>
          <p:cNvPr id="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8138160" cy="914400"/>
        </p:xfrm>
        <a:graphic>
          <a:graphicData uri="http://schemas.openxmlformats.org/drawingml/2006/table">
            <a:tbl>
              <a:tblPr/>
              <a:tblGrid>
                <a:gridCol w="2170176"/>
                <a:gridCol w="3255264"/>
                <a:gridCol w="27127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登場人物</a:t>
                      </a:r>
                      <a:endParaRPr lang="en-US" sz="12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中身</a:t>
                      </a:r>
                      <a:endParaRPr lang="en-US" sz="12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どこで手に入る</a:t>
                      </a:r>
                      <a:endParaRPr lang="en-US" sz="12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64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Larkアプリ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Larkにアクセスする「代理人」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Lark開発者コンソール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64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App ID / Secret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代理人の身分証。Secretは絶対に秘密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アプリの認証情報画面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64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権限（スコープ）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代理人に許すこと（BASEを読む・書く）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アプリの権限画面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64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BASEトークン・テーブルID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どの台帳のどの1冊か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BASEのURL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915668" cy="352044"/>
          </a:xfrm>
          <a:prstGeom prst="rect">
            <a:avLst/>
          </a:prstGeom>
          <a:solidFill>
            <a:srgbClr val="DD6420"/>
          </a:solidFill>
          <a:ln>
            <a:solidFill>
              <a:srgbClr val="DD642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ハンズオン① 20分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Larkアプリを作り、BASEに招く</a:t>
            </a:r>
            <a:endParaRPr lang="ja-JP" sz="2600" dirty="0"/>
          </a:p>
        </p:txBody>
      </p:sp>
      <p:sp>
        <p:nvSpPr>
          <p:cNvPr id="5" name="card"/>
          <p:cNvSpPr/>
          <p:nvPr/>
        </p:nvSpPr>
        <p:spPr>
          <a:xfrm>
            <a:off x="502920" y="1417320"/>
            <a:ext cx="8138160" cy="382219"/>
          </a:xfrm>
          <a:prstGeom prst="roundRect">
            <a:avLst>
              <a:gd name="adj" fmla="val 23923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40080" y="1472184"/>
            <a:ext cx="272491" cy="272491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1</a:t>
            </a:r>
            <a:endParaRPr lang="ja-JP" sz="1500" dirty="0"/>
          </a:p>
        </p:txBody>
      </p:sp>
      <p:sp>
        <p:nvSpPr>
          <p:cNvPr id="7" name="step-text"/>
          <p:cNvSpPr txBox="1"/>
          <p:nvPr/>
        </p:nvSpPr>
        <p:spPr>
          <a:xfrm>
            <a:off x="1234440" y="1417320"/>
            <a:ext cx="72694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開発者コンソールでカスタムアプリを作り、ボットを有効にする</a:t>
            </a:r>
            <a:endParaRPr lang="ja-JP" sz="1400" dirty="0"/>
          </a:p>
        </p:txBody>
      </p:sp>
      <p:sp>
        <p:nvSpPr>
          <p:cNvPr id="8" name="card"/>
          <p:cNvSpPr/>
          <p:nvPr/>
        </p:nvSpPr>
        <p:spPr>
          <a:xfrm>
            <a:off x="502920" y="1927555"/>
            <a:ext cx="8138160" cy="382219"/>
          </a:xfrm>
          <a:prstGeom prst="roundRect">
            <a:avLst>
              <a:gd name="adj" fmla="val 23923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40080" y="1982419"/>
            <a:ext cx="272491" cy="272491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2</a:t>
            </a:r>
            <a:endParaRPr lang="ja-JP" sz="1500" dirty="0"/>
          </a:p>
        </p:txBody>
      </p:sp>
      <p:sp>
        <p:nvSpPr>
          <p:cNvPr id="10" name="step-text"/>
          <p:cNvSpPr txBox="1"/>
          <p:nvPr/>
        </p:nvSpPr>
        <p:spPr>
          <a:xfrm>
            <a:off x="1234440" y="1927555"/>
            <a:ext cx="72694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BASE（Bitable）の閲覧・編集の権限を追加する</a:t>
            </a:r>
            <a:endParaRPr lang="ja-JP" sz="1400" dirty="0"/>
          </a:p>
        </p:txBody>
      </p:sp>
      <p:sp>
        <p:nvSpPr>
          <p:cNvPr id="11" name="card"/>
          <p:cNvSpPr/>
          <p:nvPr/>
        </p:nvSpPr>
        <p:spPr>
          <a:xfrm>
            <a:off x="502920" y="2437790"/>
            <a:ext cx="8138160" cy="382219"/>
          </a:xfrm>
          <a:prstGeom prst="roundRect">
            <a:avLst>
              <a:gd name="adj" fmla="val 23923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40080" y="2492654"/>
            <a:ext cx="272491" cy="272491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3</a:t>
            </a:r>
            <a:endParaRPr lang="ja-JP" sz="1500" dirty="0"/>
          </a:p>
        </p:txBody>
      </p:sp>
      <p:sp>
        <p:nvSpPr>
          <p:cNvPr id="13" name="step-text"/>
          <p:cNvSpPr txBox="1"/>
          <p:nvPr/>
        </p:nvSpPr>
        <p:spPr>
          <a:xfrm>
            <a:off x="1234440" y="2437790"/>
            <a:ext cx="72694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バージョンを作成して公開を申請する（管理者の承認が必要な場合あり）</a:t>
            </a:r>
            <a:endParaRPr lang="ja-JP" sz="1400" dirty="0"/>
          </a:p>
        </p:txBody>
      </p:sp>
      <p:sp>
        <p:nvSpPr>
          <p:cNvPr id="14" name="card"/>
          <p:cNvSpPr/>
          <p:nvPr/>
        </p:nvSpPr>
        <p:spPr>
          <a:xfrm>
            <a:off x="502920" y="2948026"/>
            <a:ext cx="8138160" cy="382219"/>
          </a:xfrm>
          <a:prstGeom prst="roundRect">
            <a:avLst>
              <a:gd name="adj" fmla="val 23923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40080" y="3002890"/>
            <a:ext cx="272491" cy="272491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4</a:t>
            </a:r>
            <a:endParaRPr lang="ja-JP" sz="1500" dirty="0"/>
          </a:p>
        </p:txBody>
      </p:sp>
      <p:sp>
        <p:nvSpPr>
          <p:cNvPr id="16" name="step-text"/>
          <p:cNvSpPr txBox="1"/>
          <p:nvPr/>
        </p:nvSpPr>
        <p:spPr>
          <a:xfrm>
            <a:off x="1234440" y="2948026"/>
            <a:ext cx="72694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使うBASEの「…」メニューから、作ったアプリを追加する</a:t>
            </a:r>
            <a:endParaRPr lang="ja-JP" sz="1400" dirty="0"/>
          </a:p>
        </p:txBody>
      </p:sp>
      <p:sp>
        <p:nvSpPr>
          <p:cNvPr id="17" name="card"/>
          <p:cNvSpPr/>
          <p:nvPr/>
        </p:nvSpPr>
        <p:spPr>
          <a:xfrm>
            <a:off x="502920" y="3458261"/>
            <a:ext cx="8138160" cy="382219"/>
          </a:xfrm>
          <a:prstGeom prst="roundRect">
            <a:avLst>
              <a:gd name="adj" fmla="val 23923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40080" y="3513125"/>
            <a:ext cx="272491" cy="272491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5</a:t>
            </a:r>
            <a:endParaRPr lang="ja-JP" sz="1500" dirty="0"/>
          </a:p>
        </p:txBody>
      </p:sp>
      <p:sp>
        <p:nvSpPr>
          <p:cNvPr id="19" name="step-text"/>
          <p:cNvSpPr txBox="1"/>
          <p:nvPr/>
        </p:nvSpPr>
        <p:spPr>
          <a:xfrm>
            <a:off x="1234440" y="3458261"/>
            <a:ext cx="72694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App ID / Secret を安全な場所に控える</a:t>
            </a:r>
            <a:endParaRPr lang="ja-JP" sz="1400" dirty="0"/>
          </a:p>
        </p:txBody>
      </p:sp>
      <p:sp>
        <p:nvSpPr>
          <p:cNvPr id="20" name="Text 17"/>
          <p:cNvSpPr txBox="1"/>
          <p:nvPr/>
        </p:nvSpPr>
        <p:spPr>
          <a:xfrm rot="-60000">
            <a:off x="502920" y="4005072"/>
            <a:ext cx="8138160" cy="502920"/>
          </a:xfrm>
          <a:prstGeom prst="rect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1905" rIns="1905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画面が見つからないときは、Secretを隠してスクリーンショットを講師に</a:t>
            </a:r>
            <a:endParaRPr lang="ja-JP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478128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説明② 10分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秘密情報は</a:t>
            </a:r>
            <a:pPr indent="0" marL="0">
              <a:buNone/>
            </a:pPr>
            <a:r>
              <a:rPr lang="ja-JP" altLang="en-US" sz="2600" dirty="0">
                <a:solidFill>
                  <a:srgbClr val="DD6420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「受付係」</a:t>
            </a:r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だけが知っている</a:t>
            </a:r>
            <a:endParaRPr lang="ja-JP" sz="2600" dirty="0"/>
          </a:p>
        </p:txBody>
      </p:sp>
      <p:sp>
        <p:nvSpPr>
          <p:cNvPr id="5" name="card"/>
          <p:cNvSpPr/>
          <p:nvPr/>
        </p:nvSpPr>
        <p:spPr>
          <a:xfrm>
            <a:off x="502920" y="1691640"/>
            <a:ext cx="1746504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 rot="-180000">
            <a:off x="918972" y="1545336"/>
            <a:ext cx="914400" cy="292608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STEP 1</a:t>
            </a:r>
            <a:endParaRPr lang="ja-JP" sz="1000" dirty="0"/>
          </a:p>
        </p:txBody>
      </p:sp>
      <p:sp>
        <p:nvSpPr>
          <p:cNvPr id="7" name="flow-node"/>
          <p:cNvSpPr txBox="1"/>
          <p:nvPr/>
        </p:nvSpPr>
        <p:spPr>
          <a:xfrm>
            <a:off x="612648" y="1965960"/>
            <a:ext cx="15270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お客様のスマホ</a:t>
            </a:r>
            <a:endParaRPr lang="ja-JP" sz="1400" dirty="0"/>
          </a:p>
          <a:p>
            <a:pPr algn="ctr"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公開ページ</a:t>
            </a:r>
            <a:endParaRPr lang="ja-JP" sz="1400" dirty="0"/>
          </a:p>
        </p:txBody>
      </p:sp>
      <p:pic>
        <p:nvPicPr>
          <p:cNvPr id="8" name="flow-arrow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3432" y="2363724"/>
            <a:ext cx="256032" cy="256032"/>
          </a:xfrm>
          <a:prstGeom prst="rect">
            <a:avLst/>
          </a:prstGeom>
        </p:spPr>
      </p:pic>
      <p:sp>
        <p:nvSpPr>
          <p:cNvPr id="9" name="card"/>
          <p:cNvSpPr/>
          <p:nvPr/>
        </p:nvSpPr>
        <p:spPr>
          <a:xfrm>
            <a:off x="2633472" y="1691640"/>
            <a:ext cx="1746504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 rot="-180000">
            <a:off x="3049524" y="1545336"/>
            <a:ext cx="914400" cy="292608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STEP 2</a:t>
            </a:r>
            <a:endParaRPr lang="ja-JP" sz="1000" dirty="0"/>
          </a:p>
        </p:txBody>
      </p:sp>
      <p:sp>
        <p:nvSpPr>
          <p:cNvPr id="11" name="flow-node"/>
          <p:cNvSpPr txBox="1"/>
          <p:nvPr/>
        </p:nvSpPr>
        <p:spPr>
          <a:xfrm>
            <a:off x="2743200" y="1965960"/>
            <a:ext cx="15270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受付係</a:t>
            </a:r>
            <a:endParaRPr lang="ja-JP" sz="1400" dirty="0"/>
          </a:p>
          <a:p>
            <a:pPr algn="ctr"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Pages Functions</a:t>
            </a:r>
            <a:endParaRPr lang="ja-JP" sz="1400" dirty="0"/>
          </a:p>
        </p:txBody>
      </p:sp>
      <p:pic>
        <p:nvPicPr>
          <p:cNvPr id="12" name="flow-arrow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3984" y="2363724"/>
            <a:ext cx="256032" cy="256032"/>
          </a:xfrm>
          <a:prstGeom prst="rect">
            <a:avLst/>
          </a:prstGeom>
        </p:spPr>
      </p:pic>
      <p:sp>
        <p:nvSpPr>
          <p:cNvPr id="13" name="card"/>
          <p:cNvSpPr/>
          <p:nvPr/>
        </p:nvSpPr>
        <p:spPr>
          <a:xfrm>
            <a:off x="4764024" y="1691640"/>
            <a:ext cx="1746504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 rot="-180000">
            <a:off x="5180076" y="1545336"/>
            <a:ext cx="914400" cy="292608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STEP 3</a:t>
            </a:r>
            <a:endParaRPr lang="ja-JP" sz="1000" dirty="0"/>
          </a:p>
        </p:txBody>
      </p:sp>
      <p:sp>
        <p:nvSpPr>
          <p:cNvPr id="15" name="flow-node"/>
          <p:cNvSpPr txBox="1"/>
          <p:nvPr/>
        </p:nvSpPr>
        <p:spPr>
          <a:xfrm>
            <a:off x="4873752" y="1965960"/>
            <a:ext cx="15270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Lark API</a:t>
            </a:r>
            <a:endParaRPr lang="ja-JP" sz="1400" dirty="0"/>
          </a:p>
        </p:txBody>
      </p:sp>
      <p:pic>
        <p:nvPicPr>
          <p:cNvPr id="16" name="flow-arrow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536" y="2363724"/>
            <a:ext cx="256032" cy="256032"/>
          </a:xfrm>
          <a:prstGeom prst="rect">
            <a:avLst/>
          </a:prstGeom>
        </p:spPr>
      </p:pic>
      <p:sp>
        <p:nvSpPr>
          <p:cNvPr id="17" name="card"/>
          <p:cNvSpPr/>
          <p:nvPr/>
        </p:nvSpPr>
        <p:spPr>
          <a:xfrm>
            <a:off x="6894576" y="1691640"/>
            <a:ext cx="1746504" cy="1600200"/>
          </a:xfrm>
          <a:prstGeom prst="roundRect">
            <a:avLst>
              <a:gd name="adj" fmla="val 5714"/>
            </a:avLst>
          </a:prstGeom>
          <a:solidFill>
            <a:srgbClr val="F5A623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8" name="Text 12"/>
          <p:cNvSpPr txBox="1"/>
          <p:nvPr/>
        </p:nvSpPr>
        <p:spPr>
          <a:xfrm rot="-180000">
            <a:off x="7310628" y="1545336"/>
            <a:ext cx="914400" cy="292608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STEP 4</a:t>
            </a:r>
            <a:endParaRPr lang="ja-JP" sz="1000" dirty="0"/>
          </a:p>
        </p:txBody>
      </p:sp>
      <p:sp>
        <p:nvSpPr>
          <p:cNvPr id="19" name="flow-node"/>
          <p:cNvSpPr txBox="1"/>
          <p:nvPr/>
        </p:nvSpPr>
        <p:spPr>
          <a:xfrm>
            <a:off x="7004304" y="1965960"/>
            <a:ext cx="15270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BASE</a:t>
            </a:r>
            <a:endParaRPr lang="ja-JP" sz="1400" dirty="0"/>
          </a:p>
        </p:txBody>
      </p:sp>
      <p:sp>
        <p:nvSpPr>
          <p:cNvPr id="20" name="Text 14"/>
          <p:cNvSpPr txBox="1"/>
          <p:nvPr/>
        </p:nvSpPr>
        <p:spPr>
          <a:xfrm rot="-60000">
            <a:off x="502920" y="3794760"/>
            <a:ext cx="8138160" cy="502920"/>
          </a:xfrm>
          <a:prstGeom prst="rect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1905" rIns="1905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公開ページは誰でも中身を見られる。Secretはシークレットに登録し、コードにもGitHubにも書かない</a:t>
            </a:r>
            <a:endParaRPr lang="ja-JP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915668" cy="352044"/>
          </a:xfrm>
          <a:prstGeom prst="rect">
            <a:avLst/>
          </a:prstGeom>
          <a:solidFill>
            <a:srgbClr val="DD6420"/>
          </a:solidFill>
          <a:ln>
            <a:solidFill>
              <a:srgbClr val="DD642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ハンズオン② 20分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送信データをBASEに保存</a:t>
            </a:r>
            <a:endParaRPr lang="ja-JP" sz="2600" dirty="0"/>
          </a:p>
        </p:txBody>
      </p:sp>
      <p:sp>
        <p:nvSpPr>
          <p:cNvPr id="5" name="card"/>
          <p:cNvSpPr/>
          <p:nvPr/>
        </p:nvSpPr>
        <p:spPr>
          <a:xfrm>
            <a:off x="502920" y="1600200"/>
            <a:ext cx="81381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40080" y="1682496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1</a:t>
            </a:r>
            <a:endParaRPr lang="ja-JP" sz="1500" dirty="0"/>
          </a:p>
        </p:txBody>
      </p:sp>
      <p:sp>
        <p:nvSpPr>
          <p:cNvPr id="7" name="step-text"/>
          <p:cNvSpPr txBox="1"/>
          <p:nvPr/>
        </p:nvSpPr>
        <p:spPr>
          <a:xfrm>
            <a:off x="1234440" y="1600200"/>
            <a:ext cx="7269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Cloudflareにシークレットを登録：LARK_APP_ID／LARK_APP_SECRET／LARK_BASE_TOKEN／LARK_TABLE_ID</a:t>
            </a:r>
            <a:endParaRPr lang="ja-JP" sz="1400" dirty="0"/>
          </a:p>
        </p:txBody>
      </p:sp>
      <p:sp>
        <p:nvSpPr>
          <p:cNvPr id="8" name="card"/>
          <p:cNvSpPr/>
          <p:nvPr/>
        </p:nvSpPr>
        <p:spPr>
          <a:xfrm>
            <a:off x="502920" y="2295144"/>
            <a:ext cx="81381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40080" y="2377440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2</a:t>
            </a:r>
            <a:endParaRPr lang="ja-JP" sz="1500" dirty="0"/>
          </a:p>
        </p:txBody>
      </p:sp>
      <p:sp>
        <p:nvSpPr>
          <p:cNvPr id="10" name="step-text"/>
          <p:cNvSpPr txBox="1"/>
          <p:nvPr/>
        </p:nvSpPr>
        <p:spPr>
          <a:xfrm>
            <a:off x="1234440" y="2295144"/>
            <a:ext cx="7269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Claude Codeに P-06「BASEへ保存」で頼む</a:t>
            </a:r>
            <a:endParaRPr lang="ja-JP" sz="1400" dirty="0"/>
          </a:p>
        </p:txBody>
      </p:sp>
      <p:sp>
        <p:nvSpPr>
          <p:cNvPr id="11" name="card"/>
          <p:cNvSpPr/>
          <p:nvPr/>
        </p:nvSpPr>
        <p:spPr>
          <a:xfrm>
            <a:off x="502920" y="2990088"/>
            <a:ext cx="81381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40080" y="3072384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3</a:t>
            </a:r>
            <a:endParaRPr lang="ja-JP" sz="1500" dirty="0"/>
          </a:p>
        </p:txBody>
      </p:sp>
      <p:sp>
        <p:nvSpPr>
          <p:cNvPr id="13" name="step-text"/>
          <p:cNvSpPr txBox="1"/>
          <p:nvPr/>
        </p:nvSpPr>
        <p:spPr>
          <a:xfrm>
            <a:off x="1234440" y="2990088"/>
            <a:ext cx="7269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記録 → GitHubに保存 → 公開ページから送信し、BASEに1件入るか確かめる</a:t>
            </a:r>
            <a:endParaRPr lang="ja-JP" sz="1400" dirty="0"/>
          </a:p>
        </p:txBody>
      </p:sp>
      <p:sp>
        <p:nvSpPr>
          <p:cNvPr id="14" name="card"/>
          <p:cNvSpPr/>
          <p:nvPr/>
        </p:nvSpPr>
        <p:spPr>
          <a:xfrm>
            <a:off x="502920" y="3685032"/>
            <a:ext cx="81381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40080" y="3767328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4</a:t>
            </a:r>
            <a:endParaRPr lang="ja-JP" sz="1500" dirty="0"/>
          </a:p>
        </p:txBody>
      </p:sp>
      <p:sp>
        <p:nvSpPr>
          <p:cNvPr id="16" name="step-text"/>
          <p:cNvSpPr txBox="1"/>
          <p:nvPr/>
        </p:nvSpPr>
        <p:spPr>
          <a:xfrm>
            <a:off x="1234440" y="3685032"/>
            <a:ext cx="7269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第6回の自動化（新規レコードで通知）が動くかも確かめる</a:t>
            </a:r>
            <a:endParaRPr lang="ja-JP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332281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完成イメージ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送信すると、BASEに1件入る</a:t>
            </a:r>
            <a:endParaRPr lang="ja-JP" sz="2600" dirty="0"/>
          </a:p>
        </p:txBody>
      </p:sp>
      <p:sp>
        <p:nvSpPr>
          <p:cNvPr id="5" name="phone-frame"/>
          <p:cNvSpPr/>
          <p:nvPr/>
        </p:nvSpPr>
        <p:spPr>
          <a:xfrm rot="-180000">
            <a:off x="640080" y="1463040"/>
            <a:ext cx="1541433" cy="3099816"/>
          </a:xfrm>
          <a:prstGeom prst="roundRect">
            <a:avLst>
              <a:gd name="adj" fmla="val 8305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pic>
        <p:nvPicPr>
          <p:cNvPr id="6" name="phone-screen" descr="予約を受け付けた後の完了メッセ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180000">
            <a:off x="704088" y="1527048"/>
            <a:ext cx="1413417" cy="2971800"/>
          </a:xfrm>
          <a:prstGeom prst="rect">
            <a:avLst/>
          </a:prstGeom>
        </p:spPr>
      </p:pic>
      <p:sp>
        <p:nvSpPr>
          <p:cNvPr id="7" name="card"/>
          <p:cNvSpPr/>
          <p:nvPr/>
        </p:nvSpPr>
        <p:spPr>
          <a:xfrm>
            <a:off x="2547273" y="1417320"/>
            <a:ext cx="6093807" cy="3154680"/>
          </a:xfrm>
          <a:prstGeom prst="roundRect">
            <a:avLst>
              <a:gd name="adj" fmla="val 2899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8" name="icon-circle"/>
          <p:cNvSpPr/>
          <p:nvPr/>
        </p:nvSpPr>
        <p:spPr>
          <a:xfrm>
            <a:off x="2730153" y="1655064"/>
            <a:ext cx="292608" cy="292608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9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305" y="1728216"/>
            <a:ext cx="146304" cy="146304"/>
          </a:xfrm>
          <a:prstGeom prst="rect">
            <a:avLst/>
          </a:prstGeom>
        </p:spPr>
      </p:pic>
      <p:sp>
        <p:nvSpPr>
          <p:cNvPr id="10" name="point-head"/>
          <p:cNvSpPr txBox="1"/>
          <p:nvPr/>
        </p:nvSpPr>
        <p:spPr>
          <a:xfrm>
            <a:off x="3114201" y="1572768"/>
            <a:ext cx="53622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300" b="1" dirty="0">
                <a:solidFill>
                  <a:srgbClr val="DD642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 お客様には「受け付けました」とだけ見せる</a:t>
            </a:r>
            <a:endParaRPr lang="ja-JP" sz="1300" dirty="0"/>
          </a:p>
        </p:txBody>
      </p:sp>
      <p:sp>
        <p:nvSpPr>
          <p:cNvPr id="11" name="point-body"/>
          <p:cNvSpPr txBox="1"/>
          <p:nvPr/>
        </p:nvSpPr>
        <p:spPr>
          <a:xfrm>
            <a:off x="3114201" y="2048256"/>
            <a:ext cx="5362287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ja-JP" altLang="en-US" sz="1150" dirty="0">
                <a:solidFill>
                  <a:srgbClr val="1A1A1A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裏では受付係（Pages Functions）がLarkのAPIでBASEに1件追加している</a:t>
            </a:r>
            <a:endParaRPr lang="ja-JP" sz="1150" dirty="0"/>
          </a:p>
        </p:txBody>
      </p:sp>
      <p:sp>
        <p:nvSpPr>
          <p:cNvPr id="12" name="icon-circle"/>
          <p:cNvSpPr/>
          <p:nvPr/>
        </p:nvSpPr>
        <p:spPr>
          <a:xfrm>
            <a:off x="2730153" y="2615184"/>
            <a:ext cx="292608" cy="292608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13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3305" y="2688336"/>
            <a:ext cx="146304" cy="146304"/>
          </a:xfrm>
          <a:prstGeom prst="rect">
            <a:avLst/>
          </a:prstGeom>
        </p:spPr>
      </p:pic>
      <p:sp>
        <p:nvSpPr>
          <p:cNvPr id="14" name="point-head"/>
          <p:cNvSpPr txBox="1"/>
          <p:nvPr/>
        </p:nvSpPr>
        <p:spPr>
          <a:xfrm>
            <a:off x="3114201" y="2532888"/>
            <a:ext cx="53622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300" b="1" dirty="0">
                <a:solidFill>
                  <a:srgbClr val="DD642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BASEとグループで確かめる</a:t>
            </a:r>
            <a:endParaRPr lang="ja-JP" sz="1300" dirty="0"/>
          </a:p>
        </p:txBody>
      </p:sp>
      <p:sp>
        <p:nvSpPr>
          <p:cNvPr id="15" name="point-body"/>
          <p:cNvSpPr txBox="1"/>
          <p:nvPr/>
        </p:nvSpPr>
        <p:spPr>
          <a:xfrm>
            <a:off x="3114201" y="3008376"/>
            <a:ext cx="5362287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ja-JP" altLang="en-US" sz="1150" dirty="0">
                <a:solidFill>
                  <a:srgbClr val="1A1A1A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BASEの予約テーブルに1件増え、第6回の自動化で講座グループに通知が届けば完成</a:t>
            </a:r>
            <a:endParaRPr lang="ja-JP" sz="1150" dirty="0"/>
          </a:p>
        </p:txBody>
      </p:sp>
      <p:sp>
        <p:nvSpPr>
          <p:cNvPr id="16" name="icon-circle"/>
          <p:cNvSpPr/>
          <p:nvPr/>
        </p:nvSpPr>
        <p:spPr>
          <a:xfrm>
            <a:off x="2730153" y="3575304"/>
            <a:ext cx="292608" cy="292608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17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3305" y="3648456"/>
            <a:ext cx="146304" cy="146304"/>
          </a:xfrm>
          <a:prstGeom prst="rect">
            <a:avLst/>
          </a:prstGeom>
        </p:spPr>
      </p:pic>
      <p:sp>
        <p:nvSpPr>
          <p:cNvPr id="18" name="point-head"/>
          <p:cNvSpPr txBox="1"/>
          <p:nvPr/>
        </p:nvSpPr>
        <p:spPr>
          <a:xfrm>
            <a:off x="3114201" y="3493008"/>
            <a:ext cx="53622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300" b="1" dirty="0">
                <a:solidFill>
                  <a:srgbClr val="DD642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失敗したときの見せ方</a:t>
            </a:r>
            <a:endParaRPr lang="ja-JP" sz="1300" dirty="0"/>
          </a:p>
        </p:txBody>
      </p:sp>
      <p:sp>
        <p:nvSpPr>
          <p:cNvPr id="19" name="point-body"/>
          <p:cNvSpPr txBox="1"/>
          <p:nvPr/>
        </p:nvSpPr>
        <p:spPr>
          <a:xfrm>
            <a:off x="3114201" y="3968496"/>
            <a:ext cx="5362287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ja-JP" altLang="en-US" sz="1150" dirty="0">
                <a:solidFill>
                  <a:srgbClr val="1A1A1A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エラーの詳しい理由はお客様に見せず、ログにだけ残す。画面には電話での連絡をお願いする</a:t>
            </a:r>
            <a:endParaRPr lang="ja-JP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332281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つまずいたら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よくあるつまずき</a:t>
            </a:r>
            <a:endParaRPr lang="ja-JP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8138160" cy="2194560"/>
          </a:xfrm>
          <a:prstGeom prst="rect">
            <a:avLst/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graphicFrame>
        <p:nvGraphicFramePr>
          <p:cNvPr id="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8138160" cy="914400"/>
        </p:xfrm>
        <a:graphic>
          <a:graphicData uri="http://schemas.openxmlformats.org/drawingml/2006/table">
            <a:tbl>
              <a:tblPr/>
              <a:tblGrid>
                <a:gridCol w="3074416"/>
                <a:gridCol w="5063744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症状</a:t>
                      </a:r>
                      <a:endParaRPr lang="en-US" sz="12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見るところ</a:t>
                      </a:r>
                      <a:endParaRPr lang="en-US" sz="12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64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権限エラー（codeが0以外）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権限の公開・承認、BASEへのアプリ追加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64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フィールドが見つからない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BASEとプログラムのフィールド名が1文字でも違わないか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64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日付が入らない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ミリ秒の数値で渡しているか／日本時間で解釈しているか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64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公開先だけ動かない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シークレット登録後に再デプロイしたか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894740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まとめ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宿題と、今日のチェック</a:t>
            </a:r>
            <a:endParaRPr lang="ja-JP" sz="2600" dirty="0"/>
          </a:p>
        </p:txBody>
      </p:sp>
      <p:sp>
        <p:nvSpPr>
          <p:cNvPr id="4" name="card"/>
          <p:cNvSpPr/>
          <p:nvPr/>
        </p:nvSpPr>
        <p:spPr>
          <a:xfrm>
            <a:off x="502920" y="1417320"/>
            <a:ext cx="393192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04088" y="1600200"/>
            <a:ext cx="457200" cy="45720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" y="1714500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00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8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宿題</a:t>
            </a:r>
            <a:endParaRPr lang="ja-JP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240280"/>
            <a:ext cx="3474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BASEのデータを読み出し、ページに一覧表示する機能を足す（個人情報は表示しない）</a:t>
            </a:r>
            <a:endParaRPr lang="ja-JP" sz="13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今週中に個別レビュー（30分）を受ける</a:t>
            </a:r>
            <a:endParaRPr lang="ja-JP" sz="1350" dirty="0"/>
          </a:p>
        </p:txBody>
      </p:sp>
      <p:sp>
        <p:nvSpPr>
          <p:cNvPr id="9" name="card"/>
          <p:cNvSpPr/>
          <p:nvPr/>
        </p:nvSpPr>
        <p:spPr>
          <a:xfrm>
            <a:off x="4709160" y="1417320"/>
            <a:ext cx="393192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910328" y="1600200"/>
            <a:ext cx="457200" cy="45720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4628" y="1714500"/>
            <a:ext cx="228600" cy="228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0" y="1600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8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できたらチェック</a:t>
            </a:r>
            <a:endParaRPr lang="ja-JP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2240280"/>
            <a:ext cx="3474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☐ App Secretがプログラム・GitHubに書かれていない</a:t>
            </a:r>
            <a:endParaRPr lang="ja-JP" sz="1350" dirty="0"/>
          </a:p>
          <a:p>
            <a:pPr indent="0" marL="0">
              <a:spcAft>
                <a:spcPts val="8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☐ 公開ページから送ったデータがBASEに入った</a:t>
            </a:r>
            <a:endParaRPr lang="ja-JP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rtrait" descr="講師 笹原彰朗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03588" y="1211580"/>
            <a:ext cx="2866092" cy="3931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 rot="-240000">
            <a:off x="457200" y="548640"/>
            <a:ext cx="1280160" cy="548640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000" dirty="0">
                <a:solidFill>
                  <a:srgbClr val="FFD600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次回</a:t>
            </a:r>
            <a:endParaRPr lang="ja-JP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80160"/>
            <a:ext cx="5852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32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第10回</a:t>
            </a:r>
            <a:endParaRPr lang="ja-JP" sz="3200" dirty="0"/>
          </a:p>
          <a:p>
            <a:pPr indent="0" marL="0">
              <a:buNone/>
            </a:pPr>
            <a:r>
              <a:rPr lang="ja-JP" altLang="en-US" sz="32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LINEとつなぐ（LIFF）</a:t>
            </a:r>
            <a:endParaRPr lang="ja-JP" sz="3200" dirty="0"/>
          </a:p>
        </p:txBody>
      </p:sp>
      <p:sp>
        <p:nvSpPr>
          <p:cNvPr id="5" name="card"/>
          <p:cNvSpPr/>
          <p:nvPr/>
        </p:nvSpPr>
        <p:spPr>
          <a:xfrm>
            <a:off x="457200" y="3108960"/>
            <a:ext cx="539496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320040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わからないところは、講座グループでいつでも質問してください。</a:t>
            </a:r>
            <a:endParaRPr lang="ja-JP" sz="1400" dirty="0"/>
          </a:p>
          <a:p>
            <a:pPr indent="0" marL="0">
              <a:spcAft>
                <a:spcPts val="400"/>
              </a:spcAft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APIキーやパスワードは送らないでください。</a:t>
            </a:r>
            <a:endParaRPr lang="ja-JP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saYell">
  <a:themeElements>
    <a:clrScheme name="SasaYell">
      <a:dk1>
        <a:srgbClr val="1A1A1A"/>
      </a:dk1>
      <a:lt1>
        <a:srgbClr val="FFFFFF"/>
      </a:lt1>
      <a:dk2>
        <a:srgbClr val="1A1A1A"/>
      </a:dk2>
      <a:lt2>
        <a:srgbClr val="FFD600"/>
      </a:lt2>
      <a:accent1>
        <a:srgbClr val="FFD600"/>
      </a:accent1>
      <a:accent2>
        <a:srgbClr val="DD6420"/>
      </a:accent2>
      <a:accent3>
        <a:srgbClr val="F5A623"/>
      </a:accent3>
      <a:accent4>
        <a:srgbClr val="1A1A1A"/>
      </a:accent4>
      <a:accent5>
        <a:srgbClr val="FFFFFF"/>
      </a:accent5>
      <a:accent6>
        <a:srgbClr val="DD6420"/>
      </a:accent6>
      <a:hlink>
        <a:srgbClr val="DD6420"/>
      </a:hlink>
      <a:folHlink>
        <a:srgbClr val="F5A623"/>
      </a:folHlink>
    </a:clrScheme>
    <a:fontScheme name="SasaYell">
      <a:majorFont>
        <a:latin typeface="Dela Gothic One"/>
        <a:ea typeface="けいふぉんと"/>
        <a:cs typeface=""/>
      </a:majorFont>
      <a:minorFont>
        <a:latin typeface="Noto Sans JP"/>
        <a:ea typeface="Noto Sans JP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ささエール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マナベル 第9回 Lark BASEとつなぐ（API）</dc:title>
  <dc:subject>PptxGenJS Presentation</dc:subject>
  <dc:creator>ささエール（Office Plata）</dc:creator>
  <cp:lastModifiedBy>ささエール（Office Plata）</cp:lastModifiedBy>
  <cp:revision>1</cp:revision>
  <dcterms:created xsi:type="dcterms:W3CDTF">2026-10-08T07:08:42Z</dcterms:created>
  <dcterms:modified xsi:type="dcterms:W3CDTF">2026-10-08T07:08:42Z</dcterms:modified>
</cp:coreProperties>
</file>