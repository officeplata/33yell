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57d70cd2-2830-7fd3-d5b3-442c7f839e66}">
          <p14:sldIdLst>
            <p14:sldId id="256"/>
            <p14:sldId id="257"/>
          </p14:sldIdLst>
        </p14:section>
        <p14:section name="本編" id="{6a86f1f1-14d5-7338-2b5a-f3e2113fda43}">
          <p14:sldIdLst>
            <p14:sldId id="258"/>
            <p14:sldId id="259"/>
            <p14:sldId id="260"/>
            <p14:sldId id="261"/>
            <p14:sldId id="262"/>
          </p14:sldIdLst>
        </p14:section>
        <p14:section name="まとめ" id="{d1a93ff5-dc0a-e372-3746-765cb98810e1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第9回「Lark BASEとつなぐ（API）」。前回の宿題の提出状況を確認してから始める。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決まった書き方の注文書を出すと品物が返ってくる、窓口では身分証を確かめられる、というたとえで。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権限の公開とBASEへのアプリ追加を忘れる人が多い。全員で画面共有しながら進める。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Secretをページに書くと、誰でもBASEを書き換えられることを強調。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答え合わせは講師デモ版（manaberu/demo）と見比べる。Secretがコードに直接書かれていないかを全員確認。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TITLE">
    <p:bg>
      <p:bgPr>
        <a:solidFill>
          <a:srgbClr val="FFD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マナベル｜AI×Lark 構築者育成講座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67665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ささエール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マナベル　第9回　Lark BASEとつなぐ（API）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マナベル｜AI×Lark 構築者育成講座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sson-badge"/>
          <p:cNvSpPr/>
          <p:nvPr/>
        </p:nvSpPr>
        <p:spPr>
          <a:xfrm>
            <a:off x="548640" y="822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第9回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Lark BASEとつなぐ（API）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フェーズ3 AIで作る　｜　第6週</a:t>
            </a:r>
            <a:endParaRPr lang="en-US" sz="1400" dirty="0"/>
          </a:p>
        </p:txBody>
      </p:sp>
      <p:sp>
        <p:nvSpPr>
          <p:cNvPr id="6" name="title-circle"/>
          <p:cNvSpPr/>
          <p:nvPr/>
        </p:nvSpPr>
        <p:spPr>
          <a:xfrm>
            <a:off x="6537960" y="1188720"/>
            <a:ext cx="2103120" cy="2103120"/>
          </a:xfrm>
          <a:prstGeom prst="ellipse">
            <a:avLst/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今日のゴールと流れ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93268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はじめに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707185"/>
            <a:ext cx="197510" cy="197510"/>
          </a:xfrm>
          <a:prstGeom prst="rect">
            <a:avLst/>
          </a:prstGeom>
        </p:spPr>
      </p:pic>
      <p:sp>
        <p:nvSpPr>
          <p:cNvPr id="8" name="goal"/>
          <p:cNvSpPr txBox="1"/>
          <p:nvPr/>
        </p:nvSpPr>
        <p:spPr>
          <a:xfrm>
            <a:off x="128016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APIのしくみと、秘密情報（APIキー）の守り方がわかる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8630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86918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165" y="1707185"/>
            <a:ext cx="197510" cy="197510"/>
          </a:xfrm>
          <a:prstGeom prst="rect">
            <a:avLst/>
          </a:prstGeom>
        </p:spPr>
      </p:pic>
      <p:sp>
        <p:nvSpPr>
          <p:cNvPr id="12" name="goal"/>
          <p:cNvSpPr txBox="1"/>
          <p:nvPr/>
        </p:nvSpPr>
        <p:spPr>
          <a:xfrm>
            <a:off x="541782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自作の受付ページから送ったデータが、Lark BASEに入る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今日の流れ（90分）</a:t>
            </a:r>
            <a:endParaRPr lang="en-US" sz="1300" dirty="0"/>
          </a:p>
        </p:txBody>
      </p:sp>
      <p:sp>
        <p:nvSpPr>
          <p:cNvPr id="14" name="time-block"/>
          <p:cNvSpPr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ふりかえり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6" name="time-block"/>
          <p:cNvSpPr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8" name="time-block"/>
          <p:cNvSpPr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0" name="time-block"/>
          <p:cNvSpPr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22" name="time-block"/>
          <p:cNvSpPr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4" name="time-block"/>
          <p:cNvSpPr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質問・共有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15分</a:t>
            </a:r>
            <a:endParaRPr lang="en-US" sz="1050" dirty="0"/>
          </a:p>
        </p:txBody>
      </p:sp>
      <p:sp>
        <p:nvSpPr>
          <p:cNvPr id="26" name="time-block"/>
          <p:cNvSpPr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ime-label"/>
          <p:cNvSpPr txBox="1"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宿題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5分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聞く　</a:t>
            </a:r>
            <a:pPr indent="0" marL="0">
              <a:buNone/>
            </a:pPr>
            <a:r>
              <a:rPr lang="en-US" sz="1000" dirty="0">
                <a:solidFill>
                  <a:srgbClr val="DD6420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手を動かす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APIは「お店の注文窓口」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説明① 10分</a:t>
            </a:r>
            <a:endParaRPr lang="en-US" sz="11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145792"/>
                <a:gridCol w="3218688"/>
                <a:gridCol w="2682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登場人物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中身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どこで手に入る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Larkアプリ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Larkにアクセスする「代理人」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Lark開発者コンソール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App ID / Secret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代理人の身分証。Secretは絶対に秘密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アプリの認証情報画面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権限（スコープ）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代理人に許すこと（BASEを読む・書く）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アプリの権限画面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BASEトークン・テーブルID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どの台帳のどの1冊か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BASEのURL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Larkアプリを作り、BASEに招く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ハンズオン① 20分</a:t>
            </a:r>
            <a:endParaRPr lang="en-US" sz="1100" dirty="0"/>
          </a:p>
        </p:txBody>
      </p:sp>
      <p:sp>
        <p:nvSpPr>
          <p:cNvPr id="6" name="step-num"/>
          <p:cNvSpPr/>
          <p:nvPr/>
        </p:nvSpPr>
        <p:spPr>
          <a:xfrm>
            <a:off x="548640" y="151333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step-num-text"/>
          <p:cNvSpPr txBox="1"/>
          <p:nvPr/>
        </p:nvSpPr>
        <p:spPr>
          <a:xfrm>
            <a:off x="548640" y="15133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-text"/>
          <p:cNvSpPr txBox="1"/>
          <p:nvPr/>
        </p:nvSpPr>
        <p:spPr>
          <a:xfrm>
            <a:off x="1097280" y="1463040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開発者コンソールでカスタムアプリを作り、ボットを有効にする</a:t>
            </a:r>
            <a:endParaRPr lang="en-US" sz="1450" dirty="0"/>
          </a:p>
        </p:txBody>
      </p:sp>
      <p:sp>
        <p:nvSpPr>
          <p:cNvPr id="9" name="step-num"/>
          <p:cNvSpPr/>
          <p:nvPr/>
        </p:nvSpPr>
        <p:spPr>
          <a:xfrm>
            <a:off x="548640" y="1997964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step-num-text"/>
          <p:cNvSpPr txBox="1"/>
          <p:nvPr/>
        </p:nvSpPr>
        <p:spPr>
          <a:xfrm>
            <a:off x="548640" y="1997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-text"/>
          <p:cNvSpPr txBox="1"/>
          <p:nvPr/>
        </p:nvSpPr>
        <p:spPr>
          <a:xfrm>
            <a:off x="1097280" y="1947672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BASE（Bitable）の閲覧・編集の権限を追加する</a:t>
            </a:r>
            <a:endParaRPr lang="en-US" sz="1450" dirty="0"/>
          </a:p>
        </p:txBody>
      </p:sp>
      <p:sp>
        <p:nvSpPr>
          <p:cNvPr id="12" name="step-num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tep-num-text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-text"/>
          <p:cNvSpPr txBox="1"/>
          <p:nvPr/>
        </p:nvSpPr>
        <p:spPr>
          <a:xfrm>
            <a:off x="1097280" y="2432304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バージョンを作成して公開を申請する（管理者の承認が必要な場合あり）</a:t>
            </a:r>
            <a:endParaRPr lang="en-US" sz="1450" dirty="0"/>
          </a:p>
        </p:txBody>
      </p:sp>
      <p:sp>
        <p:nvSpPr>
          <p:cNvPr id="15" name="step-num"/>
          <p:cNvSpPr/>
          <p:nvPr/>
        </p:nvSpPr>
        <p:spPr>
          <a:xfrm>
            <a:off x="548640" y="296722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tep-num-text"/>
          <p:cNvSpPr txBox="1"/>
          <p:nvPr/>
        </p:nvSpPr>
        <p:spPr>
          <a:xfrm>
            <a:off x="548640" y="29672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-text"/>
          <p:cNvSpPr txBox="1"/>
          <p:nvPr/>
        </p:nvSpPr>
        <p:spPr>
          <a:xfrm>
            <a:off x="1097280" y="2916936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使うBASEの「…」メニューから、作ったアプリを追加する</a:t>
            </a:r>
            <a:endParaRPr lang="en-US" sz="1450" dirty="0"/>
          </a:p>
        </p:txBody>
      </p:sp>
      <p:sp>
        <p:nvSpPr>
          <p:cNvPr id="18" name="step-num"/>
          <p:cNvSpPr/>
          <p:nvPr/>
        </p:nvSpPr>
        <p:spPr>
          <a:xfrm>
            <a:off x="548640" y="345186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step-num-text"/>
          <p:cNvSpPr txBox="1"/>
          <p:nvPr/>
        </p:nvSpPr>
        <p:spPr>
          <a:xfrm>
            <a:off x="548640" y="3451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step-text"/>
          <p:cNvSpPr txBox="1"/>
          <p:nvPr/>
        </p:nvSpPr>
        <p:spPr>
          <a:xfrm>
            <a:off x="1097280" y="3401568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App ID / Secret を安全な場所に控える</a:t>
            </a:r>
            <a:endParaRPr lang="en-US" sz="1450" dirty="0"/>
          </a:p>
        </p:txBody>
      </p:sp>
      <p:sp>
        <p:nvSpPr>
          <p:cNvPr id="21" name="foot-box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05656"/>
            <a:ext cx="246888" cy="246888"/>
          </a:xfrm>
          <a:prstGeom prst="rect">
            <a:avLst/>
          </a:prstGeom>
        </p:spPr>
      </p:pic>
      <p:sp>
        <p:nvSpPr>
          <p:cNvPr id="23" name="foot-text"/>
          <p:cNvSpPr txBox="1"/>
          <p:nvPr/>
        </p:nvSpPr>
        <p:spPr>
          <a:xfrm>
            <a:off x="1051560" y="39776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画面が見つからないときは、Secretを隠してスクリーンショットを講師に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秘密情報は「受付係」だけが知っている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説明② 10分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flow-node"/>
          <p:cNvSpPr txBox="1"/>
          <p:nvPr/>
        </p:nvSpPr>
        <p:spPr>
          <a:xfrm>
            <a:off x="640080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お客様のスマホ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公開ページ</a:t>
            </a:r>
            <a:endParaRPr lang="en-US" sz="1400" dirty="0"/>
          </a:p>
        </p:txBody>
      </p:sp>
      <p:pic>
        <p:nvPicPr>
          <p:cNvPr id="9" name="flow-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436" y="2441448"/>
            <a:ext cx="237744" cy="237744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2656332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656332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2</a:t>
            </a:r>
            <a:endParaRPr lang="en-US" sz="1000" dirty="0"/>
          </a:p>
        </p:txBody>
      </p:sp>
      <p:sp>
        <p:nvSpPr>
          <p:cNvPr id="12" name="flow-node"/>
          <p:cNvSpPr txBox="1"/>
          <p:nvPr/>
        </p:nvSpPr>
        <p:spPr>
          <a:xfrm>
            <a:off x="2747772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受付係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Pages Functions</a:t>
            </a:r>
            <a:endParaRPr lang="en-US" sz="1400" dirty="0"/>
          </a:p>
        </p:txBody>
      </p:sp>
      <p:pic>
        <p:nvPicPr>
          <p:cNvPr id="13" name="flow-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441448"/>
            <a:ext cx="237744" cy="237744"/>
          </a:xfrm>
          <a:prstGeom prst="rect">
            <a:avLst/>
          </a:prstGeom>
        </p:spPr>
      </p:pic>
      <p:sp>
        <p:nvSpPr>
          <p:cNvPr id="14" name="card"/>
          <p:cNvSpPr/>
          <p:nvPr/>
        </p:nvSpPr>
        <p:spPr>
          <a:xfrm>
            <a:off x="4764024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4764024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3</a:t>
            </a:r>
            <a:endParaRPr lang="en-US" sz="1000" dirty="0"/>
          </a:p>
        </p:txBody>
      </p:sp>
      <p:sp>
        <p:nvSpPr>
          <p:cNvPr id="16" name="flow-node"/>
          <p:cNvSpPr txBox="1"/>
          <p:nvPr/>
        </p:nvSpPr>
        <p:spPr>
          <a:xfrm>
            <a:off x="4855464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Lark API</a:t>
            </a:r>
            <a:endParaRPr lang="en-US" sz="1400" dirty="0"/>
          </a:p>
        </p:txBody>
      </p:sp>
      <p:pic>
        <p:nvPicPr>
          <p:cNvPr id="17" name="flow-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441448"/>
            <a:ext cx="237744" cy="237744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6871716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6871716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4</a:t>
            </a:r>
            <a:endParaRPr lang="en-US" sz="1000" dirty="0"/>
          </a:p>
        </p:txBody>
      </p:sp>
      <p:sp>
        <p:nvSpPr>
          <p:cNvPr id="20" name="flow-node"/>
          <p:cNvSpPr txBox="1"/>
          <p:nvPr/>
        </p:nvSpPr>
        <p:spPr>
          <a:xfrm>
            <a:off x="6963156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BASE</a:t>
            </a:r>
            <a:endParaRPr lang="en-US" sz="1400" dirty="0"/>
          </a:p>
        </p:txBody>
      </p:sp>
      <p:sp>
        <p:nvSpPr>
          <p:cNvPr id="21" name="foot-box"/>
          <p:cNvSpPr/>
          <p:nvPr/>
        </p:nvSpPr>
        <p:spPr>
          <a:xfrm>
            <a:off x="548640" y="379476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foot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22776"/>
            <a:ext cx="246888" cy="246888"/>
          </a:xfrm>
          <a:prstGeom prst="rect">
            <a:avLst/>
          </a:prstGeom>
        </p:spPr>
      </p:pic>
      <p:sp>
        <p:nvSpPr>
          <p:cNvPr id="23" name="foot-text"/>
          <p:cNvSpPr txBox="1"/>
          <p:nvPr/>
        </p:nvSpPr>
        <p:spPr>
          <a:xfrm>
            <a:off x="1051560" y="37947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公開ページは誰でも中身を見られる。Secretはシークレットに登録し、コードにもGitHubにも書かない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送信データをBASEに保存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ハンズオン② 20分</a:t>
            </a:r>
            <a:endParaRPr lang="en-US" sz="1100" dirty="0"/>
          </a:p>
        </p:txBody>
      </p:sp>
      <p:sp>
        <p:nvSpPr>
          <p:cNvPr id="6" name="step-num"/>
          <p:cNvSpPr/>
          <p:nvPr/>
        </p:nvSpPr>
        <p:spPr>
          <a:xfrm>
            <a:off x="548640" y="180594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step-num-text"/>
          <p:cNvSpPr txBox="1"/>
          <p:nvPr/>
        </p:nvSpPr>
        <p:spPr>
          <a:xfrm>
            <a:off x="548640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-text"/>
          <p:cNvSpPr txBox="1"/>
          <p:nvPr/>
        </p:nvSpPr>
        <p:spPr>
          <a:xfrm>
            <a:off x="1097280" y="169621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Cloudflareにシークレットを登録：LARK_APP_ID／LARK_APP_SECRET／LARK_BASE_TOKEN／LARK_TABLE_ID</a:t>
            </a:r>
            <a:endParaRPr lang="en-US" sz="1450" dirty="0"/>
          </a:p>
        </p:txBody>
      </p:sp>
      <p:sp>
        <p:nvSpPr>
          <p:cNvPr id="9" name="step-num"/>
          <p:cNvSpPr/>
          <p:nvPr/>
        </p:nvSpPr>
        <p:spPr>
          <a:xfrm>
            <a:off x="548640" y="2409444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step-num-text"/>
          <p:cNvSpPr txBox="1"/>
          <p:nvPr/>
        </p:nvSpPr>
        <p:spPr>
          <a:xfrm>
            <a:off x="54864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-text"/>
          <p:cNvSpPr txBox="1"/>
          <p:nvPr/>
        </p:nvSpPr>
        <p:spPr>
          <a:xfrm>
            <a:off x="1097280" y="229971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Claude Codeに P-06「BASEへ保存」で頼む</a:t>
            </a:r>
            <a:endParaRPr lang="en-US" sz="1450" dirty="0"/>
          </a:p>
        </p:txBody>
      </p:sp>
      <p:sp>
        <p:nvSpPr>
          <p:cNvPr id="12" name="step-num"/>
          <p:cNvSpPr/>
          <p:nvPr/>
        </p:nvSpPr>
        <p:spPr>
          <a:xfrm>
            <a:off x="548640" y="301294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tep-num-text"/>
          <p:cNvSpPr txBox="1"/>
          <p:nvPr/>
        </p:nvSpPr>
        <p:spPr>
          <a:xfrm>
            <a:off x="548640" y="3012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-text"/>
          <p:cNvSpPr txBox="1"/>
          <p:nvPr/>
        </p:nvSpPr>
        <p:spPr>
          <a:xfrm>
            <a:off x="1097280" y="290322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記録 → GitHubに保存 → 公開ページから送信し、BASEに1件入るか確かめる</a:t>
            </a:r>
            <a:endParaRPr lang="en-US" sz="1450" dirty="0"/>
          </a:p>
        </p:txBody>
      </p:sp>
      <p:sp>
        <p:nvSpPr>
          <p:cNvPr id="15" name="step-num"/>
          <p:cNvSpPr/>
          <p:nvPr/>
        </p:nvSpPr>
        <p:spPr>
          <a:xfrm>
            <a:off x="548640" y="361645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tep-num-text"/>
          <p:cNvSpPr txBox="1"/>
          <p:nvPr/>
        </p:nvSpPr>
        <p:spPr>
          <a:xfrm>
            <a:off x="548640" y="36164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-text"/>
          <p:cNvSpPr txBox="1"/>
          <p:nvPr/>
        </p:nvSpPr>
        <p:spPr>
          <a:xfrm>
            <a:off x="1097280" y="350672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第6回の自動化（新規レコードで通知）が動くかも確かめる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よくあるつまずき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20700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つまずいたら</a:t>
            </a:r>
            <a:endParaRPr lang="en-US" sz="11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3039872"/>
                <a:gridCol w="500684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症状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見るところ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権限エラー（codeが0以外）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権限の公開・承認、BASEへのアプリ追加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フィールドが見つからない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BASEとプログラムのフィールド名が1文字でも違わないか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日付が入らない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ミリ秒の数値で渡しているか／日本時間で解釈しているか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公開先だけ動かない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シークレット登録後に再デプロイしたか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宿題と、今日のチェック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79552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まとめ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宿題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BASEのデータを読み出し、ページに一覧表示する機能を足す（個人情報は表示しない）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今週中に個別レビュー（30分）を受ける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70916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64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できたらチェック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App Secretがプログラム・GitHubに書かれていない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公開ページから送ったデータがBASEに入った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次回：第10回 LINEとつなぐ（LIFF）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わからないところは、講座グループでいつでも質問してください。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APIキーやパスワードは送らないでください。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beru">
  <a:themeElements>
    <a:clrScheme name="Manaberu">
      <a:dk1>
        <a:srgbClr val="1A1A1A"/>
      </a:dk1>
      <a:lt1>
        <a:srgbClr val="FFFFFF"/>
      </a:lt1>
      <a:dk2>
        <a:srgbClr val="5A6872"/>
      </a:dk2>
      <a:lt2>
        <a:srgbClr val="FFF6CC"/>
      </a:lt2>
      <a:accent1>
        <a:srgbClr val="FFD600"/>
      </a:accent1>
      <a:accent2>
        <a:srgbClr val="DD6420"/>
      </a:accent2>
      <a:accent3>
        <a:srgbClr val="3370FF"/>
      </a:accent3>
      <a:accent4>
        <a:srgbClr val="06C755"/>
      </a:accent4>
      <a:accent5>
        <a:srgbClr val="E53935"/>
      </a:accent5>
      <a:accent6>
        <a:srgbClr val="F5A623"/>
      </a:accent6>
      <a:hlink>
        <a:srgbClr val="3370FF"/>
      </a:hlink>
      <a:folHlink>
        <a:srgbClr val="6B4FBB"/>
      </a:folHlink>
    </a:clrScheme>
    <a:fontScheme name="Manaberu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第9回 Lark BASEとつなぐ（API）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2026-10-02T10:43:48Z</dcterms:created>
  <dcterms:modified xsi:type="dcterms:W3CDTF">2026-10-02T10:43:48Z</dcterms:modified>
</cp:coreProperties>
</file>